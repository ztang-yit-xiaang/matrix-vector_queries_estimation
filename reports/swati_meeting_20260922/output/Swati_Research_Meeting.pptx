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357a1b3da5b4073" /><Relationship Type="http://schemas.openxmlformats.org/officeDocument/2006/relationships/extended-properties" Target="/docProps/app.xml" Id="R23276e5f10ab49ed" /><Relationship Type="http://schemas.openxmlformats.org/officeDocument/2006/relationships/officeDocument" Target="/ppt/presentation.xml" Id="R9f16e2bc38d943bd" /></Relationships>
</file>

<file path=ppt/presentation.xml><?xml version="1.0" encoding="utf-8"?>
<p:presentation xmlns:p="http://schemas.openxmlformats.org/presentationml/2006/main">
  <p:sldMasterIdLst>
    <p:sldMasterId xmlns:r="http://schemas.openxmlformats.org/officeDocument/2006/relationships" id="2147483648" r:id="R3b91218c864c40a1"/>
  </p:sldMasterIdLst>
  <p:notesMasterIdLst>
    <p:notesMasterId xmlns:r="http://schemas.openxmlformats.org/officeDocument/2006/relationships" r:id="R05ebaf0b68fb4945"/>
  </p:notesMasterIdLst>
  <p:sldIdLst>
    <p:sldId xmlns:r="http://schemas.openxmlformats.org/officeDocument/2006/relationships" id="256" r:id="Rd153b476eeb34838"/>
    <p:sldId xmlns:r="http://schemas.openxmlformats.org/officeDocument/2006/relationships" id="257" r:id="R372cc07b23664182"/>
    <p:sldId xmlns:r="http://schemas.openxmlformats.org/officeDocument/2006/relationships" id="258" r:id="R3279c1de24f944b8"/>
    <p:sldId xmlns:r="http://schemas.openxmlformats.org/officeDocument/2006/relationships" id="259" r:id="R51530bd58d4c44e9"/>
    <p:sldId xmlns:r="http://schemas.openxmlformats.org/officeDocument/2006/relationships" id="260" r:id="R6e2b8e721f754299"/>
    <p:sldId xmlns:r="http://schemas.openxmlformats.org/officeDocument/2006/relationships" id="261" r:id="R6b191f1a6ee34b64"/>
    <p:sldId xmlns:r="http://schemas.openxmlformats.org/officeDocument/2006/relationships" id="262" r:id="R91d4072cfab7453f"/>
    <p:sldId xmlns:r="http://schemas.openxmlformats.org/officeDocument/2006/relationships" id="263" r:id="R569c9b0953594a38"/>
    <p:sldId xmlns:r="http://schemas.openxmlformats.org/officeDocument/2006/relationships" id="264" r:id="Re393b62d048549b9"/>
    <p:sldId xmlns:r="http://schemas.openxmlformats.org/officeDocument/2006/relationships" id="265" r:id="R5219ebccce1a4e1f"/>
    <p:sldId xmlns:r="http://schemas.openxmlformats.org/officeDocument/2006/relationships" id="266" r:id="R0740c95f46b04907"/>
    <p:sldId xmlns:r="http://schemas.openxmlformats.org/officeDocument/2006/relationships" id="267" r:id="Rca988800f5a549de"/>
    <p:sldId xmlns:r="http://schemas.openxmlformats.org/officeDocument/2006/relationships" id="268" r:id="R578a60ee7ae042de"/>
    <p:sldId xmlns:r="http://schemas.openxmlformats.org/officeDocument/2006/relationships" id="269" r:id="R7e2bdf2660574c68"/>
    <p:sldId xmlns:r="http://schemas.openxmlformats.org/officeDocument/2006/relationships" id="270" r:id="R62f6c51a07104b8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73a407f471c420f" /><Relationship Type="http://schemas.openxmlformats.org/officeDocument/2006/relationships/slideMaster" Target="/ppt/slideMasters/slideMaster1.xml" Id="R3b91218c864c40a1" /><Relationship Type="http://schemas.openxmlformats.org/officeDocument/2006/relationships/notesMaster" Target="/ppt/notesMasters/notesMaster1.xml" Id="R05ebaf0b68fb4945" /><Relationship Type="http://schemas.openxmlformats.org/officeDocument/2006/relationships/presProps" Target="/ppt/presProps.xml" Id="R029afa122cdb43d5" /><Relationship Type="http://schemas.openxmlformats.org/officeDocument/2006/relationships/tableStyles" Target="/ppt/tableStyles.xml" Id="R907eee5a1d9f469d" /><Relationship Type="http://schemas.openxmlformats.org/officeDocument/2006/relationships/slide" Target="/ppt/slides/slide1.xml" Id="Rd153b476eeb34838" /><Relationship Type="http://schemas.openxmlformats.org/officeDocument/2006/relationships/slide" Target="/ppt/slides/slide2.xml" Id="R372cc07b23664182" /><Relationship Type="http://schemas.openxmlformats.org/officeDocument/2006/relationships/slide" Target="/ppt/slides/slide3.xml" Id="R3279c1de24f944b8" /><Relationship Type="http://schemas.openxmlformats.org/officeDocument/2006/relationships/slide" Target="/ppt/slides/slide4.xml" Id="R51530bd58d4c44e9" /><Relationship Type="http://schemas.openxmlformats.org/officeDocument/2006/relationships/slide" Target="/ppt/slides/slide5.xml" Id="R6e2b8e721f754299" /><Relationship Type="http://schemas.openxmlformats.org/officeDocument/2006/relationships/slide" Target="/ppt/slides/slide6.xml" Id="R6b191f1a6ee34b64" /><Relationship Type="http://schemas.openxmlformats.org/officeDocument/2006/relationships/slide" Target="/ppt/slides/slide7.xml" Id="R91d4072cfab7453f" /><Relationship Type="http://schemas.openxmlformats.org/officeDocument/2006/relationships/slide" Target="/ppt/slides/slide8.xml" Id="R569c9b0953594a38" /><Relationship Type="http://schemas.openxmlformats.org/officeDocument/2006/relationships/slide" Target="/ppt/slides/slide9.xml" Id="Re393b62d048549b9" /><Relationship Type="http://schemas.openxmlformats.org/officeDocument/2006/relationships/slide" Target="/ppt/slides/slide10.xml" Id="R5219ebccce1a4e1f" /><Relationship Type="http://schemas.openxmlformats.org/officeDocument/2006/relationships/slide" Target="/ppt/slides/slide11.xml" Id="R0740c95f46b04907" /><Relationship Type="http://schemas.openxmlformats.org/officeDocument/2006/relationships/slide" Target="/ppt/slides/slide12.xml" Id="Rca988800f5a549de" /><Relationship Type="http://schemas.openxmlformats.org/officeDocument/2006/relationships/slide" Target="/ppt/slides/slide13.xml" Id="R578a60ee7ae042de" /><Relationship Type="http://schemas.openxmlformats.org/officeDocument/2006/relationships/slide" Target="/ppt/slides/slide14.xml" Id="R7e2bdf2660574c68" /><Relationship Type="http://schemas.openxmlformats.org/officeDocument/2006/relationships/slide" Target="/ppt/slides/slide15.xml" Id="R62f6c51a07104b8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489d9cbbf842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0d1c8493994c01" /><Relationship Type="http://schemas.openxmlformats.org/officeDocument/2006/relationships/notesMaster" Target="/ppt/notesMasters/notesMaster1.xml" Id="R04c915d054f947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1f503c9be6c40d7" /><Relationship Type="http://schemas.openxmlformats.org/officeDocument/2006/relationships/notesMaster" Target="/ppt/notesMasters/notesMaster1.xml" Id="R097c181f9201418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702920292914051" /><Relationship Type="http://schemas.openxmlformats.org/officeDocument/2006/relationships/notesMaster" Target="/ppt/notesMasters/notesMaster1.xml" Id="Ra199fc2b074c4c6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83509d80ea24a79" /><Relationship Type="http://schemas.openxmlformats.org/officeDocument/2006/relationships/notesMaster" Target="/ppt/notesMasters/notesMaster1.xml" Id="Raa8d79e7ce6d4d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8ca6f46feac4ccd" /><Relationship Type="http://schemas.openxmlformats.org/officeDocument/2006/relationships/notesMaster" Target="/ppt/notesMasters/notesMaster1.xml" Id="R6843ee8a31fe45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d9f51674f24ccb" /><Relationship Type="http://schemas.openxmlformats.org/officeDocument/2006/relationships/notesMaster" Target="/ppt/notesMasters/notesMaster1.xml" Id="R1e5a89ce09f1499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9c3e43078314efa" /><Relationship Type="http://schemas.openxmlformats.org/officeDocument/2006/relationships/notesMaster" Target="/ppt/notesMasters/notesMaster1.xml" Id="R52e96edf9e8244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aa58d734304f75" /><Relationship Type="http://schemas.openxmlformats.org/officeDocument/2006/relationships/notesMaster" Target="/ppt/notesMasters/notesMaster1.xml" Id="Rc09b4d7a6ce141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6546ee707040f6" /><Relationship Type="http://schemas.openxmlformats.org/officeDocument/2006/relationships/notesMaster" Target="/ppt/notesMasters/notesMaster1.xml" Id="R6feaadc4c937493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5c9fea59bfb48ed" /><Relationship Type="http://schemas.openxmlformats.org/officeDocument/2006/relationships/notesMaster" Target="/ppt/notesMasters/notesMaster1.xml" Id="Rc9d7313a1d094ec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4c07172ee214830" /><Relationship Type="http://schemas.openxmlformats.org/officeDocument/2006/relationships/notesMaster" Target="/ppt/notesMasters/notesMaster1.xml" Id="R6927775839f04c2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85f659d315341e8" /><Relationship Type="http://schemas.openxmlformats.org/officeDocument/2006/relationships/notesMaster" Target="/ppt/notesMasters/notesMaster1.xml" Id="R478b0421c778410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a259bcb3a684a05" /><Relationship Type="http://schemas.openxmlformats.org/officeDocument/2006/relationships/notesMaster" Target="/ppt/notesMasters/notesMaster1.xml" Id="R66cdf8f35ebf4d3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62dafe84a5744a8" /><Relationship Type="http://schemas.openxmlformats.org/officeDocument/2006/relationships/notesMaster" Target="/ppt/notesMasters/notesMaster1.xml" Id="R7d3a727438824b4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f9de62d5d0140ee" /><Relationship Type="http://schemas.openxmlformats.org/officeDocument/2006/relationships/notesMaster" Target="/ppt/notesMasters/notesMaster1.xml" Id="R1bd8e443e77b4a8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45 seconds)</a:t>
            </a:r>
          </a:p>
          <a:p xmlns:a="http://schemas.openxmlformats.org/drawingml/2006/main">
            <a:r>
              <a:t>I would like to use this meeting to explain what the adaptive trace-estimation experiments taught us and agree on a narrow next question. The original goal was to choose how many queries to spend building a low-rank basis. The strongest result now is a clearer account of when that choice fails. A basis can have the expected dimension and still miss important directions. Fresh probes can reveal its actual residual risk, but gathering that information consumes the same budget we need for the final estimate.</a:t>
            </a:r>
          </a:p>
          <a:p xmlns:a="http://schemas.openxmlformats.org/drawingml/2006/main">
            <a:r>
              <a:t/>
            </a:r>
          </a:p>
          <a:p xmlns:a="http://schemas.openxmlformats.org/drawingml/2006/main">
            <a:r>
              <a:t>I will separate proved identities, finite experimental findings, and open confidence questions. I am not claiming a uniformly better Hutch++ allocator. The decision I would like from this discussion is whether the continuation should focus on a common-probe risk-difference bound or on checking capture directly.</a:t>
            </a:r>
          </a:p>
          <a:p xmlns:a="http://schemas.openxmlformats.org/drawingml/2006/main">
            <a:r>
              <a:t/>
            </a:r>
          </a:p>
          <a:p xmlns:a="http://schemas.openxmlformats.org/drawingml/2006/main">
            <a:r>
              <a:t>Transition: First I will explain what one query buys.</a:t>
            </a:r>
          </a:p>
          <a:p xmlns:a="http://schemas.openxmlformats.org/drawingml/2006/main">
            <a:r>
              <a:t>Source: reports/latex/adaptive_hutchpp_20260919/sections/introduction.tex and discussion.tex.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explanation (about 90 seconds)</a:t>
            </a:r>
          </a:p>
          <a:p xmlns:a="http://schemas.openxmlformats.org/drawingml/2006/main">
            <a:r>
              <a:t>Hutch++ splits the trace into a part captured by a basis Q and a residual part. We spend q queries forming the range sketch AS. Orthogonalization accepts r directions. We then need r additional products to cache AQ and evaluate the captured trace. The remaining ℓ queries estimate the residual. That gives q+r+ℓ=m. The familiar m−2q denominator is valid only when every attempted column contributes a direction, so r=q.</a:t>
            </a:r>
          </a:p>
          <a:p xmlns:a="http://schemas.openxmlformats.org/drawingml/2006/main">
            <a:r>
              <a:t/>
            </a:r>
          </a:p>
          <a:p xmlns:a="http://schemas.openxmlformats.org/drawingml/2006/main">
            <a:r>
              <a:t>The bar shows a concrete allocation: 15 sketch products, 15 cached basis products, and 130 residual probes. Moving to q=r=16 leaves 128 residual probes. Reusing a pilot avoids double-charging its original products. It does not erase their cost. If QR rejects a sampled direction, q still increases while r does not.</a:t>
            </a:r>
          </a:p>
          <a:p xmlns:a="http://schemas.openxmlformats.org/drawingml/2006/main">
            <a:r>
              <a:t/>
            </a:r>
          </a:p>
          <a:p xmlns:a="http://schemas.openxmlformats.org/drawingml/2006/main">
            <a:r>
              <a:t>Likely question: What ensures correctness after a sequential choice?</a:t>
            </a:r>
          </a:p>
          <a:p xmlns:a="http://schemas.openxmlformats.org/drawingml/2006/main">
            <a:r>
              <a:t>Answer: The basis and residual count are fixed before the fresh final probes. Conditional isotropy gives unbiasedness. Independence of final probes gives the usual conditional variance formulas.</a:t>
            </a:r>
          </a:p>
          <a:p xmlns:a="http://schemas.openxmlformats.org/drawingml/2006/main">
            <a:r>
              <a:t/>
            </a:r>
          </a:p>
          <a:p xmlns:a="http://schemas.openxmlformats.org/drawingml/2006/main">
            <a:r>
              <a:t>Transition: Counting the directions correctly does not yet tell us how good those directions are.</a:t>
            </a:r>
          </a:p>
          <a:p xmlns:a="http://schemas.openxmlformats.org/drawingml/2006/main">
            <a:r>
              <a:t>Source: manuscript preliminaries.tex, query-accounting proposition and conditional-unbiasedness theorem.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explanation (about 90 seconds)</a:t>
            </a:r>
          </a:p>
          <a:p xmlns:a="http://schemas.openxmlformats.org/drawingml/2006/main">
            <a:r>
              <a:t>There are two distinct objects. The ideal model assumes that r directions capture the leading eigenspace perfectly. Its tail energy T(r) is the sum of the remaining squared eigenvalues. The actual randomized basis need not achieve that ideal. For the realized basis, define R=I−QQᵀ and H=RAR. The Gaussian residual variance is twice the full squared Frobenius norm of H. With Rademacher final probes, only off-diagonal squared entries contribute. Each variance is divided by the actual number of residual probes.</a:t>
            </a:r>
          </a:p>
          <a:p xmlns:a="http://schemas.openxmlformats.org/drawingml/2006/main">
            <a:r>
              <a:t/>
            </a:r>
          </a:p>
          <a:p xmlns:a="http://schemas.openxmlformats.org/drawingml/2006/main">
            <a:r>
              <a:t>This is why replacing q by the accepted rank r repairs accounting but not imperfect capture. There is also no general left-to-right chain of improvement between different bases and risk models. For the same fixed basis and denominator, Rademacher risk is at most Gaussian risk. That narrower comparison is valid.</a:t>
            </a:r>
          </a:p>
          <a:p xmlns:a="http://schemas.openxmlformats.org/drawingml/2006/main">
            <a:r>
              <a:t/>
            </a:r>
          </a:p>
          <a:p xmlns:a="http://schemas.openxmlformats.org/drawingml/2006/main">
            <a:r>
              <a:t>Likely question: Are the sketches Gaussian when the risk is called Gaussian?</a:t>
            </a:r>
          </a:p>
          <a:p xmlns:a="http://schemas.openxmlformats.org/drawingml/2006/main">
            <a:r>
              <a:t>Answer: No. In the frozen bridge, the range sketch is Rademacher. Gaussian and Rademacher here describe the hypothetical final residual probes.</a:t>
            </a:r>
          </a:p>
          <a:p xmlns:a="http://schemas.openxmlformats.org/drawingml/2006/main">
            <a:r>
              <a:t/>
            </a:r>
          </a:p>
          <a:p xmlns:a="http://schemas.openxmlformats.org/drawingml/2006/main">
            <a:r>
              <a:t>Transition: The difference between ideal and actual capture explains the extra-column result.</a:t>
            </a:r>
          </a:p>
          <a:p xmlns:a="http://schemas.openxmlformats.org/drawingml/2006/main">
            <a:r>
              <a:t>Source: manuscript allocation.tex and experiments.tex, frozen risk bridge.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explanation (about 100 seconds)</a:t>
            </a:r>
          </a:p>
          <a:p xmlns:a="http://schemas.openxmlformats.org/drawingml/2006/main">
            <a:r>
              <a:t>At the tested small tail, every individual bridge row had r=q. Nevertheless, the ideal rank-based mean curve minimized at k, while the Gaussian and Rademacher mean curves minimized at k+1 in all nine tested rank–budget combinations. This chart shows k=15 and m=160. The vertical axis is base-ten logarithmic, so one unit means a factor of ten. Gaussian mean conditional risk changes from 1.2123×10⁻⁸ to 7.5641×10⁻¹². Rademacher risk changes from 1.2059×10⁻⁸ to 2.4140×10⁻¹³.</a:t>
            </a:r>
          </a:p>
          <a:p xmlns:a="http://schemas.openxmlformats.org/drawingml/2006/main">
            <a:r>
              <a:t/>
            </a:r>
          </a:p>
          <a:p xmlns:a="http://schemas.openxmlformats.org/drawingml/2006/main">
            <a:r>
              <a:t>The mechanism audit used nested sketches. At q=k, the dominant sketch block is square. A very small singular value amplifies the tiny tail and tilts the captured space. One extra column often repairs those rare bad paths. It does not guarantee conditioning.</a:t>
            </a:r>
          </a:p>
          <a:p xmlns:a="http://schemas.openxmlformats.org/drawingml/2006/main">
            <a:r>
              <a:t/>
            </a:r>
          </a:p>
          <a:p xmlns:a="http://schemas.openxmlformats.org/drawingml/2006/main">
            <a:r>
              <a:t>Important limitation: the median often preferred k. Gaussian bootstrap intervals for the mean difference at this budget included zero. Nearby regimes produced shifts of zero, one, two or more. These are finite mean minima, not population-optimality theorems.</a:t>
            </a:r>
          </a:p>
          <a:p xmlns:a="http://schemas.openxmlformats.org/drawingml/2006/main">
            <a:r>
              <a:t/>
            </a:r>
          </a:p>
          <a:p xmlns:a="http://schemas.openxmlformats.org/drawingml/2006/main">
            <a:r>
              <a:t>Transition: A separate experiment found an even more explicit failure: a missing signal direction.</a:t>
            </a:r>
          </a:p>
          <a:p xmlns:a="http://schemas.openxmlformats.org/drawingml/2006/main">
            <a:r>
              <a:t>Sources: reports/q_rank_vs_realized_risk_mechanism.md; manuscript experiments.tex, mean-risk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explanation (about 100 seconds)</a:t>
            </a:r>
          </a:p>
          <a:p xmlns:a="http://schemas.openxmlformats.org/drawingml/2006/main">
            <a:r>
              <a:t>This is a different mechanism from near-square bad conditioning. The pilot has eight columns for five leading directions, so there is already positive oversampling. In coordinate trial 7, signal rows three and four are exact negatives, as shown here. Consequently w=(e₃+e₄)/√2 is orthogonal to every sketch column. Since Aw=w, multiplying by A cannot reveal that direction. The sampled matrix still has eight accepted directions because the small tail supplies additional directions. It captures only four of the five leading directions.</a:t>
            </a:r>
          </a:p>
          <a:p xmlns:a="http://schemas.openxmlformats.org/drawingml/2006/main">
            <a:r>
              <a:t/>
            </a:r>
          </a:p>
          <a:p xmlns:a="http://schemas.openxmlformats.org/drawingml/2006/main">
            <a:r>
              <a:t>The Ritz values show four values near one and four near 0.001. That looks like an excellent knee, but it is incomplete. The missing direction remains entirely in the residual. This one path accounts for 99.9948% of the total conditional risk in the ten coordinate paths. This is a within-sample share, not a failure-probability estimate.</a:t>
            </a:r>
          </a:p>
          <a:p xmlns:a="http://schemas.openxmlformats.org/drawingml/2006/main">
            <a:r>
              <a:t/>
            </a:r>
          </a:p>
          <a:p xmlns:a="http://schemas.openxmlformats.org/drawingml/2006/main">
            <a:r>
              <a:t>Likely question: Could a stronger gap threshold fix this example?</a:t>
            </a:r>
          </a:p>
          <a:p xmlns:a="http://schemas.openxmlformats.org/drawingml/2006/main">
            <a:r>
              <a:t>Answer: Its contrast is about 69,077. The later contrast threshold of five would still accept it. Moreover a four-signal matrix can produce the same AS and AQ transcript.</a:t>
            </a:r>
          </a:p>
          <a:p xmlns:a="http://schemas.openxmlformats.org/drawingml/2006/main">
            <a:r>
              <a:t/>
            </a:r>
          </a:p>
          <a:p xmlns:a="http://schemas.openxmlformats.org/drawingml/2006/main">
            <a:r>
              <a:t>Source: reports/coordinate_gate_failure_audit_20260916.md and figures/urop_journal_data_20260919/figure1_signal_source.csv.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explanation (about 90 seconds)</a:t>
            </a:r>
          </a:p>
          <a:p xmlns:a="http://schemas.openxmlformats.org/drawingml/2006/main">
            <a:r>
              <a:t>Here is the local mathematical decision rule. Before adding a direction, exact conditional risk is 2E/D. A successful extra sketch direction costs one sketch product and one basis product, so the residual budget becomes D−2. Its new risk is 2E′/(D−2). Comparing the two expressions gives D(E−E′)&gt;2E. If E&gt;0, this is the fractional criterion on the slide.</a:t>
            </a:r>
          </a:p>
          <a:p xmlns:a="http://schemas.openxmlformats.org/drawingml/2006/main">
            <a:r>
              <a:t/>
            </a:r>
          </a:p>
          <a:p xmlns:a="http://schemas.openxmlformats.org/drawingml/2006/main">
            <a:r>
              <a:t>For q=r=15 under m=160, D=130. Losing two residual probes costs about 1.54% of that capacity. The new direction must remove more than 1.54% of the relevant residual energy to compensate. For Gaussian probes, E is the full residual Frobenius energy. For Rademacher probes, E is the off-diagonal energy. The same algebra works, even though the energies differ.</a:t>
            </a:r>
          </a:p>
          <a:p xmlns:a="http://schemas.openxmlformats.org/drawingml/2006/main">
            <a:r>
              <a:t/>
            </a:r>
          </a:p>
          <a:p xmlns:a="http://schemas.openxmlformats.org/drawingml/2006/main">
            <a:r>
              <a:t>If the attempted direction is rejected and the projector stays unchanged, the risk increases by 2E/[D(D−1)]. If E=0 it remains zero. No strict harm claim is justified in that zero-risk case.</a:t>
            </a:r>
          </a:p>
          <a:p xmlns:a="http://schemas.openxmlformats.org/drawingml/2006/main">
            <a:r>
              <a:t/>
            </a:r>
          </a:p>
          <a:p xmlns:a="http://schemas.openxmlformats.org/drawingml/2006/main">
            <a:r>
              <a:t>Transition: This tells us what to estimate, but the exact residual energy is unavailable online.</a:t>
            </a:r>
          </a:p>
          <a:p xmlns:a="http://schemas.openxmlformats.org/drawingml/2006/main">
            <a:r>
              <a:t>Source: manuscript allocation.tex, realized marginal-risk proposition; mathematical backup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explanation (about 90 seconds)</a:t>
            </a:r>
          </a:p>
          <a:p xmlns:a="http://schemas.openxmlformats.org/drawingml/2006/main">
            <a:r>
              <a:t>Instead of fitting a spectral exponent, we can measure the randomness of the residual quadratic form directly. For a fixed basis, X=gᵀRARg has variance σ² equal to twice the off-diagonal residual energy. Ordinary unbiased sample variance estimates this σ². Dividing by the appropriate final-probe count estimates conditional trace MSE.</a:t>
            </a:r>
          </a:p>
          <a:p xmlns:a="http://schemas.openxmlformats.org/drawingml/2006/main">
            <a:r>
              <a:t/>
            </a:r>
          </a:p>
          <a:p xmlns:a="http://schemas.openxmlformats.org/drawingml/2006/main">
            <a:r>
              <a:t>We can use one common g for both actions. Once AQ is cached, h=g−Q(Qᵀg), and Ah=Ag−AQ(Qᵀg). Therefore one new product Ag supplies hᵀAh for every preconstructed action. Sixteen certification probes cost sixteen products, not sixteen per action. The cached AQ products still belong in construction cost.</a:t>
            </a:r>
          </a:p>
          <a:p xmlns:a="http://schemas.openxmlformats.org/drawingml/2006/main">
            <a:r>
              <a:t/>
            </a:r>
          </a:p>
          <a:p xmlns:a="http://schemas.openxmlformats.org/drawingml/2006/main">
            <a:r>
              <a:t>The offline study first treated certification as external evidence to isolate statistical signal. A later emulation charged it to the budget. The same probes can compare actions, but they cannot automatically serve as the final residual probes after selection. Fresh final probes preserve the conditional-unbiasedness argument.</a:t>
            </a:r>
          </a:p>
          <a:p xmlns:a="http://schemas.openxmlformats.org/drawingml/2006/main">
            <a:r>
              <a:t/>
            </a:r>
          </a:p>
          <a:p xmlns:a="http://schemas.openxmlformats.org/drawingml/2006/main">
            <a:r>
              <a:t>Likely question: Does unbiased sample variance make the decision safe?</a:t>
            </a:r>
          </a:p>
          <a:p xmlns:a="http://schemas.openxmlformats.org/drawingml/2006/main">
            <a:r>
              <a:t>Answer: No. Unbiasedness is an expectation identity. A useful simultaneous or directed confidence bound is a separate problem.</a:t>
            </a:r>
          </a:p>
          <a:p xmlns:a="http://schemas.openxmlformats.org/drawingml/2006/main">
            <a:r>
              <a:t>Source: manuscript certification.tex, sample-variance lemma and cached-product identity.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explanation (about 100 seconds)</a:t>
            </a:r>
          </a:p>
          <a:p xmlns:a="http://schemas.openxmlformats.org/drawingml/2006/main">
            <a:r>
              <a:t>This experiment froze 200 basis paths for each of three ranks. Each path received 200 repeated certification experiments. At s=16 and m=160, the empirical rule accepted the candidate only if its estimated risk was at most half the baseline estimate. Reverse separation rejected it, and weak separation caused abstention.</a:t>
            </a:r>
          </a:p>
          <a:p xmlns:a="http://schemas.openxmlformats.org/drawingml/2006/main">
            <a:r>
              <a:t/>
            </a:r>
          </a:p>
          <a:p xmlns:a="http://schemas.openxmlformats.org/drawingml/2006/main">
            <a:r>
              <a:t>Sample variance had a false-safe rate of 0.0134%, with a conditional bootstrap interval from 0.0028% to 0.0305%. This denominator contains only truly worse candidates. Among truly better candidates in the within-rank top 5% of baseline risk, acceptance was 79.7%, with interval 69.1% to 89.3%. Acceptance among all truly better candidates was 52.1%. The two median-of-means constructions had materially higher false-safe rates, 4.6971% and 1.5478%.</a:t>
            </a:r>
          </a:p>
          <a:p xmlns:a="http://schemas.openxmlformats.org/drawingml/2006/main">
            <a:r>
              <a:t/>
            </a:r>
          </a:p>
          <a:p xmlns:a="http://schemas.openxmlformats.org/drawingml/2006/main">
            <a:r>
              <a:t>Rates first average repetitions within a path, then eligible paths within rank, then the ranks equally. The intervals resample eligible path clusters, conditional on the frozen orientations and paths. They are not theorem-level safety certificates or guarantees conditional on acceptance.</a:t>
            </a:r>
          </a:p>
          <a:p xmlns:a="http://schemas.openxmlformats.org/drawingml/2006/main">
            <a:r>
              <a:t/>
            </a:r>
          </a:p>
          <a:p xmlns:a="http://schemas.openxmlformats.org/drawingml/2006/main">
            <a:r>
              <a:t>Transition: This demonstrates a usable signal, but we still have to pay for measuring it.</a:t>
            </a:r>
          </a:p>
          <a:p xmlns:a="http://schemas.openxmlformats.org/drawingml/2006/main">
            <a:r>
              <a:t>Sources: manuscript experiments.tex; figures/urop_journal_data_20260919/figure2_bootstrap_source.csv, figure2_eligibility_source.csv and figure2_catastrophic_source.csv. The native chart uses the validated source values. Point estimates appear on the slide; complete confidence intervals are recorded above.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explanation (about 110 seconds)</a:t>
            </a:r>
          </a:p>
          <a:p xmlns:a="http://schemas.openxmlformats.org/drawingml/2006/main">
            <a:r>
              <a:t>The paid emulation asks a harder question than the preceding slide. It compares the whole policy with an original baseline that has not yet spent on candidate construction or certification. After those costs, the remaining final-probe count is m−c_pre−s. In this nested shared-prefix architecture, c_pre is the maximum action construction cost. In a different architecture we must count the actual committed products.</a:t>
            </a:r>
          </a:p>
          <a:p xmlns:a="http://schemas.openxmlformats.org/drawingml/2006/main">
            <a:r>
              <a:t/>
            </a:r>
          </a:p>
          <a:p xmlns:a="http://schemas.openxmlformats.org/drawingml/2006/main">
            <a:r>
              <a:t>The left value reports an equal-rank average of within-rank ratios of mean risks: 0.036329, with bootstrap interval 0.014628 to 0.639830. The right plot retains every path and shows the apparent contradiction: 575 of 600 paths are harmed. The pooled median risk ratio is 1.160714. Rare catastrophic baselines are so expensive that protecting a few of them can dominate the mean. Most ordinary paths get little benefit and still pay the overhead.</a:t>
            </a:r>
          </a:p>
          <a:p xmlns:a="http://schemas.openxmlformats.org/drawingml/2006/main">
            <a:r>
              <a:t/>
            </a:r>
          </a:p>
          <a:p xmlns:a="http://schemas.openxmlformats.org/drawingml/2006/main">
            <a:r>
              <a:t>Likely question: Can abstention restore baseline safety?</a:t>
            </a:r>
          </a:p>
          <a:p xmlns:a="http://schemas.openxmlformats.org/drawingml/2006/main">
            <a:r>
              <a:t>Answer: It can restore the old basis, but not the old residual budget. The always-fallback mean ratio is about 1.1722. This is why an accepted-action guarantee would not automatically guarantee the entire policy.</a:t>
            </a:r>
          </a:p>
          <a:p xmlns:a="http://schemas.openxmlformats.org/drawingml/2006/main">
            <a:r>
              <a:t/>
            </a:r>
          </a:p>
          <a:p xmlns:a="http://schemas.openxmlformats.org/drawingml/2006/main">
            <a:r>
              <a:t>Sources: manuscript experiments.tex; figure3_bootstrap_source.csv and figure3_path_source.csv. Reference is the adjacent original baseline, not Standard Hutch++ with q=53.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explanation (about 90 seconds)</a:t>
            </a:r>
          </a:p>
          <a:p xmlns:a="http://schemas.openxmlformats.org/drawingml/2006/main">
            <a:r>
              <a:t>The target is the difference between two residual risks. Using the same probes creates covariance between their estimates. The exact identity is Var(A−B)=Var(A)+Var(B)−2Cov(A,B). The independence benchmark is the sum of the marginal variances. The reported numerical benchmark estimates those marginal variances from the frozen repetitions.</a:t>
            </a:r>
          </a:p>
          <a:p xmlns:a="http://schemas.openxmlformats.org/drawingml/2006/main">
            <a:r>
              <a:t/>
            </a:r>
          </a:p>
          <a:p xmlns:a="http://schemas.openxmlformats.org/drawingml/2006/main">
            <a:r>
              <a:t>Across the rank-balanced frozen population, the paired statistic retained about 15.1% of that benchmark variance, with interval 13.7% to 16.7%. However, the ordinary-path average was about 0.112 and the top-5% catastrophic-path average about 0.900. The strongest cancellation happened on the easier paths. The difficult tail that motivates certification benefited much less. The subgroup values are descriptive path averages, not separate new confidence theorems.</a:t>
            </a:r>
          </a:p>
          <a:p xmlns:a="http://schemas.openxmlformats.org/drawingml/2006/main">
            <a:r>
              <a:t/>
            </a:r>
          </a:p>
          <a:p xmlns:a="http://schemas.openxmlformats.org/drawingml/2006/main">
            <a:r>
              <a:t>Likely question: Was the shifted sequence an independent control?</a:t>
            </a:r>
          </a:p>
          <a:p xmlns:a="http://schemas.openxmlformats.org/drawingml/2006/main">
            <a:r>
              <a:t>Answer: No. It is a shifted or decorrelated comparator. The mathematical independence benchmark remains the sum of marginal variances.</a:t>
            </a:r>
          </a:p>
          <a:p xmlns:a="http://schemas.openxmlformats.org/drawingml/2006/main">
            <a:r>
              <a:t/>
            </a:r>
          </a:p>
          <a:p xmlns:a="http://schemas.openxmlformats.org/drawingml/2006/main">
            <a:r>
              <a:t>Transition: Pairing is promising, but its empirical gain does not close the confidence-bound problem.</a:t>
            </a:r>
          </a:p>
          <a:p xmlns:a="http://schemas.openxmlformats.org/drawingml/2006/main">
            <a:r>
              <a:t>Source: reports/paired_rademacher_risk_difference_phase2a.md, primary results and catastrophic-stratum summaries.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explanation (about 100 seconds)</a:t>
            </a:r>
          </a:p>
          <a:p xmlns:a="http://schemas.openxmlformats.org/drawingml/2006/main">
            <a:r>
              <a:t>We have a solid theorem chain for accounting, unbiasedness, exact conditional risk, and the local marginal comparison. The confidence problem is more limited. The original quadratic-chaos fourth-moment factor 81 gives a joint Chebyshev relative radius of about 10.00 at s=32 and joint failure probability 0.05. The independently audited improved factor 15 reduces this to about 4.19. Both exceed one, so the usual multiplicative candidate upper bound cannot close.</a:t>
            </a:r>
          </a:p>
          <a:p xmlns:a="http://schemas.openxmlformats.org/drawingml/2006/main">
            <a:r>
              <a:t/>
            </a:r>
          </a:p>
          <a:p xmlns:a="http://schemas.openxmlformats.org/drawingml/2006/main">
            <a:r>
              <a:t>A separate truncation–Bernstein construction also fails analytically on its frozen cap grid. Its proposed probability upper bound stays above 0.81873. That is a weakness of the bound, not a statement that the estimator fails with probability 81.9%.</a:t>
            </a:r>
          </a:p>
          <a:p xmlns:a="http://schemas.openxmlformats.org/drawingml/2006/main">
            <a:r>
              <a:t/>
            </a:r>
          </a:p>
          <a:p xmlns:a="http://schemas.openxmlformats.org/drawingml/2006/main">
            <a:r>
              <a:t>There is already a theorem for a paired difference under a valid pre-certification Frobenius-norm bound M₀ and nested bases. It supplies a finite one-sided radius. It does not tell us how to obtain a sharp valid M₀ cheaply, prove useful acceptance, or make paid fallback safe.</a:t>
            </a:r>
          </a:p>
          <a:p xmlns:a="http://schemas.openxmlformats.org/drawingml/2006/main">
            <a:r>
              <a:t/>
            </a:r>
          </a:p>
          <a:p xmlns:a="http://schemas.openxmlformats.org/drawingml/2006/main">
            <a:r>
              <a:t>Likely question: Did the theorem program fail completely?</a:t>
            </a:r>
          </a:p>
          <a:p xmlns:a="http://schemas.openxmlformats.org/drawingml/2006/main">
            <a:r>
              <a:t>Answer: No. It identified exactly which assumptions and constants still obstruct a useful small-budget certificate.</a:t>
            </a:r>
          </a:p>
          <a:p xmlns:a="http://schemas.openxmlformats.org/drawingml/2006/main">
            <a:r>
              <a:t>Source: manuscript confidence.tex and technical.tex; recovery_audit_20260914.md.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Discussion (about two minutes)</a:t>
            </a:r>
          </a:p>
          <a:p xmlns:a="http://schemas.openxmlformats.org/drawingml/2006/main">
            <a:r>
              <a:t>My recommendation is to finish the UROP narrative around what the experiments and proofs establish. The contribution is not a claim that one adaptive split uniformly wins. It is a clear explanation of pilot commitment, incomplete range capture, probe-specific residual risk, and the price of checking an action.</a:t>
            </a:r>
          </a:p>
          <a:p xmlns:a="http://schemas.openxmlformats.org/drawingml/2006/main">
            <a:r>
              <a:t/>
            </a:r>
          </a:p>
          <a:p xmlns:a="http://schemas.openxmlformats.org/drawingml/2006/main">
            <a:r>
              <a:t>For continuation, I see two focused options. The first is a one-sided confidence bound for a common-probe risk difference. There is an empirical pairing signal and a theorem with a structural norm prior, but the difficult paths have weaker cancellation. We would need a valid scale bound, an acceptance test, and an honest paid fallback. The second is a cheap check for missed dominant directions, motivated by the exact pilot-indistinguishability example. Such a check must use information beyond the existing pilot transcript.</a:t>
            </a:r>
          </a:p>
          <a:p xmlns:a="http://schemas.openxmlformats.org/drawingml/2006/main">
            <a:r>
              <a:t/>
            </a:r>
          </a:p>
          <a:p xmlns:a="http://schemas.openxmlformats.org/drawingml/2006/main">
            <a:r>
              <a:t>Questions for Swati: Which question fits the available time and the intended theoretical contribution? Would a conditional theorem with an explicit structural prior be valuable? What evidence would justify restarting allocator development?</a:t>
            </a:r>
          </a:p>
          <a:p xmlns:a="http://schemas.openxmlformats.org/drawingml/2006/main">
            <a:r>
              <a:t/>
            </a:r>
          </a:p>
          <a:p xmlns:a="http://schemas.openxmlformats.org/drawingml/2006/main">
            <a:r>
              <a:t>I would freeze new allocator experiments until we choose one route and specify its cost and success criterion.</a:t>
            </a:r>
          </a:p>
          <a:p xmlns:a="http://schemas.openxmlformats.org/drawingml/2006/main">
            <a:r>
              <a:t>Sources: manuscript discussion.tex, confidence.tex and coordinate_gate_failure_audit_20260916.md.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derivation</a:t>
            </a:r>
          </a:p>
          <a:p xmlns:a="http://schemas.openxmlformats.org/drawingml/2006/main">
            <a:r>
              <a:t>Condition on all information before the final probes. Q and the positive integer D are then fixed. The estimator is tr(QᵀAQ)+(1/D)∑gᵀHg. Isotropy implies E[gᵀHg]=tr(H). The trace identity tr(QᵀAQ)+tr(H)=tr(A) gives conditional unbiasedness. Do not replace this trace identity by a false matrix decomposition A=QQᵀAQQᵀ+H, because cross blocks can remain.</a:t>
            </a:r>
          </a:p>
          <a:p xmlns:a="http://schemas.openxmlformats.org/drawingml/2006/main">
            <a:r>
              <a:t/>
            </a:r>
          </a:p>
          <a:p xmlns:a="http://schemas.openxmlformats.org/drawingml/2006/main">
            <a:r>
              <a:t>For Gaussian g and symmetric H, Var(gᵀHg)=2‖H‖²F. For independent uniform signs, diagonal contributions are deterministic and Var(gᵀHg)=4∑i&lt;j Hᵢⱼ²=2∑i≠j Hᵢⱼ². Independence across final probes divides the variance by D. Conditional mean is the exact trace, so averaging conditional variances over randomized bases gives unconditional estimator MSE.</a:t>
            </a:r>
          </a:p>
          <a:p xmlns:a="http://schemas.openxmlformats.org/drawingml/2006/main">
            <a:r>
              <a:t/>
            </a:r>
          </a:p>
          <a:p xmlns:a="http://schemas.openxmlformats.org/drawingml/2006/main">
            <a:r>
              <a:t>For one accepted direction, subtract 2E/D from 2E′/(D−2). The difference equals −2[D(E−E′)−2E]/[D(D−2)]. Since the denominator is positive for D&gt;2, the stated sign criterion follows. Dividing by E requires E&gt;0. For a rejected attempt with unchanged projector, E stays fixed and D falls by one, giving 2E/[D(D−1)] for D&gt;1. At E=0 this is zero. Rademacher off-diagonal energy need not be monotone under arbitrary basis enlargement, but the comparison identity remains valid.</a:t>
            </a:r>
          </a:p>
          <a:p xmlns:a="http://schemas.openxmlformats.org/drawingml/2006/main">
            <a:r>
              <a:t>Source: manuscript preliminaries.tex and allocation.tex.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Detailed derivation and caution</a:t>
            </a:r>
          </a:p>
          <a:p xmlns:a="http://schemas.openxmlformats.org/drawingml/2006/main">
            <a:r>
              <a:t>For iid quadratic forms X₁,…,X_s with finite fourth central moment μ₄, the unbiased sample variance S² has expectation σ² and variance [μ₄−((s−3)/(s−1))σ⁴]/s. These are exact conditional identities for a fixed action. Write S² as the average over unordered pairs of h(x,y)=(x−y)²/2. With μ=EX, the first projection is h₁(x)=((x−μ)²−σ²)/2 and the canonical remainder is h₂(x,y)=−(x−μ)(y−μ). Therefore S²−σ²=(2/s)∑h₁(X_i)+(1/binom(s,2))∑i&lt;j h₂(X_i,X_j). Conditional expectation in either coordinate of h₂ is zero. The h₁ term is generally nondegenerate and cannot be discarded.</a:t>
            </a:r>
          </a:p>
          <a:p xmlns:a="http://schemas.openxmlformats.org/drawingml/2006/main">
            <a:r>
              <a:t/>
            </a:r>
          </a:p>
          <a:p xmlns:a="http://schemas.openxmlformats.org/drawingml/2006/main">
            <a:r>
              <a:t>If μ₄≤Kσ⁴, a two-action union bound using δ_joint/2 per action gives ε=sqrt(2[K−1+2/(s−1)]/(s δ_joint)). At s=32, δ_joint=0.05, K=81 gives about 10.004 and K=15 about 4.193. Neither closes a candidate upper bound S²/(1−ε). A baseline lower bound S₀²/(1+ε₀) only requires a finite nonnegative upper-deviation radius.</a:t>
            </a:r>
          </a:p>
          <a:p xmlns:a="http://schemas.openxmlformats.org/drawingml/2006/main">
            <a:r>
              <a:t/>
            </a:r>
          </a:p>
          <a:p xmlns:a="http://schemas.openxmlformats.org/drawingml/2006/main">
            <a:r>
              <a:t>The degree-two fourth-moment bound cannot simply replace the degree-four bound for a centered paired difference. A finite norm-prior theorem is conditional on a valid pre-certification M₀. It remains distinct from a data-only, useful, budget-safe policy.</a:t>
            </a:r>
          </a:p>
          <a:p xmlns:a="http://schemas.openxmlformats.org/drawingml/2006/main">
            <a:r>
              <a:t>Sources: manuscript certification.tex, confidence.tex and technical.tex. Imported inequalities and their references are documented there.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and population guide</a:t>
            </a:r>
          </a:p>
          <a:p xmlns:a="http://schemas.openxmlformats.org/drawingml/2006/main">
            <a:r>
              <a:t>The risk bridge uses A=ηI+(1−η)U★U★ᵀ, with d=500, k∈{5,15,30}, η∈{0,10⁻¹⁴,10⁻¹⁰,10⁻⁶}, and budgets 80,160,240. It has 200 nested Rademacher sketch paths per setup. Orientation seeds 52000–52002 pair the matrices across η. Basis seeds are 70000–70199. QR uses rtol=10⁻¹² and atol=0 against the frozen sampled-column scale. At η=10⁻⁶ all 138,600 individual allocation rows have r=q.</a:t>
            </a:r>
          </a:p>
          <a:p xmlns:a="http://schemas.openxmlformats.org/drawingml/2006/main">
            <a:r>
              <a:t/>
            </a:r>
          </a:p>
          <a:p xmlns:a="http://schemas.openxmlformats.org/drawingml/2006/main">
            <a:r>
              <a:t>The direct-risk experiment uses 200 paths for each rank, two tail levels, four batches of 50 certification repetitions, and nested sample sizes 4,8,16,32. Shared certification probes pair actions, budgets, sample sizes and tail levels. The primary displayed case is m=160, η=10⁻⁶, s=16, q=k+1 versus q=k. Bootstrap intervals use 10,000 rank-stratified path resamples with metric-specific eligibility where appropriate. They are conditional on the frozen orientations and paths, not universal confidence statements.</a:t>
            </a:r>
          </a:p>
          <a:p xmlns:a="http://schemas.openxmlformats.org/drawingml/2006/main">
            <a:r>
              <a:t/>
            </a:r>
          </a:p>
          <a:p xmlns:a="http://schemas.openxmlformats.org/drawingml/2006/main">
            <a:r>
              <a:t>The coordinate-failure experiment is separate: d=100, m=60, k=5, η=0.001, ten paths in the coordinate orientation and 300 across 30 Haar orientations. Do not pool these with the 600 certification paths.</a:t>
            </a:r>
          </a:p>
          <a:p xmlns:a="http://schemas.openxmlformats.org/drawingml/2006/main">
            <a:r>
              <a:t/>
            </a:r>
          </a:p>
          <a:p xmlns:a="http://schemas.openxmlformats.org/drawingml/2006/main">
            <a:r>
              <a:t>Primary source package: reports/latex/adaptive_hutchpp_20260919/main.tex (completed September 20). Supporting reports: q_rank_vs_realized_risk_mechanism.md; coordinate_gate_failure_audit_20260916.md; paired_rademacher_risk_difference_phase2a.md; recovery_audit_20260914.md. Numerical plots: figures/urop_journal_data_20260919/ and its source CSVs. Original Hutch++ context: Meyer et al., Hutch++: Optimal Stochastic Trace Estimation, arXiv:2010.09649. The manuscript contains full bibliographic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9eb2e752c5f49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d6743fa0d34156" /><Relationship Type="http://schemas.openxmlformats.org/officeDocument/2006/relationships/slideLayout" Target="/ppt/slideLayouts/slideLayout1.xml" Id="R0d3ce71256964d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d3ce71256964d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ad8a4b9d8414695" /><Relationship Type="http://schemas.openxmlformats.org/officeDocument/2006/relationships/notesSlide" Target="/ppt/notesSlides/notesSlide1.xml" Id="Rd5668e93ae254e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29c78c5fbbe4328" /><Relationship Type="http://schemas.openxmlformats.org/officeDocument/2006/relationships/notesSlide" Target="/ppt/notesSlides/notesSlide2.xml" Id="Re9913c77997f4f8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d83d804d1534687" /><Relationship Type="http://schemas.openxmlformats.org/officeDocument/2006/relationships/notesSlide" Target="/ppt/notesSlides/notesSlide3.xml" Id="R94dcff5ac41b46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177d6a6c3354141" /><Relationship Type="http://schemas.openxmlformats.org/officeDocument/2006/relationships/chart" Target="/ppt/slides/charts/chart1.xml" Id="R7866b5f679164a70" /><Relationship Type="http://schemas.openxmlformats.org/officeDocument/2006/relationships/notesSlide" Target="/ppt/notesSlides/notesSlide4.xml" Id="R45dc9ef2dfff4c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1d3c64652d4477b" /><Relationship Type="http://schemas.openxmlformats.org/officeDocument/2006/relationships/notesSlide" Target="/ppt/notesSlides/notesSlide5.xml" Id="R71c913a6b2a84d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90feb9199534299" /><Relationship Type="http://schemas.openxmlformats.org/officeDocument/2006/relationships/notesSlide" Target="/ppt/notesSlides/notesSlide6.xml" Id="R6c7fe334e132496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c91bcdc6c4c441a" /><Relationship Type="http://schemas.openxmlformats.org/officeDocument/2006/relationships/notesSlide" Target="/ppt/notesSlides/notesSlide7.xml" Id="Rfd0ba71d20e9429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fdee1415cf401c" /><Relationship Type="http://schemas.openxmlformats.org/officeDocument/2006/relationships/chart" Target="/ppt/slides/charts/chart2.xml" Id="R5809305dcf3845d9" /><Relationship Type="http://schemas.openxmlformats.org/officeDocument/2006/relationships/notesSlide" Target="/ppt/notesSlides/notesSlide8.xml" Id="R7b3ca1178bef40c3"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040f96672794976" /><Relationship Type="http://schemas.openxmlformats.org/officeDocument/2006/relationships/chart" Target="/ppt/slides/charts/chart3.xml" Id="R890082c5c1dd44dd" /><Relationship Type="http://schemas.openxmlformats.org/officeDocument/2006/relationships/notesSlide" Target="/ppt/notesSlides/notesSlide9.xml" Id="R2dadca982603459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3a7eceb626a4710" /><Relationship Type="http://schemas.openxmlformats.org/officeDocument/2006/relationships/chart" Target="/ppt/slides/charts/chart4.xml" Id="R9e46fdb743064c5d" /><Relationship Type="http://schemas.openxmlformats.org/officeDocument/2006/relationships/notesSlide" Target="/ppt/notesSlides/notesSlide10.xml" Id="Rfbb82ada53f9450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234df27ec55412f" /><Relationship Type="http://schemas.openxmlformats.org/officeDocument/2006/relationships/notesSlide" Target="/ppt/notesSlides/notesSlide11.xml" Id="R930a374aa9dc44b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5798352a7154b83" /><Relationship Type="http://schemas.openxmlformats.org/officeDocument/2006/relationships/notesSlide" Target="/ppt/notesSlides/notesSlide12.xml" Id="R4d29390a2dbe41e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dcd1c8e4d0b4066" /><Relationship Type="http://schemas.openxmlformats.org/officeDocument/2006/relationships/notesSlide" Target="/ppt/notesSlides/notesSlide13.xml" Id="Rcb401ca004e5424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134c6e4b3b8411b" /><Relationship Type="http://schemas.openxmlformats.org/officeDocument/2006/relationships/notesSlide" Target="/ppt/notesSlides/notesSlide14.xml" Id="R74c965bf117d407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759264751074ecd" /><Relationship Type="http://schemas.openxmlformats.org/officeDocument/2006/relationships/notesSlide" Target="/ppt/notesSlides/notesSlide15.xml" Id="R7d013b6408654198" /></Relationships>
</file>

<file path=ppt/slides/charts/chart1.xml><?xml version="1.0" encoding="utf-8"?>
<c:chartSpace xmlns:c="http://schemas.openxmlformats.org/drawingml/2006/chart">
  <c:lang val="en-US"/>
  <c:chart>
    <c:plotArea>
      <c:lineChart>
        <c:grouping val="standard"/>
        <c:ser>
          <c:idx val="0"/>
          <c:order val="0"/>
          <c:tx>
            <c:v>Gaussian</c:v>
          </c:tx>
          <c:spPr>
            <a:ln xmlns:a="http://schemas.openxmlformats.org/drawingml/2006/main" w="38100">
              <a:solidFill>
                <a:srgbClr val="31688E"/>
              </a:solidFill>
            </a:ln>
          </c:spPr>
          <c:marker>
            <c:symbol val="none"/>
          </c:marker>
          <c:cat>
            <c:strLit>
              <c:ptCount val="2"/>
              <c:pt idx="0">
                <c:v>q = 15</c:v>
              </c:pt>
              <c:pt idx="1">
                <c:v>q = 16</c:v>
              </c:pt>
            </c:strLit>
          </c:cat>
          <c:val>
            <c:numLit>
              <c:formatCode>0.0</c:formatCode>
              <c:ptCount val="2"/>
              <c:pt idx="0">
                <c:v>-7.91638989483769</c:v>
              </c:pt>
              <c:pt idx="1">
                <c:v>-11.12124273826683</c:v>
              </c:pt>
            </c:numLit>
          </c:val>
        </c:ser>
        <c:ser>
          <c:idx val="1"/>
          <c:order val="1"/>
          <c:tx>
            <c:v>Rademacher</c:v>
          </c:tx>
          <c:spPr>
            <a:ln xmlns:a="http://schemas.openxmlformats.org/drawingml/2006/main" w="38100">
              <a:solidFill>
                <a:srgbClr val="37847F"/>
              </a:solidFill>
            </a:ln>
          </c:spPr>
          <c:marker>
            <c:symbol val="none"/>
          </c:marker>
          <c:cat>
            <c:strLit>
              <c:ptCount val="2"/>
              <c:pt idx="0">
                <c:v>q = 15</c:v>
              </c:pt>
              <c:pt idx="1">
                <c:v>q = 16</c:v>
              </c:pt>
            </c:strLit>
          </c:cat>
          <c:val>
            <c:numLit>
              <c:formatCode>0.0</c:formatCode>
              <c:ptCount val="2"/>
              <c:pt idx="0">
                <c:v>-7.91868870484002</c:v>
              </c:pt>
              <c:pt idx="1">
                <c:v>-12.61726273423867</c:v>
              </c:pt>
            </c:numLit>
          </c: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92D3C"/>
                </a:solidFill>
                <a:latin typeface="Helvetica Neue"/>
                <a:ea typeface="Helvetica Neue"/>
                <a:cs typeface="Helvetica Neue"/>
              </a:defRPr>
            </a:pPr>
          </a:p>
        </c:txPr>
        <c:crossAx val="48672768"/>
      </c:catAx>
      <c:valAx>
        <c:axId val="48672768"/>
        <c:scaling>
          <c:orientation val="minMax"/>
          <c:max val="-7"/>
          <c:min val="-13"/>
        </c:scaling>
        <c:delete val="0"/>
        <c:axPos val="l"/>
        <c:majorGridlines>
          <c:spPr>
            <a:ln xmlns:a="http://schemas.openxmlformats.org/drawingml/2006/main" w="9525">
              <a:solidFill>
                <a:srgbClr val="E5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log₁₀(mean conditional risk)</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86974"/>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92D3C"/>
              </a:solidFill>
              <a:latin typeface="Helvetica Neue"/>
              <a:ea typeface="Helvetica Neue"/>
              <a:cs typeface="Helvetica Neue"/>
            </a:defRPr>
          </a:pPr>
        </a:p>
      </c:txPr>
    </c:legend>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bar"/>
        <c:varyColors val="0"/>
        <c:ser>
          <c:idx val="0"/>
          <c:order val="0"/>
          <c:tx>
            <c:v>False-safe rate (%)</c:v>
          </c:tx>
          <c:spPr>
            <a:solidFill xmlns:a="http://schemas.openxmlformats.org/drawingml/2006/main">
              <a:srgbClr val="31688E"/>
            </a:solidFill>
          </c:spPr>
          <c:dLbls>
            <c:dLbl>
              <c:idx val="0"/>
              <c:tx>
                <c:rich>
                  <a:bodyPr xmlns:a="http://schemas.openxmlformats.org/drawingml/2006/main"/>
                  <a:lstStyle xmlns:a="http://schemas.openxmlformats.org/drawingml/2006/main"/>
                  <a:p xmlns:a="http://schemas.openxmlformats.org/drawingml/2006/main">
                    <a:r>
                      <a:rPr sz="1725">
                        <a:solidFill>
                          <a:srgbClr val="31688E"/>
                        </a:solidFill>
                        <a:latin typeface="Helvetica Neue"/>
                        <a:ea typeface="Helvetica Neue"/>
                        <a:cs typeface="Helvetica Neue"/>
                      </a:rPr>
                      <a:t>0.0134%</a:t>
                    </a:r>
                  </a:p>
                </c:rich>
              </c:tx>
              <c:txPr>
                <a:bodyPr xmlns:a="http://schemas.openxmlformats.org/drawingml/2006/main" anchorCtr="1"/>
                <a:lstStyle xmlns:a="http://schemas.openxmlformats.org/drawingml/2006/main"/>
                <a:p xmlns:a="http://schemas.openxmlformats.org/drawingml/2006/main">
                  <a:pPr>
                    <a:defRPr sz="1725">
                      <a:solidFill>
                        <a:srgbClr val="31688E"/>
                      </a:solidFill>
                      <a:latin typeface="Helvetica Neue"/>
                      <a:ea typeface="Helvetica Neue"/>
                      <a:cs typeface="Helvetica Neue"/>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a:solidFill>
                          <a:srgbClr val="31688E"/>
                        </a:solidFill>
                        <a:latin typeface="Helvetica Neue"/>
                        <a:ea typeface="Helvetica Neue"/>
                        <a:cs typeface="Helvetica Neue"/>
                      </a:rPr>
                      <a:t>4.6971%</a:t>
                    </a:r>
                  </a:p>
                </c:rich>
              </c:tx>
              <c:txPr>
                <a:bodyPr xmlns:a="http://schemas.openxmlformats.org/drawingml/2006/main" anchorCtr="1"/>
                <a:lstStyle xmlns:a="http://schemas.openxmlformats.org/drawingml/2006/main"/>
                <a:p xmlns:a="http://schemas.openxmlformats.org/drawingml/2006/main">
                  <a:pPr>
                    <a:defRPr sz="1725">
                      <a:solidFill>
                        <a:srgbClr val="31688E"/>
                      </a:solidFill>
                      <a:latin typeface="Helvetica Neue"/>
                      <a:ea typeface="Helvetica Neue"/>
                      <a:cs typeface="Helvetica Neue"/>
                    </a:defRPr>
                  </a:pPr>
                </a:p>
              </c:txPr>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725">
                        <a:solidFill>
                          <a:srgbClr val="31688E"/>
                        </a:solidFill>
                        <a:latin typeface="Helvetica Neue"/>
                        <a:ea typeface="Helvetica Neue"/>
                        <a:cs typeface="Helvetica Neue"/>
                      </a:rPr>
                      <a:t>1.5478%</a:t>
                    </a:r>
                  </a:p>
                </c:rich>
              </c:tx>
              <c:txPr>
                <a:bodyPr xmlns:a="http://schemas.openxmlformats.org/drawingml/2006/main" anchorCtr="1"/>
                <a:lstStyle xmlns:a="http://schemas.openxmlformats.org/drawingml/2006/main"/>
                <a:p xmlns:a="http://schemas.openxmlformats.org/drawingml/2006/main">
                  <a:pPr>
                    <a:defRPr sz="1725">
                      <a:solidFill>
                        <a:srgbClr val="31688E"/>
                      </a:solidFill>
                      <a:latin typeface="Helvetica Neue"/>
                      <a:ea typeface="Helvetica Neue"/>
                      <a:cs typeface="Helvetica Neue"/>
                    </a:defRPr>
                  </a:pPr>
                </a:p>
              </c:txPr>
              <c:showLegendKey val="0"/>
              <c:showVal val="0"/>
              <c:showCatName val="0"/>
              <c:showSerName val="0"/>
              <c:showPercent val="0"/>
              <c:showBubbleSize val="0"/>
            </c:dLbl>
          </c:dLbls>
          <c:cat>
            <c:strLit>
              <c:ptCount val="3"/>
              <c:pt idx="0">
                <c:v>Sample variance</c:v>
              </c:pt>
              <c:pt idx="1">
                <c:v>MoM: one pair</c:v>
              </c:pt>
              <c:pt idx="2">
                <c:v>MoM: two pairs</c:v>
              </c:pt>
            </c:strLit>
          </c:cat>
          <c:val>
            <c:numLit>
              <c:formatCode>General</c:formatCode>
              <c:ptCount val="3"/>
              <c:pt idx="0">
                <c:v>0.01343512673299</c:v>
              </c:pt>
              <c:pt idx="1">
                <c:v>4.69713973969293</c:v>
              </c:pt>
              <c:pt idx="2">
                <c:v>1.54776431212601</c:v>
              </c:pt>
            </c:numLit>
          </c:val>
        </c:ser>
        <c:dLbls>
          <c:txPr>
            <a:bodyPr xmlns:a="http://schemas.openxmlformats.org/drawingml/2006/main" anchorCtr="1"/>
            <a:lstStyle xmlns:a="http://schemas.openxmlformats.org/drawingml/2006/main"/>
            <a:p xmlns:a="http://schemas.openxmlformats.org/drawingml/2006/main">
              <a:pPr>
                <a:defRPr sz="1725">
                  <a:solidFill>
                    <a:srgbClr val="31688E"/>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86974"/>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92D3C"/>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3.xml><?xml version="1.0" encoding="utf-8"?>
<c:chartSpace xmlns:c="http://schemas.openxmlformats.org/drawingml/2006/chart">
  <c:lang val="en-US"/>
  <c:chart>
    <c:plotArea>
      <c:scatterChart>
        <c:scatterStyle val="line"/>
        <c:ser>
          <c:idx val="0"/>
          <c:order val="0"/>
          <c:tx>
            <c:v>All 600 paths</c:v>
          </c:tx>
          <c:spPr>
            <a:ln xmlns:a="http://schemas.openxmlformats.org/drawingml/2006/main" w="28575">
              <a:solidFill>
                <a:srgbClr val="BC702D"/>
              </a:solidFill>
            </a:ln>
          </c:spPr>
          <c:marker>
            <c:symbol val="none"/>
          </c:marker>
          <c:xVal>
            <c:numLit>
              <c:formatCode>General</c:formatCode>
              <c:ptCount val="600"/>
              <c:pt idx="0">
                <c:v>-6.942106179197777</c:v>
              </c:pt>
              <c:pt idx="1">
                <c:v>-5.116784746027184</c:v>
              </c:pt>
              <c:pt idx="2">
                <c:v>-3.1686524633908792</c:v>
              </c:pt>
              <c:pt idx="3">
                <c:v>-2.1951000424523253</c:v>
              </c:pt>
              <c:pt idx="4">
                <c:v>-2.013685218913863</c:v>
              </c:pt>
              <c:pt idx="5">
                <c:v>-1.9793407393397058</c:v>
              </c:pt>
              <c:pt idx="6">
                <c:v>-1.8463188893616724</c:v>
              </c:pt>
              <c:pt idx="7">
                <c:v>-1.5144223233962555</c:v>
              </c:pt>
              <c:pt idx="8">
                <c:v>-1.4477745730410199</c:v>
              </c:pt>
              <c:pt idx="9">
                <c:v>-1.2449418593995023</c:v>
              </c:pt>
              <c:pt idx="10">
                <c:v>-1.1872978987658065</c:v>
              </c:pt>
              <c:pt idx="11">
                <c:v>-0.9876725786196435</c:v>
              </c:pt>
              <c:pt idx="12">
                <c:v>-0.9331431143873824</c:v>
              </c:pt>
              <c:pt idx="13">
                <c:v>-0.8267115673751221</c:v>
              </c:pt>
              <c:pt idx="14">
                <c:v>-0.7365703499714521</c:v>
              </c:pt>
              <c:pt idx="15">
                <c:v>-0.608303169484541</c:v>
              </c:pt>
              <c:pt idx="16">
                <c:v>-0.6057439168813734</c:v>
              </c:pt>
              <c:pt idx="17">
                <c:v>-0.567980000280137</c:v>
              </c:pt>
              <c:pt idx="18">
                <c:v>-0.48312213952833155</c:v>
              </c:pt>
              <c:pt idx="19">
                <c:v>-0.3633686236184603</c:v>
              </c:pt>
              <c:pt idx="20">
                <c:v>-0.33206971157031934</c:v>
              </c:pt>
              <c:pt idx="21">
                <c:v>-0.3172042647964492</c:v>
              </c:pt>
              <c:pt idx="22">
                <c:v>-0.26479016626387075</c:v>
              </c:pt>
              <c:pt idx="23">
                <c:v>-0.22170483961669527</c:v>
              </c:pt>
              <c:pt idx="24">
                <c:v>-0.018766469334064787</c:v>
              </c:pt>
              <c:pt idx="25">
                <c:v>0.004216897109883389</c:v>
              </c:pt>
              <c:pt idx="26">
                <c:v>0.008189899301258123</c:v>
              </c:pt>
              <c:pt idx="27">
                <c:v>0.024541632026237426</c:v>
              </c:pt>
              <c:pt idx="28">
                <c:v>0.03269403827258424</c:v>
              </c:pt>
              <c:pt idx="29">
                <c:v>0.03476863029461009</c:v>
              </c:pt>
              <c:pt idx="30">
                <c:v>0.049782403359460235</c:v>
              </c:pt>
              <c:pt idx="31">
                <c:v>0.05432761362917418</c:v>
              </c:pt>
              <c:pt idx="32">
                <c:v>0.05551732784982903</c:v>
              </c:pt>
              <c:pt idx="33">
                <c:v>0.05551732784982903</c:v>
              </c:pt>
              <c:pt idx="34">
                <c:v>0.05551732784982913</c:v>
              </c:pt>
              <c:pt idx="35">
                <c:v>0.05551732784982913</c:v>
              </c:pt>
              <c:pt idx="36">
                <c:v>0.05551732784982946</c:v>
              </c:pt>
              <c:pt idx="37">
                <c:v>0.05551732784982946</c:v>
              </c:pt>
              <c:pt idx="38">
                <c:v>0.05551732784982946</c:v>
              </c:pt>
              <c:pt idx="39">
                <c:v>0.05551732784982946</c:v>
              </c:pt>
              <c:pt idx="40">
                <c:v>0.05551732784982946</c:v>
              </c:pt>
              <c:pt idx="41">
                <c:v>0.055517327849829545</c:v>
              </c:pt>
              <c:pt idx="42">
                <c:v>0.055517327849829545</c:v>
              </c:pt>
              <c:pt idx="43">
                <c:v>0.055517327849829545</c:v>
              </c:pt>
              <c:pt idx="44">
                <c:v>0.055517327849829545</c:v>
              </c:pt>
              <c:pt idx="45">
                <c:v>0.055517327849829545</c:v>
              </c:pt>
              <c:pt idx="46">
                <c:v>0.05551732784982963</c:v>
              </c:pt>
              <c:pt idx="47">
                <c:v>0.05551732784982963</c:v>
              </c:pt>
              <c:pt idx="48">
                <c:v>0.05551732784982963</c:v>
              </c:pt>
              <c:pt idx="49">
                <c:v>0.05551732784982963</c:v>
              </c:pt>
              <c:pt idx="50">
                <c:v>0.05551732784982963</c:v>
              </c:pt>
              <c:pt idx="51">
                <c:v>0.05551732784982963</c:v>
              </c:pt>
              <c:pt idx="52">
                <c:v>0.05551732784982963</c:v>
              </c:pt>
              <c:pt idx="53">
                <c:v>0.05551732784982963</c:v>
              </c:pt>
              <c:pt idx="54">
                <c:v>0.05551732784982972</c:v>
              </c:pt>
              <c:pt idx="55">
                <c:v>0.05551732784982972</c:v>
              </c:pt>
              <c:pt idx="56">
                <c:v>0.05551732784982972</c:v>
              </c:pt>
              <c:pt idx="57">
                <c:v>0.05551732784982972</c:v>
              </c:pt>
              <c:pt idx="58">
                <c:v>0.05551732784982972</c:v>
              </c:pt>
              <c:pt idx="59">
                <c:v>0.05551732784982972</c:v>
              </c:pt>
              <c:pt idx="60">
                <c:v>0.0555173278498298</c:v>
              </c:pt>
              <c:pt idx="61">
                <c:v>0.0555173278498298</c:v>
              </c:pt>
              <c:pt idx="62">
                <c:v>0.055517327849829885</c:v>
              </c:pt>
              <c:pt idx="63">
                <c:v>0.055517327849829885</c:v>
              </c:pt>
              <c:pt idx="64">
                <c:v>0.055517327849829885</c:v>
              </c:pt>
              <c:pt idx="65">
                <c:v>0.055517327849829885</c:v>
              </c:pt>
              <c:pt idx="66">
                <c:v>0.055517327849829885</c:v>
              </c:pt>
              <c:pt idx="67">
                <c:v>0.055517327849829885</c:v>
              </c:pt>
              <c:pt idx="68">
                <c:v>0.055517327849829885</c:v>
              </c:pt>
              <c:pt idx="69">
                <c:v>0.055517327849829885</c:v>
              </c:pt>
              <c:pt idx="70">
                <c:v>0.055517327849829885</c:v>
              </c:pt>
              <c:pt idx="71">
                <c:v>0.05551732784983005</c:v>
              </c:pt>
              <c:pt idx="72">
                <c:v>0.05551732784983005</c:v>
              </c:pt>
              <c:pt idx="73">
                <c:v>0.05551732784983005</c:v>
              </c:pt>
              <c:pt idx="74">
                <c:v>0.055517327849830135</c:v>
              </c:pt>
              <c:pt idx="75">
                <c:v>0.055517327849830135</c:v>
              </c:pt>
              <c:pt idx="76">
                <c:v>0.055517327849830135</c:v>
              </c:pt>
              <c:pt idx="77">
                <c:v>0.055517327849830135</c:v>
              </c:pt>
              <c:pt idx="78">
                <c:v>0.055517327849830135</c:v>
              </c:pt>
              <c:pt idx="79">
                <c:v>0.055517327849830135</c:v>
              </c:pt>
              <c:pt idx="80">
                <c:v>0.055517327849830135</c:v>
              </c:pt>
              <c:pt idx="81">
                <c:v>0.055517327849830225</c:v>
              </c:pt>
              <c:pt idx="82">
                <c:v>0.055517327849830225</c:v>
              </c:pt>
              <c:pt idx="83">
                <c:v>0.055517327849830225</c:v>
              </c:pt>
              <c:pt idx="84">
                <c:v>0.05551732784983031</c:v>
              </c:pt>
              <c:pt idx="85">
                <c:v>0.05551732784983031</c:v>
              </c:pt>
              <c:pt idx="86">
                <c:v>0.05551732784983031</c:v>
              </c:pt>
              <c:pt idx="87">
                <c:v>0.05551732784983031</c:v>
              </c:pt>
              <c:pt idx="88">
                <c:v>0.05551732784983031</c:v>
              </c:pt>
              <c:pt idx="89">
                <c:v>0.05551732784983031</c:v>
              </c:pt>
              <c:pt idx="90">
                <c:v>0.05551732784983031</c:v>
              </c:pt>
              <c:pt idx="91">
                <c:v>0.05551732784983031</c:v>
              </c:pt>
              <c:pt idx="92">
                <c:v>0.05551732784983031</c:v>
              </c:pt>
              <c:pt idx="93">
                <c:v>0.05551732784983031</c:v>
              </c:pt>
              <c:pt idx="94">
                <c:v>0.05551732784983031</c:v>
              </c:pt>
              <c:pt idx="95">
                <c:v>0.05551732784983031</c:v>
              </c:pt>
              <c:pt idx="96">
                <c:v>0.05551732784983039</c:v>
              </c:pt>
              <c:pt idx="97">
                <c:v>0.05551732784983039</c:v>
              </c:pt>
              <c:pt idx="98">
                <c:v>0.05551732784983039</c:v>
              </c:pt>
              <c:pt idx="99">
                <c:v>0.055517327849830475</c:v>
              </c:pt>
              <c:pt idx="100">
                <c:v>0.055517327849830475</c:v>
              </c:pt>
              <c:pt idx="101">
                <c:v>0.055517327849830475</c:v>
              </c:pt>
              <c:pt idx="102">
                <c:v>0.055517327849830475</c:v>
              </c:pt>
              <c:pt idx="103">
                <c:v>0.055517327849830475</c:v>
              </c:pt>
              <c:pt idx="104">
                <c:v>0.05551732784983064</c:v>
              </c:pt>
              <c:pt idx="105">
                <c:v>0.05551732784983064</c:v>
              </c:pt>
              <c:pt idx="106">
                <c:v>0.05551732784983073</c:v>
              </c:pt>
              <c:pt idx="107">
                <c:v>0.05551732784983073</c:v>
              </c:pt>
              <c:pt idx="108">
                <c:v>0.05551732784983073</c:v>
              </c:pt>
              <c:pt idx="109">
                <c:v>0.055517327849830815</c:v>
              </c:pt>
              <c:pt idx="110">
                <c:v>0.055517327849830815</c:v>
              </c:pt>
              <c:pt idx="111">
                <c:v>0.055517327849830815</c:v>
              </c:pt>
              <c:pt idx="112">
                <c:v>0.055517327849830815</c:v>
              </c:pt>
              <c:pt idx="113">
                <c:v>0.055517327849830815</c:v>
              </c:pt>
              <c:pt idx="114">
                <c:v>0.055517327849830815</c:v>
              </c:pt>
              <c:pt idx="115">
                <c:v>0.055517327849830815</c:v>
              </c:pt>
              <c:pt idx="116">
                <c:v>0.055517327849830815</c:v>
              </c:pt>
              <c:pt idx="117">
                <c:v>0.0555173278498309</c:v>
              </c:pt>
              <c:pt idx="118">
                <c:v>0.0555173278498309</c:v>
              </c:pt>
              <c:pt idx="119">
                <c:v>0.0555173278498309</c:v>
              </c:pt>
              <c:pt idx="120">
                <c:v>0.0555173278498309</c:v>
              </c:pt>
              <c:pt idx="121">
                <c:v>0.0555173278498309</c:v>
              </c:pt>
              <c:pt idx="122">
                <c:v>0.0555173278498309</c:v>
              </c:pt>
              <c:pt idx="123">
                <c:v>0.0555173278498309</c:v>
              </c:pt>
              <c:pt idx="124">
                <c:v>0.0555173278498309</c:v>
              </c:pt>
              <c:pt idx="125">
                <c:v>0.0555173278498309</c:v>
              </c:pt>
              <c:pt idx="126">
                <c:v>0.05551732784983133</c:v>
              </c:pt>
              <c:pt idx="127">
                <c:v>0.05551732784983133</c:v>
              </c:pt>
              <c:pt idx="128">
                <c:v>0.05551732784983133</c:v>
              </c:pt>
              <c:pt idx="129">
                <c:v>0.05551732784983133</c:v>
              </c:pt>
              <c:pt idx="130">
                <c:v>0.05551732784983133</c:v>
              </c:pt>
              <c:pt idx="131">
                <c:v>0.05551732784983142</c:v>
              </c:pt>
              <c:pt idx="132">
                <c:v>0.05551732784983142</c:v>
              </c:pt>
              <c:pt idx="133">
                <c:v>0.05551732784983142</c:v>
              </c:pt>
              <c:pt idx="134">
                <c:v>0.05551732784983142</c:v>
              </c:pt>
              <c:pt idx="135">
                <c:v>0.05551732784983142</c:v>
              </c:pt>
              <c:pt idx="136">
                <c:v>0.05551732784983142</c:v>
              </c:pt>
              <c:pt idx="137">
                <c:v>0.05551732784983142</c:v>
              </c:pt>
              <c:pt idx="138">
                <c:v>0.05551732784983142</c:v>
              </c:pt>
              <c:pt idx="139">
                <c:v>0.05551732784983175</c:v>
              </c:pt>
              <c:pt idx="140">
                <c:v>0.055517327849831835</c:v>
              </c:pt>
              <c:pt idx="141">
                <c:v>0.055517327849831835</c:v>
              </c:pt>
              <c:pt idx="142">
                <c:v>0.055517327849831835</c:v>
              </c:pt>
              <c:pt idx="143">
                <c:v>0.055517327849831835</c:v>
              </c:pt>
              <c:pt idx="144">
                <c:v>0.055517327849831835</c:v>
              </c:pt>
              <c:pt idx="145">
                <c:v>0.055517327849831835</c:v>
              </c:pt>
              <c:pt idx="146">
                <c:v>0.055517327849831835</c:v>
              </c:pt>
              <c:pt idx="147">
                <c:v>0.055517327849831925</c:v>
              </c:pt>
              <c:pt idx="148">
                <c:v>0.055517327849831925</c:v>
              </c:pt>
              <c:pt idx="149">
                <c:v>0.05551732784983201</c:v>
              </c:pt>
              <c:pt idx="150">
                <c:v>0.05551732784983201</c:v>
              </c:pt>
              <c:pt idx="151">
                <c:v>0.05551732784983209</c:v>
              </c:pt>
              <c:pt idx="152">
                <c:v>0.05551732784983209</c:v>
              </c:pt>
              <c:pt idx="153">
                <c:v>0.05551732784983209</c:v>
              </c:pt>
              <c:pt idx="154">
                <c:v>0.05551732784983226</c:v>
              </c:pt>
              <c:pt idx="155">
                <c:v>0.05551732784983226</c:v>
              </c:pt>
              <c:pt idx="156">
                <c:v>0.05551732784983226</c:v>
              </c:pt>
              <c:pt idx="157">
                <c:v>0.05551732784983234</c:v>
              </c:pt>
              <c:pt idx="158">
                <c:v>0.05551732784983234</c:v>
              </c:pt>
              <c:pt idx="159">
                <c:v>0.05551732784983234</c:v>
              </c:pt>
              <c:pt idx="160">
                <c:v>0.05551732784983243</c:v>
              </c:pt>
              <c:pt idx="161">
                <c:v>0.05551732784983243</c:v>
              </c:pt>
              <c:pt idx="162">
                <c:v>0.05551732784983243</c:v>
              </c:pt>
              <c:pt idx="163">
                <c:v>0.05551732784983243</c:v>
              </c:pt>
              <c:pt idx="164">
                <c:v>0.05551732784983243</c:v>
              </c:pt>
              <c:pt idx="165">
                <c:v>0.05551732784983243</c:v>
              </c:pt>
              <c:pt idx="166">
                <c:v>0.05551732784983243</c:v>
              </c:pt>
              <c:pt idx="167">
                <c:v>0.05551732784983243</c:v>
              </c:pt>
              <c:pt idx="168">
                <c:v>0.05551732784983243</c:v>
              </c:pt>
              <c:pt idx="169">
                <c:v>0.05551732784983243</c:v>
              </c:pt>
              <c:pt idx="170">
                <c:v>0.05551732784983243</c:v>
              </c:pt>
              <c:pt idx="171">
                <c:v>0.05551732784983243</c:v>
              </c:pt>
              <c:pt idx="172">
                <c:v>0.05551732784983243</c:v>
              </c:pt>
              <c:pt idx="173">
                <c:v>0.055517327849832515</c:v>
              </c:pt>
              <c:pt idx="174">
                <c:v>0.055517327849832515</c:v>
              </c:pt>
              <c:pt idx="175">
                <c:v>0.055517327849832515</c:v>
              </c:pt>
              <c:pt idx="176">
                <c:v>0.055517327849832515</c:v>
              </c:pt>
              <c:pt idx="177">
                <c:v>0.055517327849832515</c:v>
              </c:pt>
              <c:pt idx="178">
                <c:v>0.055517327849832515</c:v>
              </c:pt>
              <c:pt idx="179">
                <c:v>0.055517327849832515</c:v>
              </c:pt>
              <c:pt idx="180">
                <c:v>0.055517327849832515</c:v>
              </c:pt>
              <c:pt idx="181">
                <c:v>0.0555173278498326</c:v>
              </c:pt>
              <c:pt idx="182">
                <c:v>0.0555173278498326</c:v>
              </c:pt>
              <c:pt idx="183">
                <c:v>0.0555173278498326</c:v>
              </c:pt>
              <c:pt idx="184">
                <c:v>0.0555173278498326</c:v>
              </c:pt>
              <c:pt idx="185">
                <c:v>0.0555173278498326</c:v>
              </c:pt>
              <c:pt idx="186">
                <c:v>0.0555173278498326</c:v>
              </c:pt>
              <c:pt idx="187">
                <c:v>0.0555173278498326</c:v>
              </c:pt>
              <c:pt idx="188">
                <c:v>0.05551732784983268</c:v>
              </c:pt>
              <c:pt idx="189">
                <c:v>0.05551732784983268</c:v>
              </c:pt>
              <c:pt idx="190">
                <c:v>0.05551732784983268</c:v>
              </c:pt>
              <c:pt idx="191">
                <c:v>0.05551732784983285</c:v>
              </c:pt>
              <c:pt idx="192">
                <c:v>0.05551732784983285</c:v>
              </c:pt>
              <c:pt idx="193">
                <c:v>0.05551732784983285</c:v>
              </c:pt>
              <c:pt idx="194">
                <c:v>0.05551732784983285</c:v>
              </c:pt>
              <c:pt idx="195">
                <c:v>0.05551732784983293</c:v>
              </c:pt>
              <c:pt idx="196">
                <c:v>0.05551732784983293</c:v>
              </c:pt>
              <c:pt idx="197">
                <c:v>0.05551732784983293</c:v>
              </c:pt>
              <c:pt idx="198">
                <c:v>0.05551732784983293</c:v>
              </c:pt>
              <c:pt idx="199">
                <c:v>0.05551732784983302</c:v>
              </c:pt>
              <c:pt idx="200">
                <c:v>0.05551732784983302</c:v>
              </c:pt>
              <c:pt idx="201">
                <c:v>0.05551732784983302</c:v>
              </c:pt>
              <c:pt idx="202">
                <c:v>0.055517327849833105</c:v>
              </c:pt>
              <c:pt idx="203">
                <c:v>0.055517327849833105</c:v>
              </c:pt>
              <c:pt idx="204">
                <c:v>0.055517327849833105</c:v>
              </c:pt>
              <c:pt idx="205">
                <c:v>0.055517327849833105</c:v>
              </c:pt>
              <c:pt idx="206">
                <c:v>0.05551732784983319</c:v>
              </c:pt>
              <c:pt idx="207">
                <c:v>0.05551732784983319</c:v>
              </c:pt>
              <c:pt idx="208">
                <c:v>0.05551732784983319</c:v>
              </c:pt>
              <c:pt idx="209">
                <c:v>0.05551732784983319</c:v>
              </c:pt>
              <c:pt idx="210">
                <c:v>0.05551732784983319</c:v>
              </c:pt>
              <c:pt idx="211">
                <c:v>0.05551732784983327</c:v>
              </c:pt>
              <c:pt idx="212">
                <c:v>0.055517327849833625</c:v>
              </c:pt>
              <c:pt idx="213">
                <c:v>0.055517327849833625</c:v>
              </c:pt>
              <c:pt idx="214">
                <c:v>0.05551732784983371</c:v>
              </c:pt>
              <c:pt idx="215">
                <c:v>0.05551732784983371</c:v>
              </c:pt>
              <c:pt idx="216">
                <c:v>0.055693390732573754</c:v>
              </c:pt>
              <c:pt idx="217">
                <c:v>0.055849162042696666</c:v>
              </c:pt>
              <c:pt idx="218">
                <c:v>0.0558815572892433</c:v>
              </c:pt>
              <c:pt idx="219">
                <c:v>0.055946283895337574</c:v>
              </c:pt>
              <c:pt idx="220">
                <c:v>0.05660206230468354</c:v>
              </c:pt>
              <c:pt idx="221">
                <c:v>0.05660888980200333</c:v>
              </c:pt>
              <c:pt idx="222">
                <c:v>0.056789705255202376</c:v>
              </c:pt>
              <c:pt idx="223">
                <c:v>0.059167091772806</c:v>
              </c:pt>
              <c:pt idx="224">
                <c:v>0.06003290489721684</c:v>
              </c:pt>
              <c:pt idx="225">
                <c:v>0.06461856575120695</c:v>
              </c:pt>
              <c:pt idx="226">
                <c:v>0.0646741699466749</c:v>
              </c:pt>
              <c:pt idx="227">
                <c:v>0.06468217563769295</c:v>
              </c:pt>
              <c:pt idx="228">
                <c:v>0.06470963997331508</c:v>
              </c:pt>
              <c:pt idx="229">
                <c:v>0.06472532963665337</c:v>
              </c:pt>
              <c:pt idx="230">
                <c:v>0.06472532963665337</c:v>
              </c:pt>
              <c:pt idx="231">
                <c:v>0.06472532963665337</c:v>
              </c:pt>
              <c:pt idx="232">
                <c:v>0.06472532963665337</c:v>
              </c:pt>
              <c:pt idx="233">
                <c:v>0.06472532963665337</c:v>
              </c:pt>
              <c:pt idx="234">
                <c:v>0.06472532963665337</c:v>
              </c:pt>
              <c:pt idx="235">
                <c:v>0.06472532963665337</c:v>
              </c:pt>
              <c:pt idx="236">
                <c:v>0.06472532963665337</c:v>
              </c:pt>
              <c:pt idx="237">
                <c:v>0.06472532963665337</c:v>
              </c:pt>
              <c:pt idx="238">
                <c:v>0.06472532963665337</c:v>
              </c:pt>
              <c:pt idx="239">
                <c:v>0.06472532963665337</c:v>
              </c:pt>
              <c:pt idx="240">
                <c:v>0.06472532963665337</c:v>
              </c:pt>
              <c:pt idx="241">
                <c:v>0.06472532963665337</c:v>
              </c:pt>
              <c:pt idx="242">
                <c:v>0.06472532963665337</c:v>
              </c:pt>
              <c:pt idx="243">
                <c:v>0.06472532963665337</c:v>
              </c:pt>
              <c:pt idx="244">
                <c:v>0.06472532963665337</c:v>
              </c:pt>
              <c:pt idx="245">
                <c:v>0.06472532963665337</c:v>
              </c:pt>
              <c:pt idx="246">
                <c:v>0.06472532963665337</c:v>
              </c:pt>
              <c:pt idx="247">
                <c:v>0.06472532963665337</c:v>
              </c:pt>
              <c:pt idx="248">
                <c:v>0.06472532963665337</c:v>
              </c:pt>
              <c:pt idx="249">
                <c:v>0.06472532963665337</c:v>
              </c:pt>
              <c:pt idx="250">
                <c:v>0.06472532963665337</c:v>
              </c:pt>
              <c:pt idx="251">
                <c:v>0.06472532963665337</c:v>
              </c:pt>
              <c:pt idx="252">
                <c:v>0.06472532963665337</c:v>
              </c:pt>
              <c:pt idx="253">
                <c:v>0.06472532963665344</c:v>
              </c:pt>
              <c:pt idx="254">
                <c:v>0.06472532963665344</c:v>
              </c:pt>
              <c:pt idx="255">
                <c:v>0.06472532963665344</c:v>
              </c:pt>
              <c:pt idx="256">
                <c:v>0.06472532963665344</c:v>
              </c:pt>
              <c:pt idx="257">
                <c:v>0.06472532963665419</c:v>
              </c:pt>
              <c:pt idx="258">
                <c:v>0.06472532963665419</c:v>
              </c:pt>
              <c:pt idx="259">
                <c:v>0.06472532963665419</c:v>
              </c:pt>
              <c:pt idx="260">
                <c:v>0.06472532963665419</c:v>
              </c:pt>
              <c:pt idx="261">
                <c:v>0.06472532963665419</c:v>
              </c:pt>
              <c:pt idx="262">
                <c:v>0.06472532963665419</c:v>
              </c:pt>
              <c:pt idx="263">
                <c:v>0.06472532963665419</c:v>
              </c:pt>
              <c:pt idx="264">
                <c:v>0.06472532963665419</c:v>
              </c:pt>
              <c:pt idx="265">
                <c:v>0.06472532963665419</c:v>
              </c:pt>
              <c:pt idx="266">
                <c:v>0.06472532963665419</c:v>
              </c:pt>
              <c:pt idx="267">
                <c:v>0.06472532963665419</c:v>
              </c:pt>
              <c:pt idx="268">
                <c:v>0.06472532963665419</c:v>
              </c:pt>
              <c:pt idx="269">
                <c:v>0.06472532963665419</c:v>
              </c:pt>
              <c:pt idx="270">
                <c:v>0.06472532963665419</c:v>
              </c:pt>
              <c:pt idx="271">
                <c:v>0.06472532963665419</c:v>
              </c:pt>
              <c:pt idx="272">
                <c:v>0.06472532963665419</c:v>
              </c:pt>
              <c:pt idx="273">
                <c:v>0.06472532963665419</c:v>
              </c:pt>
              <c:pt idx="274">
                <c:v>0.06472532963665419</c:v>
              </c:pt>
              <c:pt idx="275">
                <c:v>0.06472532963665419</c:v>
              </c:pt>
              <c:pt idx="276">
                <c:v>0.06472532963665419</c:v>
              </c:pt>
              <c:pt idx="277">
                <c:v>0.06472532963665419</c:v>
              </c:pt>
              <c:pt idx="278">
                <c:v>0.06472532963665419</c:v>
              </c:pt>
              <c:pt idx="279">
                <c:v>0.06472532963665419</c:v>
              </c:pt>
              <c:pt idx="280">
                <c:v>0.06472532963665435</c:v>
              </c:pt>
              <c:pt idx="281">
                <c:v>0.06472532963665435</c:v>
              </c:pt>
              <c:pt idx="282">
                <c:v>0.06472532963665435</c:v>
              </c:pt>
              <c:pt idx="283">
                <c:v>0.06472532963665445</c:v>
              </c:pt>
              <c:pt idx="284">
                <c:v>0.06472532963665445</c:v>
              </c:pt>
              <c:pt idx="285">
                <c:v>0.06472532963665445</c:v>
              </c:pt>
              <c:pt idx="286">
                <c:v>0.06472532963665445</c:v>
              </c:pt>
              <c:pt idx="287">
                <c:v>0.06472532963665445</c:v>
              </c:pt>
              <c:pt idx="288">
                <c:v>0.06472532963665445</c:v>
              </c:pt>
              <c:pt idx="289">
                <c:v>0.06472532963665445</c:v>
              </c:pt>
              <c:pt idx="290">
                <c:v>0.06472532963665445</c:v>
              </c:pt>
              <c:pt idx="291">
                <c:v>0.06472532963665445</c:v>
              </c:pt>
              <c:pt idx="292">
                <c:v>0.06472532963665445</c:v>
              </c:pt>
              <c:pt idx="293">
                <c:v>0.06472532963665445</c:v>
              </c:pt>
              <c:pt idx="294">
                <c:v>0.06472532963665445</c:v>
              </c:pt>
              <c:pt idx="295">
                <c:v>0.06472532963665445</c:v>
              </c:pt>
              <c:pt idx="296">
                <c:v>0.06472532963665445</c:v>
              </c:pt>
              <c:pt idx="297">
                <c:v>0.06472532963665445</c:v>
              </c:pt>
              <c:pt idx="298">
                <c:v>0.06472532963665445</c:v>
              </c:pt>
              <c:pt idx="299">
                <c:v>0.06472532963665445</c:v>
              </c:pt>
              <c:pt idx="300">
                <c:v>0.06472532963665445</c:v>
              </c:pt>
              <c:pt idx="301">
                <c:v>0.06472532963665445</c:v>
              </c:pt>
              <c:pt idx="302">
                <c:v>0.06472532963665445</c:v>
              </c:pt>
              <c:pt idx="303">
                <c:v>0.06472532963665445</c:v>
              </c:pt>
              <c:pt idx="304">
                <c:v>0.06472532963665445</c:v>
              </c:pt>
              <c:pt idx="305">
                <c:v>0.06472532963665445</c:v>
              </c:pt>
              <c:pt idx="306">
                <c:v>0.06472532963665445</c:v>
              </c:pt>
              <c:pt idx="307">
                <c:v>0.06472532963665445</c:v>
              </c:pt>
              <c:pt idx="308">
                <c:v>0.06472532963665445</c:v>
              </c:pt>
              <c:pt idx="309">
                <c:v>0.06472532963665445</c:v>
              </c:pt>
              <c:pt idx="310">
                <c:v>0.06472532963665445</c:v>
              </c:pt>
              <c:pt idx="311">
                <c:v>0.0647253296366551</c:v>
              </c:pt>
              <c:pt idx="312">
                <c:v>0.0647253296366551</c:v>
              </c:pt>
              <c:pt idx="313">
                <c:v>0.0647253296366551</c:v>
              </c:pt>
              <c:pt idx="314">
                <c:v>0.0647253296366551</c:v>
              </c:pt>
              <c:pt idx="315">
                <c:v>0.0647253296366551</c:v>
              </c:pt>
              <c:pt idx="316">
                <c:v>0.0647253296366551</c:v>
              </c:pt>
              <c:pt idx="317">
                <c:v>0.0647253296366551</c:v>
              </c:pt>
              <c:pt idx="318">
                <c:v>0.0647253296366551</c:v>
              </c:pt>
              <c:pt idx="319">
                <c:v>0.0647253296366551</c:v>
              </c:pt>
              <c:pt idx="320">
                <c:v>0.0647253296366551</c:v>
              </c:pt>
              <c:pt idx="321">
                <c:v>0.06472532963665519</c:v>
              </c:pt>
              <c:pt idx="322">
                <c:v>0.06472532963665519</c:v>
              </c:pt>
              <c:pt idx="323">
                <c:v>0.06472532963665519</c:v>
              </c:pt>
              <c:pt idx="324">
                <c:v>0.06472532963665519</c:v>
              </c:pt>
              <c:pt idx="325">
                <c:v>0.06472532963665519</c:v>
              </c:pt>
              <c:pt idx="326">
                <c:v>0.06472532963665519</c:v>
              </c:pt>
              <c:pt idx="327">
                <c:v>0.06472532963665519</c:v>
              </c:pt>
              <c:pt idx="328">
                <c:v>0.06472532963665519</c:v>
              </c:pt>
              <c:pt idx="329">
                <c:v>0.06472532963665519</c:v>
              </c:pt>
              <c:pt idx="330">
                <c:v>0.06472532963665519</c:v>
              </c:pt>
              <c:pt idx="331">
                <c:v>0.06472532963665519</c:v>
              </c:pt>
              <c:pt idx="332">
                <c:v>0.06472532963665585</c:v>
              </c:pt>
              <c:pt idx="333">
                <c:v>0.06472532963665585</c:v>
              </c:pt>
              <c:pt idx="334">
                <c:v>0.06472532963665585</c:v>
              </c:pt>
              <c:pt idx="335">
                <c:v>0.06472532963665585</c:v>
              </c:pt>
              <c:pt idx="336">
                <c:v>0.06472532963665585</c:v>
              </c:pt>
              <c:pt idx="337">
                <c:v>0.06472532963665585</c:v>
              </c:pt>
              <c:pt idx="338">
                <c:v>0.06472532963665585</c:v>
              </c:pt>
              <c:pt idx="339">
                <c:v>0.06472532963665585</c:v>
              </c:pt>
              <c:pt idx="340">
                <c:v>0.06472532963665585</c:v>
              </c:pt>
              <c:pt idx="341">
                <c:v>0.06472532963665585</c:v>
              </c:pt>
              <c:pt idx="342">
                <c:v>0.06472532963665585</c:v>
              </c:pt>
              <c:pt idx="343">
                <c:v>0.06472532963665585</c:v>
              </c:pt>
              <c:pt idx="344">
                <c:v>0.06472532963665585</c:v>
              </c:pt>
              <c:pt idx="345">
                <c:v>0.06472532963665585</c:v>
              </c:pt>
              <c:pt idx="346">
                <c:v>0.06472532963665585</c:v>
              </c:pt>
              <c:pt idx="347">
                <c:v>0.06472532963665585</c:v>
              </c:pt>
              <c:pt idx="348">
                <c:v>0.06472532963665585</c:v>
              </c:pt>
              <c:pt idx="349">
                <c:v>0.06472532963665585</c:v>
              </c:pt>
              <c:pt idx="350">
                <c:v>0.06472532963665585</c:v>
              </c:pt>
              <c:pt idx="351">
                <c:v>0.06472532963665593</c:v>
              </c:pt>
              <c:pt idx="352">
                <c:v>0.06472532963665593</c:v>
              </c:pt>
              <c:pt idx="353">
                <c:v>0.06472532963665593</c:v>
              </c:pt>
              <c:pt idx="354">
                <c:v>0.06472532963665593</c:v>
              </c:pt>
              <c:pt idx="355">
                <c:v>0.06472532963665593</c:v>
              </c:pt>
              <c:pt idx="356">
                <c:v>0.06472532963665593</c:v>
              </c:pt>
              <c:pt idx="357">
                <c:v>0.0647253296366561</c:v>
              </c:pt>
              <c:pt idx="358">
                <c:v>0.0647253296366561</c:v>
              </c:pt>
              <c:pt idx="359">
                <c:v>0.0647253296366561</c:v>
              </c:pt>
              <c:pt idx="360">
                <c:v>0.0647253296366561</c:v>
              </c:pt>
              <c:pt idx="361">
                <c:v>0.0647253296366561</c:v>
              </c:pt>
              <c:pt idx="362">
                <c:v>0.0647253296366561</c:v>
              </c:pt>
              <c:pt idx="363">
                <c:v>0.0647253296366561</c:v>
              </c:pt>
              <c:pt idx="364">
                <c:v>0.0647253296366561</c:v>
              </c:pt>
              <c:pt idx="365">
                <c:v>0.0647253296366561</c:v>
              </c:pt>
              <c:pt idx="366">
                <c:v>0.0647253296366561</c:v>
              </c:pt>
              <c:pt idx="367">
                <c:v>0.0647253296366561</c:v>
              </c:pt>
              <c:pt idx="368">
                <c:v>0.0647253296366561</c:v>
              </c:pt>
              <c:pt idx="369">
                <c:v>0.0647253296366561</c:v>
              </c:pt>
              <c:pt idx="370">
                <c:v>0.0647253296366561</c:v>
              </c:pt>
              <c:pt idx="371">
                <c:v>0.0647253296366561</c:v>
              </c:pt>
              <c:pt idx="372">
                <c:v>0.0647253296366561</c:v>
              </c:pt>
              <c:pt idx="373">
                <c:v>0.0647253296366561</c:v>
              </c:pt>
              <c:pt idx="374">
                <c:v>0.0647253296366561</c:v>
              </c:pt>
              <c:pt idx="375">
                <c:v>0.0647253296366561</c:v>
              </c:pt>
              <c:pt idx="376">
                <c:v>0.0647253296366561</c:v>
              </c:pt>
              <c:pt idx="377">
                <c:v>0.0647253296366561</c:v>
              </c:pt>
              <c:pt idx="378">
                <c:v>0.0647253296366561</c:v>
              </c:pt>
              <c:pt idx="379">
                <c:v>0.0647253296366561</c:v>
              </c:pt>
              <c:pt idx="380">
                <c:v>0.0647253296366561</c:v>
              </c:pt>
              <c:pt idx="381">
                <c:v>0.0647253296366561</c:v>
              </c:pt>
              <c:pt idx="382">
                <c:v>0.0647253296366561</c:v>
              </c:pt>
              <c:pt idx="383">
                <c:v>0.0647253296366561</c:v>
              </c:pt>
              <c:pt idx="384">
                <c:v>0.0647253296366566</c:v>
              </c:pt>
              <c:pt idx="385">
                <c:v>0.06472532963665693</c:v>
              </c:pt>
              <c:pt idx="386">
                <c:v>0.06472532963665693</c:v>
              </c:pt>
              <c:pt idx="387">
                <c:v>0.06472532963665693</c:v>
              </c:pt>
              <c:pt idx="388">
                <c:v>0.06472532963665693</c:v>
              </c:pt>
              <c:pt idx="389">
                <c:v>0.06472532963665693</c:v>
              </c:pt>
              <c:pt idx="390">
                <c:v>0.06472532963665693</c:v>
              </c:pt>
              <c:pt idx="391">
                <c:v>0.06472532963665693</c:v>
              </c:pt>
              <c:pt idx="392">
                <c:v>0.06472532963665693</c:v>
              </c:pt>
              <c:pt idx="393">
                <c:v>0.06472532963665693</c:v>
              </c:pt>
              <c:pt idx="394">
                <c:v>0.06472532963665693</c:v>
              </c:pt>
              <c:pt idx="395">
                <c:v>0.06472532963665693</c:v>
              </c:pt>
              <c:pt idx="396">
                <c:v>0.06472532963665693</c:v>
              </c:pt>
              <c:pt idx="397">
                <c:v>0.06472532963665693</c:v>
              </c:pt>
              <c:pt idx="398">
                <c:v>0.06472532963665693</c:v>
              </c:pt>
              <c:pt idx="399">
                <c:v>0.06472532963665693</c:v>
              </c:pt>
              <c:pt idx="400">
                <c:v>0.06472532963665693</c:v>
              </c:pt>
              <c:pt idx="401">
                <c:v>0.06472532963665693</c:v>
              </c:pt>
              <c:pt idx="402">
                <c:v>0.06472532963665693</c:v>
              </c:pt>
              <c:pt idx="403">
                <c:v>0.06472532963665693</c:v>
              </c:pt>
              <c:pt idx="404">
                <c:v>0.06472532963665693</c:v>
              </c:pt>
              <c:pt idx="405">
                <c:v>0.06472532963665693</c:v>
              </c:pt>
              <c:pt idx="406">
                <c:v>0.06472532963665693</c:v>
              </c:pt>
              <c:pt idx="407">
                <c:v>0.06472532963665693</c:v>
              </c:pt>
              <c:pt idx="408">
                <c:v>0.06472532963665702</c:v>
              </c:pt>
              <c:pt idx="409">
                <c:v>0.06472532963665702</c:v>
              </c:pt>
              <c:pt idx="410">
                <c:v>0.06472616547209792</c:v>
              </c:pt>
              <c:pt idx="411">
                <c:v>0.07685679122682171</c:v>
              </c:pt>
              <c:pt idx="412">
                <c:v>0.08208452781741689</c:v>
              </c:pt>
              <c:pt idx="413">
                <c:v>0.08237998840018551</c:v>
              </c:pt>
              <c:pt idx="414">
                <c:v>0.08485017231162613</c:v>
              </c:pt>
              <c:pt idx="415">
                <c:v>0.0850832179323591</c:v>
              </c:pt>
              <c:pt idx="416">
                <c:v>0.08614153985472912</c:v>
              </c:pt>
              <c:pt idx="417">
                <c:v>0.08617011648675484</c:v>
              </c:pt>
              <c:pt idx="418">
                <c:v>0.086186147616281</c:v>
              </c:pt>
              <c:pt idx="419">
                <c:v>0.086186147616281</c:v>
              </c:pt>
              <c:pt idx="420">
                <c:v>0.086186147616281</c:v>
              </c:pt>
              <c:pt idx="421">
                <c:v>0.086186147616281</c:v>
              </c:pt>
              <c:pt idx="422">
                <c:v>0.086186147616281</c:v>
              </c:pt>
              <c:pt idx="423">
                <c:v>0.086186147616281</c:v>
              </c:pt>
              <c:pt idx="424">
                <c:v>0.086186147616281</c:v>
              </c:pt>
              <c:pt idx="425">
                <c:v>0.08618614761628109</c:v>
              </c:pt>
              <c:pt idx="426">
                <c:v>0.08618614761628109</c:v>
              </c:pt>
              <c:pt idx="427">
                <c:v>0.0861861476162814</c:v>
              </c:pt>
              <c:pt idx="428">
                <c:v>0.08618614761628147</c:v>
              </c:pt>
              <c:pt idx="429">
                <c:v>0.08618614761628147</c:v>
              </c:pt>
              <c:pt idx="430">
                <c:v>0.08618614761628147</c:v>
              </c:pt>
              <c:pt idx="431">
                <c:v>0.08618614761628147</c:v>
              </c:pt>
              <c:pt idx="432">
                <c:v>0.0861861476162818</c:v>
              </c:pt>
              <c:pt idx="433">
                <c:v>0.0861861476162818</c:v>
              </c:pt>
              <c:pt idx="434">
                <c:v>0.0861861476162818</c:v>
              </c:pt>
              <c:pt idx="435">
                <c:v>0.0861861476162818</c:v>
              </c:pt>
              <c:pt idx="436">
                <c:v>0.0861861476162818</c:v>
              </c:pt>
              <c:pt idx="437">
                <c:v>0.0861861476162818</c:v>
              </c:pt>
              <c:pt idx="438">
                <c:v>0.0861861476162818</c:v>
              </c:pt>
              <c:pt idx="439">
                <c:v>0.08618614761628188</c:v>
              </c:pt>
              <c:pt idx="440">
                <c:v>0.08618614761628188</c:v>
              </c:pt>
              <c:pt idx="441">
                <c:v>0.08618614761628195</c:v>
              </c:pt>
              <c:pt idx="442">
                <c:v>0.08618614761628195</c:v>
              </c:pt>
              <c:pt idx="443">
                <c:v>0.08618614761628203</c:v>
              </c:pt>
              <c:pt idx="444">
                <c:v>0.08618614761628203</c:v>
              </c:pt>
              <c:pt idx="445">
                <c:v>0.08618614761628211</c:v>
              </c:pt>
              <c:pt idx="446">
                <c:v>0.08618614761628218</c:v>
              </c:pt>
              <c:pt idx="447">
                <c:v>0.08618614761628218</c:v>
              </c:pt>
              <c:pt idx="448">
                <c:v>0.08618614761628218</c:v>
              </c:pt>
              <c:pt idx="449">
                <c:v>0.08618614761628228</c:v>
              </c:pt>
              <c:pt idx="450">
                <c:v>0.08618614761628243</c:v>
              </c:pt>
              <c:pt idx="451">
                <c:v>0.08618614761628243</c:v>
              </c:pt>
              <c:pt idx="452">
                <c:v>0.08618614761628243</c:v>
              </c:pt>
              <c:pt idx="453">
                <c:v>0.08618614761628243</c:v>
              </c:pt>
              <c:pt idx="454">
                <c:v>0.08618614761628243</c:v>
              </c:pt>
              <c:pt idx="455">
                <c:v>0.08618614761628243</c:v>
              </c:pt>
              <c:pt idx="456">
                <c:v>0.08618614761628243</c:v>
              </c:pt>
              <c:pt idx="457">
                <c:v>0.08618614761628243</c:v>
              </c:pt>
              <c:pt idx="458">
                <c:v>0.0861861476162825</c:v>
              </c:pt>
              <c:pt idx="459">
                <c:v>0.0861861476162825</c:v>
              </c:pt>
              <c:pt idx="460">
                <c:v>0.0861861476162825</c:v>
              </c:pt>
              <c:pt idx="461">
                <c:v>0.08618614761628259</c:v>
              </c:pt>
              <c:pt idx="462">
                <c:v>0.08618614761628259</c:v>
              </c:pt>
              <c:pt idx="463">
                <c:v>0.08618614761628259</c:v>
              </c:pt>
              <c:pt idx="464">
                <c:v>0.08618614761628259</c:v>
              </c:pt>
              <c:pt idx="465">
                <c:v>0.08618614761628259</c:v>
              </c:pt>
              <c:pt idx="466">
                <c:v>0.08618614761628267</c:v>
              </c:pt>
              <c:pt idx="467">
                <c:v>0.08618614761628267</c:v>
              </c:pt>
              <c:pt idx="468">
                <c:v>0.08618614761628267</c:v>
              </c:pt>
              <c:pt idx="469">
                <c:v>0.08618614761628267</c:v>
              </c:pt>
              <c:pt idx="470">
                <c:v>0.08618614761628267</c:v>
              </c:pt>
              <c:pt idx="471">
                <c:v>0.08618614761628274</c:v>
              </c:pt>
              <c:pt idx="472">
                <c:v>0.08618614761628283</c:v>
              </c:pt>
              <c:pt idx="473">
                <c:v>0.08618614761628283</c:v>
              </c:pt>
              <c:pt idx="474">
                <c:v>0.08618614761628283</c:v>
              </c:pt>
              <c:pt idx="475">
                <c:v>0.08618614761628283</c:v>
              </c:pt>
              <c:pt idx="476">
                <c:v>0.08618614761628283</c:v>
              </c:pt>
              <c:pt idx="477">
                <c:v>0.0861861476162829</c:v>
              </c:pt>
              <c:pt idx="478">
                <c:v>0.0861861476162829</c:v>
              </c:pt>
              <c:pt idx="479">
                <c:v>0.0861861476162829</c:v>
              </c:pt>
              <c:pt idx="480">
                <c:v>0.0861861476162829</c:v>
              </c:pt>
              <c:pt idx="481">
                <c:v>0.0861861476162829</c:v>
              </c:pt>
              <c:pt idx="482">
                <c:v>0.0861861476162829</c:v>
              </c:pt>
              <c:pt idx="483">
                <c:v>0.0861861476162829</c:v>
              </c:pt>
              <c:pt idx="484">
                <c:v>0.0861861476162829</c:v>
              </c:pt>
              <c:pt idx="485">
                <c:v>0.0861861476162829</c:v>
              </c:pt>
              <c:pt idx="486">
                <c:v>0.0861861476162829</c:v>
              </c:pt>
              <c:pt idx="487">
                <c:v>0.0861861476162829</c:v>
              </c:pt>
              <c:pt idx="488">
                <c:v>0.08618614761628299</c:v>
              </c:pt>
              <c:pt idx="489">
                <c:v>0.08618614761628299</c:v>
              </c:pt>
              <c:pt idx="490">
                <c:v>0.08618614761628299</c:v>
              </c:pt>
              <c:pt idx="491">
                <c:v>0.08618614761628299</c:v>
              </c:pt>
              <c:pt idx="492">
                <c:v>0.08618614761628299</c:v>
              </c:pt>
              <c:pt idx="493">
                <c:v>0.08618614761628299</c:v>
              </c:pt>
              <c:pt idx="494">
                <c:v>0.08618614761628299</c:v>
              </c:pt>
              <c:pt idx="495">
                <c:v>0.08618614761628299</c:v>
              </c:pt>
              <c:pt idx="496">
                <c:v>0.08618614761628299</c:v>
              </c:pt>
              <c:pt idx="497">
                <c:v>0.08618614761628306</c:v>
              </c:pt>
              <c:pt idx="498">
                <c:v>0.08618614761628314</c:v>
              </c:pt>
              <c:pt idx="499">
                <c:v>0.08618614761628321</c:v>
              </c:pt>
              <c:pt idx="500">
                <c:v>0.08618614761628321</c:v>
              </c:pt>
              <c:pt idx="501">
                <c:v>0.08618614761628321</c:v>
              </c:pt>
              <c:pt idx="502">
                <c:v>0.08618614761628321</c:v>
              </c:pt>
              <c:pt idx="503">
                <c:v>0.08618614761628321</c:v>
              </c:pt>
              <c:pt idx="504">
                <c:v>0.08618614761628321</c:v>
              </c:pt>
              <c:pt idx="505">
                <c:v>0.08618614761628321</c:v>
              </c:pt>
              <c:pt idx="506">
                <c:v>0.08618614761628329</c:v>
              </c:pt>
              <c:pt idx="507">
                <c:v>0.08618614761628329</c:v>
              </c:pt>
              <c:pt idx="508">
                <c:v>0.08618614761628329</c:v>
              </c:pt>
              <c:pt idx="509">
                <c:v>0.08618614761628329</c:v>
              </c:pt>
              <c:pt idx="510">
                <c:v>0.08618614761628329</c:v>
              </c:pt>
              <c:pt idx="511">
                <c:v>0.08618614761628329</c:v>
              </c:pt>
              <c:pt idx="512">
                <c:v>0.08618614761628329</c:v>
              </c:pt>
              <c:pt idx="513">
                <c:v>0.08618614761628329</c:v>
              </c:pt>
              <c:pt idx="514">
                <c:v>0.08618614761628329</c:v>
              </c:pt>
              <c:pt idx="515">
                <c:v>0.08618614761628338</c:v>
              </c:pt>
              <c:pt idx="516">
                <c:v>0.08618614761628338</c:v>
              </c:pt>
              <c:pt idx="517">
                <c:v>0.08618614761628338</c:v>
              </c:pt>
              <c:pt idx="518">
                <c:v>0.08618614761628338</c:v>
              </c:pt>
              <c:pt idx="519">
                <c:v>0.08618614761628338</c:v>
              </c:pt>
              <c:pt idx="520">
                <c:v>0.08618614761628338</c:v>
              </c:pt>
              <c:pt idx="521">
                <c:v>0.08618614761628338</c:v>
              </c:pt>
              <c:pt idx="522">
                <c:v>0.08618614761628338</c:v>
              </c:pt>
              <c:pt idx="523">
                <c:v>0.08618614761628338</c:v>
              </c:pt>
              <c:pt idx="524">
                <c:v>0.08618614761628354</c:v>
              </c:pt>
              <c:pt idx="525">
                <c:v>0.08618614761628354</c:v>
              </c:pt>
              <c:pt idx="526">
                <c:v>0.08618614761628361</c:v>
              </c:pt>
              <c:pt idx="527">
                <c:v>0.08618614761628361</c:v>
              </c:pt>
              <c:pt idx="528">
                <c:v>0.08618614761628361</c:v>
              </c:pt>
              <c:pt idx="529">
                <c:v>0.08618614761628361</c:v>
              </c:pt>
              <c:pt idx="530">
                <c:v>0.08618614761628361</c:v>
              </c:pt>
              <c:pt idx="531">
                <c:v>0.08618614761628361</c:v>
              </c:pt>
              <c:pt idx="532">
                <c:v>0.08618614761628361</c:v>
              </c:pt>
              <c:pt idx="533">
                <c:v>0.0861861476162837</c:v>
              </c:pt>
              <c:pt idx="534">
                <c:v>0.0861861476162837</c:v>
              </c:pt>
              <c:pt idx="535">
                <c:v>0.0861861476162837</c:v>
              </c:pt>
              <c:pt idx="536">
                <c:v>0.0861861476162837</c:v>
              </c:pt>
              <c:pt idx="537">
                <c:v>0.0861861476162837</c:v>
              </c:pt>
              <c:pt idx="538">
                <c:v>0.0861861476162837</c:v>
              </c:pt>
              <c:pt idx="539">
                <c:v>0.0861861476162837</c:v>
              </c:pt>
              <c:pt idx="540">
                <c:v>0.0861861476162837</c:v>
              </c:pt>
              <c:pt idx="541">
                <c:v>0.0861861476162837</c:v>
              </c:pt>
              <c:pt idx="542">
                <c:v>0.0861861476162837</c:v>
              </c:pt>
              <c:pt idx="543">
                <c:v>0.08618614761628385</c:v>
              </c:pt>
              <c:pt idx="544">
                <c:v>0.08618614761628385</c:v>
              </c:pt>
              <c:pt idx="545">
                <c:v>0.08618614761628385</c:v>
              </c:pt>
              <c:pt idx="546">
                <c:v>0.08618614761628385</c:v>
              </c:pt>
              <c:pt idx="547">
                <c:v>0.08618614761628385</c:v>
              </c:pt>
              <c:pt idx="548">
                <c:v>0.08618614761628393</c:v>
              </c:pt>
              <c:pt idx="549">
                <c:v>0.08618614761628393</c:v>
              </c:pt>
              <c:pt idx="550">
                <c:v>0.08618614761628393</c:v>
              </c:pt>
              <c:pt idx="551">
                <c:v>0.08618614761628393</c:v>
              </c:pt>
              <c:pt idx="552">
                <c:v>0.08618614761628393</c:v>
              </c:pt>
              <c:pt idx="553">
                <c:v>0.08618614761628393</c:v>
              </c:pt>
              <c:pt idx="554">
                <c:v>0.08618614761628401</c:v>
              </c:pt>
              <c:pt idx="555">
                <c:v>0.08618614761628401</c:v>
              </c:pt>
              <c:pt idx="556">
                <c:v>0.08618614761628417</c:v>
              </c:pt>
              <c:pt idx="557">
                <c:v>0.08618614761628417</c:v>
              </c:pt>
              <c:pt idx="558">
                <c:v>0.08618614761628417</c:v>
              </c:pt>
              <c:pt idx="559">
                <c:v>0.08618614761628417</c:v>
              </c:pt>
              <c:pt idx="560">
                <c:v>0.08618614761628417</c:v>
              </c:pt>
              <c:pt idx="561">
                <c:v>0.08618614761628417</c:v>
              </c:pt>
              <c:pt idx="562">
                <c:v>0.08618614761628417</c:v>
              </c:pt>
              <c:pt idx="563">
                <c:v>0.08618614761628417</c:v>
              </c:pt>
              <c:pt idx="564">
                <c:v>0.08618614761628417</c:v>
              </c:pt>
              <c:pt idx="565">
                <c:v>0.08618614761628417</c:v>
              </c:pt>
              <c:pt idx="566">
                <c:v>0.08618614761628417</c:v>
              </c:pt>
              <c:pt idx="567">
                <c:v>0.08618614761628417</c:v>
              </c:pt>
              <c:pt idx="568">
                <c:v>0.0861861476162844</c:v>
              </c:pt>
              <c:pt idx="569">
                <c:v>0.0861861476162844</c:v>
              </c:pt>
              <c:pt idx="570">
                <c:v>0.08618614761628449</c:v>
              </c:pt>
              <c:pt idx="571">
                <c:v>0.08618614761628449</c:v>
              </c:pt>
              <c:pt idx="572">
                <c:v>0.08618614761628457</c:v>
              </c:pt>
              <c:pt idx="573">
                <c:v>0.08618614761628457</c:v>
              </c:pt>
              <c:pt idx="574">
                <c:v>0.08618614761628464</c:v>
              </c:pt>
              <c:pt idx="575">
                <c:v>0.08618614761628472</c:v>
              </c:pt>
              <c:pt idx="576">
                <c:v>0.08618614761628472</c:v>
              </c:pt>
              <c:pt idx="577">
                <c:v>0.08618614761628472</c:v>
              </c:pt>
              <c:pt idx="578">
                <c:v>0.0861861476162848</c:v>
              </c:pt>
              <c:pt idx="579">
                <c:v>0.0861861476162848</c:v>
              </c:pt>
              <c:pt idx="580">
                <c:v>0.0861861476162848</c:v>
              </c:pt>
              <c:pt idx="581">
                <c:v>0.0861861476162848</c:v>
              </c:pt>
              <c:pt idx="582">
                <c:v>0.0861861476162848</c:v>
              </c:pt>
              <c:pt idx="583">
                <c:v>0.0861861476162848</c:v>
              </c:pt>
              <c:pt idx="584">
                <c:v>0.0861861476162848</c:v>
              </c:pt>
              <c:pt idx="585">
                <c:v>0.0861861476162848</c:v>
              </c:pt>
              <c:pt idx="586">
                <c:v>0.0861861476162848</c:v>
              </c:pt>
              <c:pt idx="587">
                <c:v>0.08618614761628487</c:v>
              </c:pt>
              <c:pt idx="588">
                <c:v>0.08618614761628487</c:v>
              </c:pt>
              <c:pt idx="589">
                <c:v>0.08618614761628487</c:v>
              </c:pt>
              <c:pt idx="590">
                <c:v>0.08618614761628487</c:v>
              </c:pt>
              <c:pt idx="591">
                <c:v>0.08618614761628512</c:v>
              </c:pt>
              <c:pt idx="592">
                <c:v>0.0861861476162852</c:v>
              </c:pt>
              <c:pt idx="593">
                <c:v>0.0861861476162852</c:v>
              </c:pt>
              <c:pt idx="594">
                <c:v>0.08618614761628558</c:v>
              </c:pt>
              <c:pt idx="595">
                <c:v>0.08618614761628558</c:v>
              </c:pt>
              <c:pt idx="596">
                <c:v>0.08618614761628558</c:v>
              </c:pt>
              <c:pt idx="597">
                <c:v>0.08618614761628558</c:v>
              </c:pt>
              <c:pt idx="598">
                <c:v>0.08618614761628558</c:v>
              </c:pt>
              <c:pt idx="599">
                <c:v>0.08624425427231873</c:v>
              </c:pt>
            </c:numLit>
          </c:xVal>
          <c:yVal>
            <c:numLit>
              <c:formatCode>General</c:formatCode>
              <c:ptCount val="600"/>
              <c:pt idx="0">
                <c:v>0.16666666666666666</c:v>
              </c:pt>
              <c:pt idx="1">
                <c:v>0.3333333333333333</c:v>
              </c:pt>
              <c:pt idx="2">
                <c:v>0.5</c:v>
              </c:pt>
              <c:pt idx="3">
                <c:v>0.6666666666666666</c:v>
              </c:pt>
              <c:pt idx="4">
                <c:v>0.8333333333333334</c:v>
              </c:pt>
              <c:pt idx="5">
                <c:v>1</c:v>
              </c:pt>
              <c:pt idx="6">
                <c:v>1.1666666666666667</c:v>
              </c:pt>
              <c:pt idx="7">
                <c:v>1.3333333333333333</c:v>
              </c:pt>
              <c:pt idx="8">
                <c:v>1.5</c:v>
              </c:pt>
              <c:pt idx="9">
                <c:v>1.6666666666666667</c:v>
              </c:pt>
              <c:pt idx="10">
                <c:v>1.8333333333333333</c:v>
              </c:pt>
              <c:pt idx="11">
                <c:v>2</c:v>
              </c:pt>
              <c:pt idx="12">
                <c:v>2.1666666666666665</c:v>
              </c:pt>
              <c:pt idx="13">
                <c:v>2.3333333333333335</c:v>
              </c:pt>
              <c:pt idx="14">
                <c:v>2.5</c:v>
              </c:pt>
              <c:pt idx="15">
                <c:v>2.6666666666666665</c:v>
              </c:pt>
              <c:pt idx="16">
                <c:v>2.8333333333333335</c:v>
              </c:pt>
              <c:pt idx="17">
                <c:v>3</c:v>
              </c:pt>
              <c:pt idx="18">
                <c:v>3.1666666666666665</c:v>
              </c:pt>
              <c:pt idx="19">
                <c:v>3.3333333333333335</c:v>
              </c:pt>
              <c:pt idx="20">
                <c:v>3.5</c:v>
              </c:pt>
              <c:pt idx="21">
                <c:v>3.6666666666666665</c:v>
              </c:pt>
              <c:pt idx="22">
                <c:v>3.8333333333333335</c:v>
              </c:pt>
              <c:pt idx="23">
                <c:v>4</c:v>
              </c:pt>
              <c:pt idx="24">
                <c:v>4.166666666666667</c:v>
              </c:pt>
              <c:pt idx="25">
                <c:v>4.333333333333333</c:v>
              </c:pt>
              <c:pt idx="26">
                <c:v>4.5</c:v>
              </c:pt>
              <c:pt idx="27">
                <c:v>4.666666666666667</c:v>
              </c:pt>
              <c:pt idx="28">
                <c:v>4.833333333333333</c:v>
              </c:pt>
              <c:pt idx="29">
                <c:v>5</c:v>
              </c:pt>
              <c:pt idx="30">
                <c:v>5.166666666666667</c:v>
              </c:pt>
              <c:pt idx="31">
                <c:v>5.333333333333333</c:v>
              </c:pt>
              <c:pt idx="32">
                <c:v>5.5</c:v>
              </c:pt>
              <c:pt idx="33">
                <c:v>5.666666666666667</c:v>
              </c:pt>
              <c:pt idx="34">
                <c:v>5.833333333333333</c:v>
              </c:pt>
              <c:pt idx="35">
                <c:v>6</c:v>
              </c:pt>
              <c:pt idx="36">
                <c:v>6.166666666666667</c:v>
              </c:pt>
              <c:pt idx="37">
                <c:v>6.333333333333333</c:v>
              </c:pt>
              <c:pt idx="38">
                <c:v>6.5</c:v>
              </c:pt>
              <c:pt idx="39">
                <c:v>6.666666666666667</c:v>
              </c:pt>
              <c:pt idx="40">
                <c:v>6.833333333333333</c:v>
              </c:pt>
              <c:pt idx="41">
                <c:v>7</c:v>
              </c:pt>
              <c:pt idx="42">
                <c:v>7.166666666666667</c:v>
              </c:pt>
              <c:pt idx="43">
                <c:v>7.333333333333333</c:v>
              </c:pt>
              <c:pt idx="44">
                <c:v>7.5</c:v>
              </c:pt>
              <c:pt idx="45">
                <c:v>7.666666666666667</c:v>
              </c:pt>
              <c:pt idx="46">
                <c:v>7.833333333333333</c:v>
              </c:pt>
              <c:pt idx="47">
                <c:v>8</c:v>
              </c:pt>
              <c:pt idx="48">
                <c:v>8.166666666666666</c:v>
              </c:pt>
              <c:pt idx="49">
                <c:v>8.333333333333334</c:v>
              </c:pt>
              <c:pt idx="50">
                <c:v>8.5</c:v>
              </c:pt>
              <c:pt idx="51">
                <c:v>8.666666666666666</c:v>
              </c:pt>
              <c:pt idx="52">
                <c:v>8.833333333333334</c:v>
              </c:pt>
              <c:pt idx="53">
                <c:v>9</c:v>
              </c:pt>
              <c:pt idx="54">
                <c:v>9.166666666666666</c:v>
              </c:pt>
              <c:pt idx="55">
                <c:v>9.333333333333334</c:v>
              </c:pt>
              <c:pt idx="56">
                <c:v>9.5</c:v>
              </c:pt>
              <c:pt idx="57">
                <c:v>9.666666666666666</c:v>
              </c:pt>
              <c:pt idx="58">
                <c:v>9.833333333333334</c:v>
              </c:pt>
              <c:pt idx="59">
                <c:v>10</c:v>
              </c:pt>
              <c:pt idx="60">
                <c:v>10.166666666666666</c:v>
              </c:pt>
              <c:pt idx="61">
                <c:v>10.333333333333334</c:v>
              </c:pt>
              <c:pt idx="62">
                <c:v>10.5</c:v>
              </c:pt>
              <c:pt idx="63">
                <c:v>10.666666666666666</c:v>
              </c:pt>
              <c:pt idx="64">
                <c:v>10.833333333333334</c:v>
              </c:pt>
              <c:pt idx="65">
                <c:v>11</c:v>
              </c:pt>
              <c:pt idx="66">
                <c:v>11.166666666666666</c:v>
              </c:pt>
              <c:pt idx="67">
                <c:v>11.333333333333334</c:v>
              </c:pt>
              <c:pt idx="68">
                <c:v>11.5</c:v>
              </c:pt>
              <c:pt idx="69">
                <c:v>11.666666666666666</c:v>
              </c:pt>
              <c:pt idx="70">
                <c:v>11.833333333333334</c:v>
              </c:pt>
              <c:pt idx="71">
                <c:v>12</c:v>
              </c:pt>
              <c:pt idx="72">
                <c:v>12.166666666666666</c:v>
              </c:pt>
              <c:pt idx="73">
                <c:v>12.333333333333334</c:v>
              </c:pt>
              <c:pt idx="74">
                <c:v>12.5</c:v>
              </c:pt>
              <c:pt idx="75">
                <c:v>12.666666666666666</c:v>
              </c:pt>
              <c:pt idx="76">
                <c:v>12.833333333333334</c:v>
              </c:pt>
              <c:pt idx="77">
                <c:v>13</c:v>
              </c:pt>
              <c:pt idx="78">
                <c:v>13.166666666666666</c:v>
              </c:pt>
              <c:pt idx="79">
                <c:v>13.333333333333334</c:v>
              </c:pt>
              <c:pt idx="80">
                <c:v>13.5</c:v>
              </c:pt>
              <c:pt idx="81">
                <c:v>13.666666666666666</c:v>
              </c:pt>
              <c:pt idx="82">
                <c:v>13.833333333333334</c:v>
              </c:pt>
              <c:pt idx="83">
                <c:v>14</c:v>
              </c:pt>
              <c:pt idx="84">
                <c:v>14.166666666666666</c:v>
              </c:pt>
              <c:pt idx="85">
                <c:v>14.333333333333334</c:v>
              </c:pt>
              <c:pt idx="86">
                <c:v>14.5</c:v>
              </c:pt>
              <c:pt idx="87">
                <c:v>14.666666666666666</c:v>
              </c:pt>
              <c:pt idx="88">
                <c:v>14.833333333333334</c:v>
              </c:pt>
              <c:pt idx="89">
                <c:v>15</c:v>
              </c:pt>
              <c:pt idx="90">
                <c:v>15.166666666666666</c:v>
              </c:pt>
              <c:pt idx="91">
                <c:v>15.333333333333334</c:v>
              </c:pt>
              <c:pt idx="92">
                <c:v>15.5</c:v>
              </c:pt>
              <c:pt idx="93">
                <c:v>15.666666666666666</c:v>
              </c:pt>
              <c:pt idx="94">
                <c:v>15.833333333333334</c:v>
              </c:pt>
              <c:pt idx="95">
                <c:v>16</c:v>
              </c:pt>
              <c:pt idx="96">
                <c:v>16.166666666666668</c:v>
              </c:pt>
              <c:pt idx="97">
                <c:v>16.333333333333332</c:v>
              </c:pt>
              <c:pt idx="98">
                <c:v>16.5</c:v>
              </c:pt>
              <c:pt idx="99">
                <c:v>16.666666666666668</c:v>
              </c:pt>
              <c:pt idx="100">
                <c:v>16.833333333333332</c:v>
              </c:pt>
              <c:pt idx="101">
                <c:v>17</c:v>
              </c:pt>
              <c:pt idx="102">
                <c:v>17.166666666666668</c:v>
              </c:pt>
              <c:pt idx="103">
                <c:v>17.333333333333332</c:v>
              </c:pt>
              <c:pt idx="104">
                <c:v>17.5</c:v>
              </c:pt>
              <c:pt idx="105">
                <c:v>17.666666666666668</c:v>
              </c:pt>
              <c:pt idx="106">
                <c:v>17.833333333333332</c:v>
              </c:pt>
              <c:pt idx="107">
                <c:v>18</c:v>
              </c:pt>
              <c:pt idx="108">
                <c:v>18.166666666666668</c:v>
              </c:pt>
              <c:pt idx="109">
                <c:v>18.333333333333332</c:v>
              </c:pt>
              <c:pt idx="110">
                <c:v>18.5</c:v>
              </c:pt>
              <c:pt idx="111">
                <c:v>18.666666666666668</c:v>
              </c:pt>
              <c:pt idx="112">
                <c:v>18.833333333333332</c:v>
              </c:pt>
              <c:pt idx="113">
                <c:v>19</c:v>
              </c:pt>
              <c:pt idx="114">
                <c:v>19.166666666666668</c:v>
              </c:pt>
              <c:pt idx="115">
                <c:v>19.333333333333332</c:v>
              </c:pt>
              <c:pt idx="116">
                <c:v>19.5</c:v>
              </c:pt>
              <c:pt idx="117">
                <c:v>19.666666666666668</c:v>
              </c:pt>
              <c:pt idx="118">
                <c:v>19.833333333333332</c:v>
              </c:pt>
              <c:pt idx="119">
                <c:v>20</c:v>
              </c:pt>
              <c:pt idx="120">
                <c:v>20.166666666666668</c:v>
              </c:pt>
              <c:pt idx="121">
                <c:v>20.333333333333332</c:v>
              </c:pt>
              <c:pt idx="122">
                <c:v>20.5</c:v>
              </c:pt>
              <c:pt idx="123">
                <c:v>20.666666666666668</c:v>
              </c:pt>
              <c:pt idx="124">
                <c:v>20.833333333333332</c:v>
              </c:pt>
              <c:pt idx="125">
                <c:v>21</c:v>
              </c:pt>
              <c:pt idx="126">
                <c:v>21.166666666666668</c:v>
              </c:pt>
              <c:pt idx="127">
                <c:v>21.333333333333332</c:v>
              </c:pt>
              <c:pt idx="128">
                <c:v>21.5</c:v>
              </c:pt>
              <c:pt idx="129">
                <c:v>21.666666666666668</c:v>
              </c:pt>
              <c:pt idx="130">
                <c:v>21.833333333333332</c:v>
              </c:pt>
              <c:pt idx="131">
                <c:v>22</c:v>
              </c:pt>
              <c:pt idx="132">
                <c:v>22.166666666666668</c:v>
              </c:pt>
              <c:pt idx="133">
                <c:v>22.333333333333332</c:v>
              </c:pt>
              <c:pt idx="134">
                <c:v>22.5</c:v>
              </c:pt>
              <c:pt idx="135">
                <c:v>22.666666666666668</c:v>
              </c:pt>
              <c:pt idx="136">
                <c:v>22.833333333333332</c:v>
              </c:pt>
              <c:pt idx="137">
                <c:v>23</c:v>
              </c:pt>
              <c:pt idx="138">
                <c:v>23.166666666666668</c:v>
              </c:pt>
              <c:pt idx="139">
                <c:v>23.333333333333332</c:v>
              </c:pt>
              <c:pt idx="140">
                <c:v>23.5</c:v>
              </c:pt>
              <c:pt idx="141">
                <c:v>23.666666666666668</c:v>
              </c:pt>
              <c:pt idx="142">
                <c:v>23.833333333333332</c:v>
              </c:pt>
              <c:pt idx="143">
                <c:v>24</c:v>
              </c:pt>
              <c:pt idx="144">
                <c:v>24.166666666666668</c:v>
              </c:pt>
              <c:pt idx="145">
                <c:v>24.333333333333332</c:v>
              </c:pt>
              <c:pt idx="146">
                <c:v>24.5</c:v>
              </c:pt>
              <c:pt idx="147">
                <c:v>24.666666666666668</c:v>
              </c:pt>
              <c:pt idx="148">
                <c:v>24.833333333333332</c:v>
              </c:pt>
              <c:pt idx="149">
                <c:v>25</c:v>
              </c:pt>
              <c:pt idx="150">
                <c:v>25.166666666666668</c:v>
              </c:pt>
              <c:pt idx="151">
                <c:v>25.333333333333332</c:v>
              </c:pt>
              <c:pt idx="152">
                <c:v>25.5</c:v>
              </c:pt>
              <c:pt idx="153">
                <c:v>25.666666666666668</c:v>
              </c:pt>
              <c:pt idx="154">
                <c:v>25.833333333333332</c:v>
              </c:pt>
              <c:pt idx="155">
                <c:v>26</c:v>
              </c:pt>
              <c:pt idx="156">
                <c:v>26.166666666666668</c:v>
              </c:pt>
              <c:pt idx="157">
                <c:v>26.333333333333332</c:v>
              </c:pt>
              <c:pt idx="158">
                <c:v>26.5</c:v>
              </c:pt>
              <c:pt idx="159">
                <c:v>26.666666666666668</c:v>
              </c:pt>
              <c:pt idx="160">
                <c:v>26.833333333333332</c:v>
              </c:pt>
              <c:pt idx="161">
                <c:v>27</c:v>
              </c:pt>
              <c:pt idx="162">
                <c:v>27.166666666666668</c:v>
              </c:pt>
              <c:pt idx="163">
                <c:v>27.333333333333332</c:v>
              </c:pt>
              <c:pt idx="164">
                <c:v>27.5</c:v>
              </c:pt>
              <c:pt idx="165">
                <c:v>27.666666666666668</c:v>
              </c:pt>
              <c:pt idx="166">
                <c:v>27.833333333333332</c:v>
              </c:pt>
              <c:pt idx="167">
                <c:v>28</c:v>
              </c:pt>
              <c:pt idx="168">
                <c:v>28.166666666666668</c:v>
              </c:pt>
              <c:pt idx="169">
                <c:v>28.333333333333332</c:v>
              </c:pt>
              <c:pt idx="170">
                <c:v>28.5</c:v>
              </c:pt>
              <c:pt idx="171">
                <c:v>28.666666666666668</c:v>
              </c:pt>
              <c:pt idx="172">
                <c:v>28.833333333333332</c:v>
              </c:pt>
              <c:pt idx="173">
                <c:v>29</c:v>
              </c:pt>
              <c:pt idx="174">
                <c:v>29.166666666666668</c:v>
              </c:pt>
              <c:pt idx="175">
                <c:v>29.333333333333332</c:v>
              </c:pt>
              <c:pt idx="176">
                <c:v>29.5</c:v>
              </c:pt>
              <c:pt idx="177">
                <c:v>29.666666666666668</c:v>
              </c:pt>
              <c:pt idx="178">
                <c:v>29.833333333333332</c:v>
              </c:pt>
              <c:pt idx="179">
                <c:v>30</c:v>
              </c:pt>
              <c:pt idx="180">
                <c:v>30.166666666666668</c:v>
              </c:pt>
              <c:pt idx="181">
                <c:v>30.333333333333332</c:v>
              </c:pt>
              <c:pt idx="182">
                <c:v>30.5</c:v>
              </c:pt>
              <c:pt idx="183">
                <c:v>30.666666666666668</c:v>
              </c:pt>
              <c:pt idx="184">
                <c:v>30.833333333333332</c:v>
              </c:pt>
              <c:pt idx="185">
                <c:v>31</c:v>
              </c:pt>
              <c:pt idx="186">
                <c:v>31.166666666666668</c:v>
              </c:pt>
              <c:pt idx="187">
                <c:v>31.333333333333332</c:v>
              </c:pt>
              <c:pt idx="188">
                <c:v>31.5</c:v>
              </c:pt>
              <c:pt idx="189">
                <c:v>31.666666666666668</c:v>
              </c:pt>
              <c:pt idx="190">
                <c:v>31.833333333333332</c:v>
              </c:pt>
              <c:pt idx="191">
                <c:v>32</c:v>
              </c:pt>
              <c:pt idx="192">
                <c:v>32.166666666666664</c:v>
              </c:pt>
              <c:pt idx="193">
                <c:v>32.333333333333336</c:v>
              </c:pt>
              <c:pt idx="194">
                <c:v>32.5</c:v>
              </c:pt>
              <c:pt idx="195">
                <c:v>32.666666666666664</c:v>
              </c:pt>
              <c:pt idx="196">
                <c:v>32.833333333333336</c:v>
              </c:pt>
              <c:pt idx="197">
                <c:v>33</c:v>
              </c:pt>
              <c:pt idx="198">
                <c:v>33.166666666666664</c:v>
              </c:pt>
              <c:pt idx="199">
                <c:v>33.333333333333336</c:v>
              </c:pt>
              <c:pt idx="200">
                <c:v>33.5</c:v>
              </c:pt>
              <c:pt idx="201">
                <c:v>33.666666666666664</c:v>
              </c:pt>
              <c:pt idx="202">
                <c:v>33.833333333333336</c:v>
              </c:pt>
              <c:pt idx="203">
                <c:v>34</c:v>
              </c:pt>
              <c:pt idx="204">
                <c:v>34.166666666666664</c:v>
              </c:pt>
              <c:pt idx="205">
                <c:v>34.333333333333336</c:v>
              </c:pt>
              <c:pt idx="206">
                <c:v>34.5</c:v>
              </c:pt>
              <c:pt idx="207">
                <c:v>34.666666666666664</c:v>
              </c:pt>
              <c:pt idx="208">
                <c:v>34.833333333333336</c:v>
              </c:pt>
              <c:pt idx="209">
                <c:v>35</c:v>
              </c:pt>
              <c:pt idx="210">
                <c:v>35.166666666666664</c:v>
              </c:pt>
              <c:pt idx="211">
                <c:v>35.333333333333336</c:v>
              </c:pt>
              <c:pt idx="212">
                <c:v>35.5</c:v>
              </c:pt>
              <c:pt idx="213">
                <c:v>35.666666666666664</c:v>
              </c:pt>
              <c:pt idx="214">
                <c:v>35.833333333333336</c:v>
              </c:pt>
              <c:pt idx="215">
                <c:v>36</c:v>
              </c:pt>
              <c:pt idx="216">
                <c:v>36.166666666666664</c:v>
              </c:pt>
              <c:pt idx="217">
                <c:v>36.333333333333336</c:v>
              </c:pt>
              <c:pt idx="218">
                <c:v>36.5</c:v>
              </c:pt>
              <c:pt idx="219">
                <c:v>36.666666666666664</c:v>
              </c:pt>
              <c:pt idx="220">
                <c:v>36.833333333333336</c:v>
              </c:pt>
              <c:pt idx="221">
                <c:v>37</c:v>
              </c:pt>
              <c:pt idx="222">
                <c:v>37.166666666666664</c:v>
              </c:pt>
              <c:pt idx="223">
                <c:v>37.333333333333336</c:v>
              </c:pt>
              <c:pt idx="224">
                <c:v>37.5</c:v>
              </c:pt>
              <c:pt idx="225">
                <c:v>37.666666666666664</c:v>
              </c:pt>
              <c:pt idx="226">
                <c:v>37.833333333333336</c:v>
              </c:pt>
              <c:pt idx="227">
                <c:v>38</c:v>
              </c:pt>
              <c:pt idx="228">
                <c:v>38.166666666666664</c:v>
              </c:pt>
              <c:pt idx="229">
                <c:v>38.333333333333336</c:v>
              </c:pt>
              <c:pt idx="230">
                <c:v>38.5</c:v>
              </c:pt>
              <c:pt idx="231">
                <c:v>38.666666666666664</c:v>
              </c:pt>
              <c:pt idx="232">
                <c:v>38.833333333333336</c:v>
              </c:pt>
              <c:pt idx="233">
                <c:v>39</c:v>
              </c:pt>
              <c:pt idx="234">
                <c:v>39.166666666666664</c:v>
              </c:pt>
              <c:pt idx="235">
                <c:v>39.333333333333336</c:v>
              </c:pt>
              <c:pt idx="236">
                <c:v>39.5</c:v>
              </c:pt>
              <c:pt idx="237">
                <c:v>39.666666666666664</c:v>
              </c:pt>
              <c:pt idx="238">
                <c:v>39.833333333333336</c:v>
              </c:pt>
              <c:pt idx="239">
                <c:v>40</c:v>
              </c:pt>
              <c:pt idx="240">
                <c:v>40.166666666666664</c:v>
              </c:pt>
              <c:pt idx="241">
                <c:v>40.333333333333336</c:v>
              </c:pt>
              <c:pt idx="242">
                <c:v>40.5</c:v>
              </c:pt>
              <c:pt idx="243">
                <c:v>40.666666666666664</c:v>
              </c:pt>
              <c:pt idx="244">
                <c:v>40.833333333333336</c:v>
              </c:pt>
              <c:pt idx="245">
                <c:v>41</c:v>
              </c:pt>
              <c:pt idx="246">
                <c:v>41.166666666666664</c:v>
              </c:pt>
              <c:pt idx="247">
                <c:v>41.333333333333336</c:v>
              </c:pt>
              <c:pt idx="248">
                <c:v>41.5</c:v>
              </c:pt>
              <c:pt idx="249">
                <c:v>41.666666666666664</c:v>
              </c:pt>
              <c:pt idx="250">
                <c:v>41.833333333333336</c:v>
              </c:pt>
              <c:pt idx="251">
                <c:v>42</c:v>
              </c:pt>
              <c:pt idx="252">
                <c:v>42.166666666666664</c:v>
              </c:pt>
              <c:pt idx="253">
                <c:v>42.333333333333336</c:v>
              </c:pt>
              <c:pt idx="254">
                <c:v>42.5</c:v>
              </c:pt>
              <c:pt idx="255">
                <c:v>42.666666666666664</c:v>
              </c:pt>
              <c:pt idx="256">
                <c:v>42.833333333333336</c:v>
              </c:pt>
              <c:pt idx="257">
                <c:v>43</c:v>
              </c:pt>
              <c:pt idx="258">
                <c:v>43.166666666666664</c:v>
              </c:pt>
              <c:pt idx="259">
                <c:v>43.333333333333336</c:v>
              </c:pt>
              <c:pt idx="260">
                <c:v>43.5</c:v>
              </c:pt>
              <c:pt idx="261">
                <c:v>43.666666666666664</c:v>
              </c:pt>
              <c:pt idx="262">
                <c:v>43.833333333333336</c:v>
              </c:pt>
              <c:pt idx="263">
                <c:v>44</c:v>
              </c:pt>
              <c:pt idx="264">
                <c:v>44.166666666666664</c:v>
              </c:pt>
              <c:pt idx="265">
                <c:v>44.333333333333336</c:v>
              </c:pt>
              <c:pt idx="266">
                <c:v>44.5</c:v>
              </c:pt>
              <c:pt idx="267">
                <c:v>44.666666666666664</c:v>
              </c:pt>
              <c:pt idx="268">
                <c:v>44.833333333333336</c:v>
              </c:pt>
              <c:pt idx="269">
                <c:v>45</c:v>
              </c:pt>
              <c:pt idx="270">
                <c:v>45.166666666666664</c:v>
              </c:pt>
              <c:pt idx="271">
                <c:v>45.333333333333336</c:v>
              </c:pt>
              <c:pt idx="272">
                <c:v>45.5</c:v>
              </c:pt>
              <c:pt idx="273">
                <c:v>45.666666666666664</c:v>
              </c:pt>
              <c:pt idx="274">
                <c:v>45.833333333333336</c:v>
              </c:pt>
              <c:pt idx="275">
                <c:v>46</c:v>
              </c:pt>
              <c:pt idx="276">
                <c:v>46.166666666666664</c:v>
              </c:pt>
              <c:pt idx="277">
                <c:v>46.333333333333336</c:v>
              </c:pt>
              <c:pt idx="278">
                <c:v>46.5</c:v>
              </c:pt>
              <c:pt idx="279">
                <c:v>46.666666666666664</c:v>
              </c:pt>
              <c:pt idx="280">
                <c:v>46.833333333333336</c:v>
              </c:pt>
              <c:pt idx="281">
                <c:v>47</c:v>
              </c:pt>
              <c:pt idx="282">
                <c:v>47.166666666666664</c:v>
              </c:pt>
              <c:pt idx="283">
                <c:v>47.333333333333336</c:v>
              </c:pt>
              <c:pt idx="284">
                <c:v>47.5</c:v>
              </c:pt>
              <c:pt idx="285">
                <c:v>47.666666666666664</c:v>
              </c:pt>
              <c:pt idx="286">
                <c:v>47.833333333333336</c:v>
              </c:pt>
              <c:pt idx="287">
                <c:v>48</c:v>
              </c:pt>
              <c:pt idx="288">
                <c:v>48.166666666666664</c:v>
              </c:pt>
              <c:pt idx="289">
                <c:v>48.333333333333336</c:v>
              </c:pt>
              <c:pt idx="290">
                <c:v>48.5</c:v>
              </c:pt>
              <c:pt idx="291">
                <c:v>48.666666666666664</c:v>
              </c:pt>
              <c:pt idx="292">
                <c:v>48.833333333333336</c:v>
              </c:pt>
              <c:pt idx="293">
                <c:v>49</c:v>
              </c:pt>
              <c:pt idx="294">
                <c:v>49.166666666666664</c:v>
              </c:pt>
              <c:pt idx="295">
                <c:v>49.333333333333336</c:v>
              </c:pt>
              <c:pt idx="296">
                <c:v>49.5</c:v>
              </c:pt>
              <c:pt idx="297">
                <c:v>49.666666666666664</c:v>
              </c:pt>
              <c:pt idx="298">
                <c:v>49.833333333333336</c:v>
              </c:pt>
              <c:pt idx="299">
                <c:v>50</c:v>
              </c:pt>
              <c:pt idx="300">
                <c:v>50.166666666666664</c:v>
              </c:pt>
              <c:pt idx="301">
                <c:v>50.333333333333336</c:v>
              </c:pt>
              <c:pt idx="302">
                <c:v>50.5</c:v>
              </c:pt>
              <c:pt idx="303">
                <c:v>50.666666666666664</c:v>
              </c:pt>
              <c:pt idx="304">
                <c:v>50.833333333333336</c:v>
              </c:pt>
              <c:pt idx="305">
                <c:v>51</c:v>
              </c:pt>
              <c:pt idx="306">
                <c:v>51.166666666666664</c:v>
              </c:pt>
              <c:pt idx="307">
                <c:v>51.333333333333336</c:v>
              </c:pt>
              <c:pt idx="308">
                <c:v>51.5</c:v>
              </c:pt>
              <c:pt idx="309">
                <c:v>51.666666666666664</c:v>
              </c:pt>
              <c:pt idx="310">
                <c:v>51.833333333333336</c:v>
              </c:pt>
              <c:pt idx="311">
                <c:v>52</c:v>
              </c:pt>
              <c:pt idx="312">
                <c:v>52.166666666666664</c:v>
              </c:pt>
              <c:pt idx="313">
                <c:v>52.333333333333336</c:v>
              </c:pt>
              <c:pt idx="314">
                <c:v>52.5</c:v>
              </c:pt>
              <c:pt idx="315">
                <c:v>52.666666666666664</c:v>
              </c:pt>
              <c:pt idx="316">
                <c:v>52.833333333333336</c:v>
              </c:pt>
              <c:pt idx="317">
                <c:v>53</c:v>
              </c:pt>
              <c:pt idx="318">
                <c:v>53.166666666666664</c:v>
              </c:pt>
              <c:pt idx="319">
                <c:v>53.333333333333336</c:v>
              </c:pt>
              <c:pt idx="320">
                <c:v>53.5</c:v>
              </c:pt>
              <c:pt idx="321">
                <c:v>53.666666666666664</c:v>
              </c:pt>
              <c:pt idx="322">
                <c:v>53.833333333333336</c:v>
              </c:pt>
              <c:pt idx="323">
                <c:v>54</c:v>
              </c:pt>
              <c:pt idx="324">
                <c:v>54.166666666666664</c:v>
              </c:pt>
              <c:pt idx="325">
                <c:v>54.333333333333336</c:v>
              </c:pt>
              <c:pt idx="326">
                <c:v>54.5</c:v>
              </c:pt>
              <c:pt idx="327">
                <c:v>54.666666666666664</c:v>
              </c:pt>
              <c:pt idx="328">
                <c:v>54.833333333333336</c:v>
              </c:pt>
              <c:pt idx="329">
                <c:v>55</c:v>
              </c:pt>
              <c:pt idx="330">
                <c:v>55.166666666666664</c:v>
              </c:pt>
              <c:pt idx="331">
                <c:v>55.333333333333336</c:v>
              </c:pt>
              <c:pt idx="332">
                <c:v>55.5</c:v>
              </c:pt>
              <c:pt idx="333">
                <c:v>55.666666666666664</c:v>
              </c:pt>
              <c:pt idx="334">
                <c:v>55.833333333333336</c:v>
              </c:pt>
              <c:pt idx="335">
                <c:v>56</c:v>
              </c:pt>
              <c:pt idx="336">
                <c:v>56.166666666666664</c:v>
              </c:pt>
              <c:pt idx="337">
                <c:v>56.333333333333336</c:v>
              </c:pt>
              <c:pt idx="338">
                <c:v>56.5</c:v>
              </c:pt>
              <c:pt idx="339">
                <c:v>56.666666666666664</c:v>
              </c:pt>
              <c:pt idx="340">
                <c:v>56.833333333333336</c:v>
              </c:pt>
              <c:pt idx="341">
                <c:v>57</c:v>
              </c:pt>
              <c:pt idx="342">
                <c:v>57.166666666666664</c:v>
              </c:pt>
              <c:pt idx="343">
                <c:v>57.333333333333336</c:v>
              </c:pt>
              <c:pt idx="344">
                <c:v>57.5</c:v>
              </c:pt>
              <c:pt idx="345">
                <c:v>57.666666666666664</c:v>
              </c:pt>
              <c:pt idx="346">
                <c:v>57.833333333333336</c:v>
              </c:pt>
              <c:pt idx="347">
                <c:v>58</c:v>
              </c:pt>
              <c:pt idx="348">
                <c:v>58.166666666666664</c:v>
              </c:pt>
              <c:pt idx="349">
                <c:v>58.333333333333336</c:v>
              </c:pt>
              <c:pt idx="350">
                <c:v>58.5</c:v>
              </c:pt>
              <c:pt idx="351">
                <c:v>58.666666666666664</c:v>
              </c:pt>
              <c:pt idx="352">
                <c:v>58.833333333333336</c:v>
              </c:pt>
              <c:pt idx="353">
                <c:v>59</c:v>
              </c:pt>
              <c:pt idx="354">
                <c:v>59.166666666666664</c:v>
              </c:pt>
              <c:pt idx="355">
                <c:v>59.333333333333336</c:v>
              </c:pt>
              <c:pt idx="356">
                <c:v>59.5</c:v>
              </c:pt>
              <c:pt idx="357">
                <c:v>59.666666666666664</c:v>
              </c:pt>
              <c:pt idx="358">
                <c:v>59.833333333333336</c:v>
              </c:pt>
              <c:pt idx="359">
                <c:v>60</c:v>
              </c:pt>
              <c:pt idx="360">
                <c:v>60.166666666666664</c:v>
              </c:pt>
              <c:pt idx="361">
                <c:v>60.333333333333336</c:v>
              </c:pt>
              <c:pt idx="362">
                <c:v>60.5</c:v>
              </c:pt>
              <c:pt idx="363">
                <c:v>60.666666666666664</c:v>
              </c:pt>
              <c:pt idx="364">
                <c:v>60.833333333333336</c:v>
              </c:pt>
              <c:pt idx="365">
                <c:v>61</c:v>
              </c:pt>
              <c:pt idx="366">
                <c:v>61.166666666666664</c:v>
              </c:pt>
              <c:pt idx="367">
                <c:v>61.333333333333336</c:v>
              </c:pt>
              <c:pt idx="368">
                <c:v>61.5</c:v>
              </c:pt>
              <c:pt idx="369">
                <c:v>61.666666666666664</c:v>
              </c:pt>
              <c:pt idx="370">
                <c:v>61.833333333333336</c:v>
              </c:pt>
              <c:pt idx="371">
                <c:v>62</c:v>
              </c:pt>
              <c:pt idx="372">
                <c:v>62.166666666666664</c:v>
              </c:pt>
              <c:pt idx="373">
                <c:v>62.333333333333336</c:v>
              </c:pt>
              <c:pt idx="374">
                <c:v>62.5</c:v>
              </c:pt>
              <c:pt idx="375">
                <c:v>62.666666666666664</c:v>
              </c:pt>
              <c:pt idx="376">
                <c:v>62.833333333333336</c:v>
              </c:pt>
              <c:pt idx="377">
                <c:v>63</c:v>
              </c:pt>
              <c:pt idx="378">
                <c:v>63.166666666666664</c:v>
              </c:pt>
              <c:pt idx="379">
                <c:v>63.333333333333336</c:v>
              </c:pt>
              <c:pt idx="380">
                <c:v>63.5</c:v>
              </c:pt>
              <c:pt idx="381">
                <c:v>63.666666666666664</c:v>
              </c:pt>
              <c:pt idx="382">
                <c:v>63.833333333333336</c:v>
              </c:pt>
              <c:pt idx="383">
                <c:v>64</c:v>
              </c:pt>
              <c:pt idx="384">
                <c:v>64.16666666666667</c:v>
              </c:pt>
              <c:pt idx="385">
                <c:v>64.33333333333333</c:v>
              </c:pt>
              <c:pt idx="386">
                <c:v>64.5</c:v>
              </c:pt>
              <c:pt idx="387">
                <c:v>64.66666666666667</c:v>
              </c:pt>
              <c:pt idx="388">
                <c:v>64.83333333333333</c:v>
              </c:pt>
              <c:pt idx="389">
                <c:v>65</c:v>
              </c:pt>
              <c:pt idx="390">
                <c:v>65.16666666666667</c:v>
              </c:pt>
              <c:pt idx="391">
                <c:v>65.33333333333333</c:v>
              </c:pt>
              <c:pt idx="392">
                <c:v>65.5</c:v>
              </c:pt>
              <c:pt idx="393">
                <c:v>65.66666666666667</c:v>
              </c:pt>
              <c:pt idx="394">
                <c:v>65.83333333333333</c:v>
              </c:pt>
              <c:pt idx="395">
                <c:v>66</c:v>
              </c:pt>
              <c:pt idx="396">
                <c:v>66.16666666666667</c:v>
              </c:pt>
              <c:pt idx="397">
                <c:v>66.33333333333333</c:v>
              </c:pt>
              <c:pt idx="398">
                <c:v>66.5</c:v>
              </c:pt>
              <c:pt idx="399">
                <c:v>66.66666666666667</c:v>
              </c:pt>
              <c:pt idx="400">
                <c:v>66.83333333333333</c:v>
              </c:pt>
              <c:pt idx="401">
                <c:v>67</c:v>
              </c:pt>
              <c:pt idx="402">
                <c:v>67.16666666666667</c:v>
              </c:pt>
              <c:pt idx="403">
                <c:v>67.33333333333333</c:v>
              </c:pt>
              <c:pt idx="404">
                <c:v>67.5</c:v>
              </c:pt>
              <c:pt idx="405">
                <c:v>67.66666666666667</c:v>
              </c:pt>
              <c:pt idx="406">
                <c:v>67.83333333333333</c:v>
              </c:pt>
              <c:pt idx="407">
                <c:v>68</c:v>
              </c:pt>
              <c:pt idx="408">
                <c:v>68.16666666666667</c:v>
              </c:pt>
              <c:pt idx="409">
                <c:v>68.33333333333333</c:v>
              </c:pt>
              <c:pt idx="410">
                <c:v>68.5</c:v>
              </c:pt>
              <c:pt idx="411">
                <c:v>68.66666666666667</c:v>
              </c:pt>
              <c:pt idx="412">
                <c:v>68.83333333333333</c:v>
              </c:pt>
              <c:pt idx="413">
                <c:v>69</c:v>
              </c:pt>
              <c:pt idx="414">
                <c:v>69.16666666666667</c:v>
              </c:pt>
              <c:pt idx="415">
                <c:v>69.33333333333333</c:v>
              </c:pt>
              <c:pt idx="416">
                <c:v>69.5</c:v>
              </c:pt>
              <c:pt idx="417">
                <c:v>69.66666666666667</c:v>
              </c:pt>
              <c:pt idx="418">
                <c:v>69.83333333333333</c:v>
              </c:pt>
              <c:pt idx="419">
                <c:v>70</c:v>
              </c:pt>
              <c:pt idx="420">
                <c:v>70.16666666666667</c:v>
              </c:pt>
              <c:pt idx="421">
                <c:v>70.33333333333333</c:v>
              </c:pt>
              <c:pt idx="422">
                <c:v>70.5</c:v>
              </c:pt>
              <c:pt idx="423">
                <c:v>70.66666666666667</c:v>
              </c:pt>
              <c:pt idx="424">
                <c:v>70.83333333333333</c:v>
              </c:pt>
              <c:pt idx="425">
                <c:v>71</c:v>
              </c:pt>
              <c:pt idx="426">
                <c:v>71.16666666666667</c:v>
              </c:pt>
              <c:pt idx="427">
                <c:v>71.33333333333333</c:v>
              </c:pt>
              <c:pt idx="428">
                <c:v>71.5</c:v>
              </c:pt>
              <c:pt idx="429">
                <c:v>71.66666666666667</c:v>
              </c:pt>
              <c:pt idx="430">
                <c:v>71.83333333333333</c:v>
              </c:pt>
              <c:pt idx="431">
                <c:v>72</c:v>
              </c:pt>
              <c:pt idx="432">
                <c:v>72.16666666666667</c:v>
              </c:pt>
              <c:pt idx="433">
                <c:v>72.33333333333333</c:v>
              </c:pt>
              <c:pt idx="434">
                <c:v>72.5</c:v>
              </c:pt>
              <c:pt idx="435">
                <c:v>72.66666666666667</c:v>
              </c:pt>
              <c:pt idx="436">
                <c:v>72.83333333333333</c:v>
              </c:pt>
              <c:pt idx="437">
                <c:v>73</c:v>
              </c:pt>
              <c:pt idx="438">
                <c:v>73.16666666666667</c:v>
              </c:pt>
              <c:pt idx="439">
                <c:v>73.33333333333333</c:v>
              </c:pt>
              <c:pt idx="440">
                <c:v>73.5</c:v>
              </c:pt>
              <c:pt idx="441">
                <c:v>73.66666666666667</c:v>
              </c:pt>
              <c:pt idx="442">
                <c:v>73.83333333333333</c:v>
              </c:pt>
              <c:pt idx="443">
                <c:v>74</c:v>
              </c:pt>
              <c:pt idx="444">
                <c:v>74.16666666666667</c:v>
              </c:pt>
              <c:pt idx="445">
                <c:v>74.33333333333333</c:v>
              </c:pt>
              <c:pt idx="446">
                <c:v>74.5</c:v>
              </c:pt>
              <c:pt idx="447">
                <c:v>74.66666666666667</c:v>
              </c:pt>
              <c:pt idx="448">
                <c:v>74.83333333333333</c:v>
              </c:pt>
              <c:pt idx="449">
                <c:v>75</c:v>
              </c:pt>
              <c:pt idx="450">
                <c:v>75.16666666666667</c:v>
              </c:pt>
              <c:pt idx="451">
                <c:v>75.33333333333333</c:v>
              </c:pt>
              <c:pt idx="452">
                <c:v>75.5</c:v>
              </c:pt>
              <c:pt idx="453">
                <c:v>75.66666666666667</c:v>
              </c:pt>
              <c:pt idx="454">
                <c:v>75.83333333333333</c:v>
              </c:pt>
              <c:pt idx="455">
                <c:v>76</c:v>
              </c:pt>
              <c:pt idx="456">
                <c:v>76.16666666666667</c:v>
              </c:pt>
              <c:pt idx="457">
                <c:v>76.33333333333333</c:v>
              </c:pt>
              <c:pt idx="458">
                <c:v>76.5</c:v>
              </c:pt>
              <c:pt idx="459">
                <c:v>76.66666666666667</c:v>
              </c:pt>
              <c:pt idx="460">
                <c:v>76.83333333333333</c:v>
              </c:pt>
              <c:pt idx="461">
                <c:v>77</c:v>
              </c:pt>
              <c:pt idx="462">
                <c:v>77.16666666666667</c:v>
              </c:pt>
              <c:pt idx="463">
                <c:v>77.33333333333333</c:v>
              </c:pt>
              <c:pt idx="464">
                <c:v>77.5</c:v>
              </c:pt>
              <c:pt idx="465">
                <c:v>77.66666666666667</c:v>
              </c:pt>
              <c:pt idx="466">
                <c:v>77.83333333333333</c:v>
              </c:pt>
              <c:pt idx="467">
                <c:v>78</c:v>
              </c:pt>
              <c:pt idx="468">
                <c:v>78.16666666666667</c:v>
              </c:pt>
              <c:pt idx="469">
                <c:v>78.33333333333333</c:v>
              </c:pt>
              <c:pt idx="470">
                <c:v>78.5</c:v>
              </c:pt>
              <c:pt idx="471">
                <c:v>78.66666666666667</c:v>
              </c:pt>
              <c:pt idx="472">
                <c:v>78.83333333333333</c:v>
              </c:pt>
              <c:pt idx="473">
                <c:v>79</c:v>
              </c:pt>
              <c:pt idx="474">
                <c:v>79.16666666666667</c:v>
              </c:pt>
              <c:pt idx="475">
                <c:v>79.33333333333333</c:v>
              </c:pt>
              <c:pt idx="476">
                <c:v>79.5</c:v>
              </c:pt>
              <c:pt idx="477">
                <c:v>79.66666666666667</c:v>
              </c:pt>
              <c:pt idx="478">
                <c:v>79.83333333333333</c:v>
              </c:pt>
              <c:pt idx="479">
                <c:v>80</c:v>
              </c:pt>
              <c:pt idx="480">
                <c:v>80.16666666666667</c:v>
              </c:pt>
              <c:pt idx="481">
                <c:v>80.33333333333333</c:v>
              </c:pt>
              <c:pt idx="482">
                <c:v>80.5</c:v>
              </c:pt>
              <c:pt idx="483">
                <c:v>80.66666666666667</c:v>
              </c:pt>
              <c:pt idx="484">
                <c:v>80.83333333333333</c:v>
              </c:pt>
              <c:pt idx="485">
                <c:v>81</c:v>
              </c:pt>
              <c:pt idx="486">
                <c:v>81.16666666666667</c:v>
              </c:pt>
              <c:pt idx="487">
                <c:v>81.33333333333333</c:v>
              </c:pt>
              <c:pt idx="488">
                <c:v>81.5</c:v>
              </c:pt>
              <c:pt idx="489">
                <c:v>81.66666666666667</c:v>
              </c:pt>
              <c:pt idx="490">
                <c:v>81.83333333333333</c:v>
              </c:pt>
              <c:pt idx="491">
                <c:v>82</c:v>
              </c:pt>
              <c:pt idx="492">
                <c:v>82.16666666666667</c:v>
              </c:pt>
              <c:pt idx="493">
                <c:v>82.33333333333333</c:v>
              </c:pt>
              <c:pt idx="494">
                <c:v>82.5</c:v>
              </c:pt>
              <c:pt idx="495">
                <c:v>82.66666666666667</c:v>
              </c:pt>
              <c:pt idx="496">
                <c:v>82.83333333333333</c:v>
              </c:pt>
              <c:pt idx="497">
                <c:v>83</c:v>
              </c:pt>
              <c:pt idx="498">
                <c:v>83.16666666666667</c:v>
              </c:pt>
              <c:pt idx="499">
                <c:v>83.33333333333333</c:v>
              </c:pt>
              <c:pt idx="500">
                <c:v>83.5</c:v>
              </c:pt>
              <c:pt idx="501">
                <c:v>83.66666666666667</c:v>
              </c:pt>
              <c:pt idx="502">
                <c:v>83.83333333333333</c:v>
              </c:pt>
              <c:pt idx="503">
                <c:v>84</c:v>
              </c:pt>
              <c:pt idx="504">
                <c:v>84.16666666666667</c:v>
              </c:pt>
              <c:pt idx="505">
                <c:v>84.33333333333333</c:v>
              </c:pt>
              <c:pt idx="506">
                <c:v>84.5</c:v>
              </c:pt>
              <c:pt idx="507">
                <c:v>84.66666666666667</c:v>
              </c:pt>
              <c:pt idx="508">
                <c:v>84.83333333333333</c:v>
              </c:pt>
              <c:pt idx="509">
                <c:v>85</c:v>
              </c:pt>
              <c:pt idx="510">
                <c:v>85.16666666666667</c:v>
              </c:pt>
              <c:pt idx="511">
                <c:v>85.33333333333333</c:v>
              </c:pt>
              <c:pt idx="512">
                <c:v>85.5</c:v>
              </c:pt>
              <c:pt idx="513">
                <c:v>85.66666666666667</c:v>
              </c:pt>
              <c:pt idx="514">
                <c:v>85.83333333333333</c:v>
              </c:pt>
              <c:pt idx="515">
                <c:v>86</c:v>
              </c:pt>
              <c:pt idx="516">
                <c:v>86.16666666666667</c:v>
              </c:pt>
              <c:pt idx="517">
                <c:v>86.33333333333333</c:v>
              </c:pt>
              <c:pt idx="518">
                <c:v>86.5</c:v>
              </c:pt>
              <c:pt idx="519">
                <c:v>86.66666666666667</c:v>
              </c:pt>
              <c:pt idx="520">
                <c:v>86.83333333333333</c:v>
              </c:pt>
              <c:pt idx="521">
                <c:v>87</c:v>
              </c:pt>
              <c:pt idx="522">
                <c:v>87.16666666666667</c:v>
              </c:pt>
              <c:pt idx="523">
                <c:v>87.33333333333333</c:v>
              </c:pt>
              <c:pt idx="524">
                <c:v>87.5</c:v>
              </c:pt>
              <c:pt idx="525">
                <c:v>87.66666666666667</c:v>
              </c:pt>
              <c:pt idx="526">
                <c:v>87.83333333333333</c:v>
              </c:pt>
              <c:pt idx="527">
                <c:v>88</c:v>
              </c:pt>
              <c:pt idx="528">
                <c:v>88.16666666666667</c:v>
              </c:pt>
              <c:pt idx="529">
                <c:v>88.33333333333333</c:v>
              </c:pt>
              <c:pt idx="530">
                <c:v>88.5</c:v>
              </c:pt>
              <c:pt idx="531">
                <c:v>88.66666666666667</c:v>
              </c:pt>
              <c:pt idx="532">
                <c:v>88.83333333333333</c:v>
              </c:pt>
              <c:pt idx="533">
                <c:v>89</c:v>
              </c:pt>
              <c:pt idx="534">
                <c:v>89.16666666666667</c:v>
              </c:pt>
              <c:pt idx="535">
                <c:v>89.33333333333333</c:v>
              </c:pt>
              <c:pt idx="536">
                <c:v>89.5</c:v>
              </c:pt>
              <c:pt idx="537">
                <c:v>89.66666666666667</c:v>
              </c:pt>
              <c:pt idx="538">
                <c:v>89.83333333333333</c:v>
              </c:pt>
              <c:pt idx="539">
                <c:v>90</c:v>
              </c:pt>
              <c:pt idx="540">
                <c:v>90.16666666666667</c:v>
              </c:pt>
              <c:pt idx="541">
                <c:v>90.33333333333333</c:v>
              </c:pt>
              <c:pt idx="542">
                <c:v>90.5</c:v>
              </c:pt>
              <c:pt idx="543">
                <c:v>90.66666666666667</c:v>
              </c:pt>
              <c:pt idx="544">
                <c:v>90.83333333333333</c:v>
              </c:pt>
              <c:pt idx="545">
                <c:v>91</c:v>
              </c:pt>
              <c:pt idx="546">
                <c:v>91.16666666666667</c:v>
              </c:pt>
              <c:pt idx="547">
                <c:v>91.33333333333333</c:v>
              </c:pt>
              <c:pt idx="548">
                <c:v>91.5</c:v>
              </c:pt>
              <c:pt idx="549">
                <c:v>91.66666666666667</c:v>
              </c:pt>
              <c:pt idx="550">
                <c:v>91.83333333333333</c:v>
              </c:pt>
              <c:pt idx="551">
                <c:v>92</c:v>
              </c:pt>
              <c:pt idx="552">
                <c:v>92.16666666666667</c:v>
              </c:pt>
              <c:pt idx="553">
                <c:v>92.33333333333333</c:v>
              </c:pt>
              <c:pt idx="554">
                <c:v>92.5</c:v>
              </c:pt>
              <c:pt idx="555">
                <c:v>92.66666666666667</c:v>
              </c:pt>
              <c:pt idx="556">
                <c:v>92.83333333333333</c:v>
              </c:pt>
              <c:pt idx="557">
                <c:v>93</c:v>
              </c:pt>
              <c:pt idx="558">
                <c:v>93.16666666666667</c:v>
              </c:pt>
              <c:pt idx="559">
                <c:v>93.33333333333333</c:v>
              </c:pt>
              <c:pt idx="560">
                <c:v>93.5</c:v>
              </c:pt>
              <c:pt idx="561">
                <c:v>93.66666666666667</c:v>
              </c:pt>
              <c:pt idx="562">
                <c:v>93.83333333333333</c:v>
              </c:pt>
              <c:pt idx="563">
                <c:v>94</c:v>
              </c:pt>
              <c:pt idx="564">
                <c:v>94.16666666666667</c:v>
              </c:pt>
              <c:pt idx="565">
                <c:v>94.33333333333333</c:v>
              </c:pt>
              <c:pt idx="566">
                <c:v>94.5</c:v>
              </c:pt>
              <c:pt idx="567">
                <c:v>94.66666666666667</c:v>
              </c:pt>
              <c:pt idx="568">
                <c:v>94.83333333333333</c:v>
              </c:pt>
              <c:pt idx="569">
                <c:v>95</c:v>
              </c:pt>
              <c:pt idx="570">
                <c:v>95.16666666666667</c:v>
              </c:pt>
              <c:pt idx="571">
                <c:v>95.33333333333333</c:v>
              </c:pt>
              <c:pt idx="572">
                <c:v>95.5</c:v>
              </c:pt>
              <c:pt idx="573">
                <c:v>95.66666666666667</c:v>
              </c:pt>
              <c:pt idx="574">
                <c:v>95.83333333333333</c:v>
              </c:pt>
              <c:pt idx="575">
                <c:v>96</c:v>
              </c:pt>
              <c:pt idx="576">
                <c:v>96.16666666666667</c:v>
              </c:pt>
              <c:pt idx="577">
                <c:v>96.33333333333333</c:v>
              </c:pt>
              <c:pt idx="578">
                <c:v>96.5</c:v>
              </c:pt>
              <c:pt idx="579">
                <c:v>96.66666666666667</c:v>
              </c:pt>
              <c:pt idx="580">
                <c:v>96.83333333333333</c:v>
              </c:pt>
              <c:pt idx="581">
                <c:v>97</c:v>
              </c:pt>
              <c:pt idx="582">
                <c:v>97.16666666666667</c:v>
              </c:pt>
              <c:pt idx="583">
                <c:v>97.33333333333333</c:v>
              </c:pt>
              <c:pt idx="584">
                <c:v>97.5</c:v>
              </c:pt>
              <c:pt idx="585">
                <c:v>97.66666666666667</c:v>
              </c:pt>
              <c:pt idx="586">
                <c:v>97.83333333333333</c:v>
              </c:pt>
              <c:pt idx="587">
                <c:v>98</c:v>
              </c:pt>
              <c:pt idx="588">
                <c:v>98.16666666666667</c:v>
              </c:pt>
              <c:pt idx="589">
                <c:v>98.33333333333333</c:v>
              </c:pt>
              <c:pt idx="590">
                <c:v>98.5</c:v>
              </c:pt>
              <c:pt idx="591">
                <c:v>98.66666666666667</c:v>
              </c:pt>
              <c:pt idx="592">
                <c:v>98.83333333333333</c:v>
              </c:pt>
              <c:pt idx="593">
                <c:v>99</c:v>
              </c:pt>
              <c:pt idx="594">
                <c:v>99.16666666666667</c:v>
              </c:pt>
              <c:pt idx="595">
                <c:v>99.33333333333333</c:v>
              </c:pt>
              <c:pt idx="596">
                <c:v>99.5</c:v>
              </c:pt>
              <c:pt idx="597">
                <c:v>99.66666666666667</c:v>
              </c:pt>
              <c:pt idx="598">
                <c:v>99.83333333333333</c:v>
              </c:pt>
              <c:pt idx="599">
                <c:v>100</c:v>
              </c:pt>
            </c:numLit>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ax val="100"/>
          <c:min val="0"/>
        </c:scaling>
        <c:delete val="0"/>
        <c:axPos val="l"/>
        <c:majorGridlines>
          <c:spPr>
            <a:ln xmlns:a="http://schemas.openxmlformats.org/drawingml/2006/main" w="9525">
              <a:solidFill>
                <a:srgbClr val="E5ECEF"/>
              </a:solidFill>
            </a:ln>
          </c:spPr>
        </c:majorGridlines>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Cumulative paths (%)</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86974"/>
                </a:solidFill>
                <a:latin typeface="Helvetica Neue"/>
                <a:ea typeface="Helvetica Neue"/>
                <a:cs typeface="Helvetica Neue"/>
              </a:defRPr>
            </a:pPr>
          </a:p>
        </c:txPr>
        <c:crossAx val="48650112"/>
      </c:valAx>
      <c:valAx>
        <c:axId val="48650112"/>
        <c:scaling>
          <c:orientation val="minMax"/>
          <c:max val="0.3"/>
          <c:min val="-7"/>
        </c:scaling>
        <c:delete val="0"/>
        <c:axPos val="b"/>
        <c:title>
          <c:tx>
            <c:rich>
              <a:bodyPr xmlns:a="http://schemas.openxmlformats.org/drawingml/2006/main"/>
              <a:lstStyle xmlns:a="http://schemas.openxmlformats.org/drawingml/2006/main"/>
              <a:p xmlns:a="http://schemas.openxmlformats.org/drawingml/2006/main">
                <a:r>
                  <a:rPr>
                    <a:latin typeface="Helvetica Neue"/>
                    <a:ea typeface="Helvetica Neue"/>
                    <a:cs typeface="Helvetica Neue"/>
                  </a:rPr>
                  <a:t>log₁₀(pathwise risk ratio)</a:t>
                </a:r>
              </a:p>
            </c:rich>
          </c:tx>
          <c:overlay val="0"/>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586974"/>
                </a:solidFill>
                <a:latin typeface="Helvetica Neue"/>
                <a:ea typeface="Helvetica Neue"/>
                <a:cs typeface="Helvetica Neue"/>
              </a:defRPr>
            </a:pPr>
          </a:p>
        </c:txPr>
        <c:crossAx val="48672768"/>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4.xml><?xml version="1.0" encoding="utf-8"?>
<c:chartSpace xmlns:c="http://schemas.openxmlformats.org/drawingml/2006/chart">
  <c:lang val="en-US"/>
  <c:chart>
    <c:plotArea>
      <c:barChart>
        <c:barDir val="bar"/>
        <c:grouping val="clustered"/>
        <c:varyColors val="0"/>
        <c:ser>
          <c:idx val="0"/>
          <c:order val="0"/>
          <c:tx>
            <c:v>Remaining variance (%)</c:v>
          </c:tx>
          <c:spPr>
            <a:solidFill xmlns:a="http://schemas.openxmlformats.org/drawingml/2006/main">
              <a:srgbClr val="31688E"/>
            </a:solidFill>
          </c:spPr>
          <c:dLbls>
            <c:dLbl>
              <c:idx val="0"/>
              <c:tx>
                <c:rich>
                  <a:bodyPr xmlns:a="http://schemas.openxmlformats.org/drawingml/2006/main"/>
                  <a:lstStyle xmlns:a="http://schemas.openxmlformats.org/drawingml/2006/main"/>
                  <a:p xmlns:a="http://schemas.openxmlformats.org/drawingml/2006/main">
                    <a:r>
                      <a:rPr sz="1725">
                        <a:solidFill>
                          <a:srgbClr val="31688E"/>
                        </a:solidFill>
                        <a:latin typeface="Helvetica Neue"/>
                        <a:ea typeface="Helvetica Neue"/>
                        <a:cs typeface="Helvetica Neue"/>
                      </a:rPr>
                      <a:t>11.2%</a:t>
                    </a:r>
                  </a:p>
                </c:rich>
              </c:tx>
              <c:txPr>
                <a:bodyPr xmlns:a="http://schemas.openxmlformats.org/drawingml/2006/main" anchorCtr="1"/>
                <a:lstStyle xmlns:a="http://schemas.openxmlformats.org/drawingml/2006/main"/>
                <a:p xmlns:a="http://schemas.openxmlformats.org/drawingml/2006/main">
                  <a:pPr>
                    <a:defRPr sz="1725">
                      <a:solidFill>
                        <a:srgbClr val="31688E"/>
                      </a:solidFill>
                      <a:latin typeface="Helvetica Neue"/>
                      <a:ea typeface="Helvetica Neue"/>
                      <a:cs typeface="Helvetica Neue"/>
                    </a:defRPr>
                  </a:pPr>
                </a:p>
              </c:txPr>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725">
                        <a:solidFill>
                          <a:srgbClr val="31688E"/>
                        </a:solidFill>
                        <a:latin typeface="Helvetica Neue"/>
                        <a:ea typeface="Helvetica Neue"/>
                        <a:cs typeface="Helvetica Neue"/>
                      </a:rPr>
                      <a:t>90.0%</a:t>
                    </a:r>
                  </a:p>
                </c:rich>
              </c:tx>
              <c:txPr>
                <a:bodyPr xmlns:a="http://schemas.openxmlformats.org/drawingml/2006/main" anchorCtr="1"/>
                <a:lstStyle xmlns:a="http://schemas.openxmlformats.org/drawingml/2006/main"/>
                <a:p xmlns:a="http://schemas.openxmlformats.org/drawingml/2006/main">
                  <a:pPr>
                    <a:defRPr sz="1725">
                      <a:solidFill>
                        <a:srgbClr val="31688E"/>
                      </a:solidFill>
                      <a:latin typeface="Helvetica Neue"/>
                      <a:ea typeface="Helvetica Neue"/>
                      <a:cs typeface="Helvetica Neue"/>
                    </a:defRPr>
                  </a:pPr>
                </a:p>
              </c:txPr>
              <c:showLegendKey val="0"/>
              <c:showVal val="0"/>
              <c:showCatName val="0"/>
              <c:showSerName val="0"/>
              <c:showPercent val="0"/>
              <c:showBubbleSize val="0"/>
            </c:dLbl>
          </c:dLbls>
          <c:cat>
            <c:strLit>
              <c:ptCount val="2"/>
              <c:pt idx="0">
                <c:v>Ordinary paths</c:v>
              </c:pt>
              <c:pt idx="1">
                <c:v>Top-5% catastrophic paths</c:v>
              </c:pt>
            </c:strLit>
          </c:cat>
          <c:val>
            <c:numLit>
              <c:formatCode>General</c:formatCode>
              <c:ptCount val="2"/>
              <c:pt idx="0">
                <c:v>11.1635</c:v>
              </c:pt>
              <c:pt idx="1">
                <c:v>89.9565</c:v>
              </c:pt>
            </c:numLit>
          </c:val>
        </c:ser>
        <c:dLbls>
          <c:txPr>
            <a:bodyPr xmlns:a="http://schemas.openxmlformats.org/drawingml/2006/main" anchorCtr="1"/>
            <a:lstStyle xmlns:a="http://schemas.openxmlformats.org/drawingml/2006/main"/>
            <a:p xmlns:a="http://schemas.openxmlformats.org/drawingml/2006/main">
              <a:pPr>
                <a:defRPr sz="2025" b="1">
                  <a:solidFill>
                    <a:srgbClr val="31688E"/>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majorGridlines>
          <c:spPr>
            <a:ln xmlns:a="http://schemas.openxmlformats.org/drawingml/2006/main" w="9525">
              <a:solidFill>
                <a:srgbClr val="E5ECEF"/>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586974"/>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92D3C"/>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C503FF66-9505-4B71-822C-A272A4F40C26}"/>
              </a:ext>
            </a:extLst>
          </p:cNvPr>
          <p:cNvSpPr>
            <a:spLocks xmlns:a="http://schemas.openxmlformats.org/drawingml/2006/main" noGrp="1"/>
          </p:cNvSpPr>
          <p:nvPr/>
        </p:nvSpPr>
        <p:spPr>
          <a:xfrm xmlns:a="http://schemas.openxmlformats.org/drawingml/2006/main">
            <a:off x="571500" y="342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Adaptive Hutch++</a:t>
            </a:r>
          </a:p>
        </p:txBody>
      </p:sp>
      <p:sp>
        <p:nvSpPr>
          <p:cNvPr id="2" name="">
            <a:extLst xmlns:a="http://schemas.openxmlformats.org/drawingml/2006/main">
              <a:ext uri="{FF2B5EF4-FFF2-40B4-BE49-F238E27FC236}">
                <a16:creationId xmlns:a16="http://schemas.microsoft.com/office/drawing/2014/main" id="{C501DD27-3181-46EF-A225-92FE76BF2F77}"/>
              </a:ext>
            </a:extLst>
          </p:cNvPr>
          <p:cNvSpPr>
            <a:spLocks xmlns:a="http://schemas.openxmlformats.org/drawingml/2006/main" noGrp="1"/>
          </p:cNvSpPr>
          <p:nvPr/>
        </p:nvSpPr>
        <p:spPr>
          <a:xfrm xmlns:a="http://schemas.openxmlformats.org/drawingml/2006/main">
            <a:off x="11049000" y="639127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35EC9A79-EE55-4449-82F6-DDFD6D2AB6F1}"/>
              </a:ext>
            </a:extLst>
          </p:cNvPr>
          <p:cNvSpPr>
            <a:spLocks xmlns:a="http://schemas.openxmlformats.org/drawingml/2006/main" noGrp="1"/>
          </p:cNvSpPr>
          <p:nvPr/>
        </p:nvSpPr>
        <p:spPr>
          <a:xfrm xmlns:a="http://schemas.openxmlformats.org/drawingml/2006/main">
            <a:off x="609600" y="1609725"/>
            <a:ext cx="1057275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450" b="1">
                <a:solidFill>
                  <a:srgbClr val="192D3C"/>
                </a:solidFill>
                <a:latin typeface="Helvetica Neue"/>
                <a:ea typeface="Helvetica Neue"/>
                <a:cs typeface="Helvetica Neue"/>
              </a:defRPr>
            </a:pPr>
            <a:r>
              <a:rPr sz="3450" b="1">
                <a:solidFill>
                  <a:srgbClr val="192D3C"/>
                </a:solidFill>
                <a:latin typeface="Helvetica Neue"/>
                <a:ea typeface="Helvetica Neue"/>
                <a:cs typeface="Helvetica Neue"/>
              </a:rPr>
              <a:t>What justifies spending another query</a:t>
            </a:r>
          </a:p>
          <a:p xmlns:a="http://schemas.openxmlformats.org/drawingml/2006/main">
            <a:pPr algn="l">
              <a:defRPr sz="3450" b="1">
                <a:solidFill>
                  <a:srgbClr val="192D3C"/>
                </a:solidFill>
                <a:latin typeface="Helvetica Neue"/>
                <a:ea typeface="Helvetica Neue"/>
                <a:cs typeface="Helvetica Neue"/>
              </a:defRPr>
            </a:pPr>
            <a:r>
              <a:rPr sz="3450" b="1">
                <a:solidFill>
                  <a:srgbClr val="192D3C"/>
                </a:solidFill>
                <a:latin typeface="Helvetica Neue"/>
                <a:ea typeface="Helvetica Neue"/>
                <a:cs typeface="Helvetica Neue"/>
              </a:rPr>
              <a:t>on low-rank capture?</a:t>
            </a:r>
          </a:p>
        </p:txBody>
      </p:sp>
      <p:sp>
        <p:nvSpPr>
          <p:cNvPr id="4" name="">
            <a:extLst xmlns:a="http://schemas.openxmlformats.org/drawingml/2006/main">
              <a:ext uri="{FF2B5EF4-FFF2-40B4-BE49-F238E27FC236}">
                <a16:creationId xmlns:a16="http://schemas.microsoft.com/office/drawing/2014/main" id="{F5DD5CD4-326C-41C5-95BE-B4A636B3FBDE}"/>
              </a:ext>
            </a:extLst>
          </p:cNvPr>
          <p:cNvSpPr>
            <a:spLocks xmlns:a="http://schemas.openxmlformats.org/drawingml/2006/main" noGrp="1"/>
          </p:cNvSpPr>
          <p:nvPr/>
        </p:nvSpPr>
        <p:spPr>
          <a:xfrm xmlns:a="http://schemas.openxmlformats.org/drawingml/2006/main">
            <a:off x="628650" y="29146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586974"/>
                </a:solidFill>
                <a:latin typeface="Helvetica Neue"/>
                <a:ea typeface="Helvetica Neue"/>
                <a:cs typeface="Helvetica Neue"/>
              </a:defRPr>
            </a:pPr>
            <a:r>
              <a:rPr sz="2025" b="0">
                <a:solidFill>
                  <a:srgbClr val="586974"/>
                </a:solidFill>
                <a:latin typeface="Helvetica Neue"/>
                <a:ea typeface="Helvetica Neue"/>
                <a:cs typeface="Helvetica Neue"/>
              </a:rPr>
              <a:t>Research discussion with Swati</a:t>
            </a:r>
          </a:p>
        </p:txBody>
      </p:sp>
      <p:sp>
        <p:nvSpPr>
          <p:cNvPr id="5" name="">
            <a:extLst xmlns:a="http://schemas.openxmlformats.org/drawingml/2006/main">
              <a:ext uri="{FF2B5EF4-FFF2-40B4-BE49-F238E27FC236}">
                <a16:creationId xmlns:a16="http://schemas.microsoft.com/office/drawing/2014/main" id="{0CED1C8F-057F-450D-A0D9-944473BB2CDA}"/>
              </a:ext>
            </a:extLst>
          </p:cNvPr>
          <p:cNvSpPr>
            <a:spLocks xmlns:a="http://schemas.openxmlformats.org/drawingml/2006/main" noGrp="1"/>
          </p:cNvSpPr>
          <p:nvPr/>
        </p:nvSpPr>
        <p:spPr>
          <a:xfrm xmlns:a="http://schemas.openxmlformats.org/drawingml/2006/main">
            <a:off x="619125" y="4095750"/>
            <a:ext cx="3143250" cy="1238250"/>
          </a:xfrm>
          <a:prstGeom xmlns:a="http://schemas.openxmlformats.org/drawingml/2006/main" prst="rect">
            <a:avLst/>
          </a:prstGeom>
          <a:solidFill xmlns:a="http://schemas.openxmlformats.org/drawingml/2006/main">
            <a:srgbClr val="EDF4F6"/>
          </a:solidFill>
          <a:ln xmlns:a="http://schemas.openxmlformats.org/drawingml/2006/main" w="12383">
            <a:solidFill>
              <a:srgbClr val="CCD8DE"/>
            </a:solidFill>
          </a:ln>
        </p:spPr>
      </p:sp>
      <p:sp>
        <p:nvSpPr>
          <p:cNvPr id="6" name="">
            <a:extLst xmlns:a="http://schemas.openxmlformats.org/drawingml/2006/main">
              <a:ext uri="{FF2B5EF4-FFF2-40B4-BE49-F238E27FC236}">
                <a16:creationId xmlns:a16="http://schemas.microsoft.com/office/drawing/2014/main" id="{61BCA60D-6666-436E-A0ED-9CC9C40979BA}"/>
              </a:ext>
            </a:extLst>
          </p:cNvPr>
          <p:cNvSpPr>
            <a:spLocks xmlns:a="http://schemas.openxmlformats.org/drawingml/2006/main" noGrp="1"/>
          </p:cNvSpPr>
          <p:nvPr/>
        </p:nvSpPr>
        <p:spPr>
          <a:xfrm xmlns:a="http://schemas.openxmlformats.org/drawingml/2006/main">
            <a:off x="790575" y="4219575"/>
            <a:ext cx="2800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One query</a:t>
            </a:r>
          </a:p>
        </p:txBody>
      </p:sp>
      <p:sp>
        <p:nvSpPr>
          <p:cNvPr id="7" name="">
            <a:extLst xmlns:a="http://schemas.openxmlformats.org/drawingml/2006/main">
              <a:ext uri="{FF2B5EF4-FFF2-40B4-BE49-F238E27FC236}">
                <a16:creationId xmlns:a16="http://schemas.microsoft.com/office/drawing/2014/main" id="{F6A5A9C1-2050-496C-A3A4-D7006BF1D100}"/>
              </a:ext>
            </a:extLst>
          </p:cNvPr>
          <p:cNvSpPr>
            <a:spLocks xmlns:a="http://schemas.openxmlformats.org/drawingml/2006/main" noGrp="1"/>
          </p:cNvSpPr>
          <p:nvPr/>
        </p:nvSpPr>
        <p:spPr>
          <a:xfrm xmlns:a="http://schemas.openxmlformats.org/drawingml/2006/main">
            <a:off x="790575" y="4657725"/>
            <a:ext cx="28003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Apply the matrix to a vector</a:t>
            </a:r>
          </a:p>
        </p:txBody>
      </p:sp>
      <p:sp>
        <p:nvSpPr>
          <p:cNvPr id="8" name="">
            <a:extLst xmlns:a="http://schemas.openxmlformats.org/drawingml/2006/main">
              <a:ext uri="{FF2B5EF4-FFF2-40B4-BE49-F238E27FC236}">
                <a16:creationId xmlns:a16="http://schemas.microsoft.com/office/drawing/2014/main" id="{6FA6FB9C-431D-43EF-B608-577652F7A2ED}"/>
              </a:ext>
            </a:extLst>
          </p:cNvPr>
          <p:cNvSpPr>
            <a:spLocks xmlns:a="http://schemas.openxmlformats.org/drawingml/2006/main" noGrp="1"/>
          </p:cNvSpPr>
          <p:nvPr/>
        </p:nvSpPr>
        <p:spPr>
          <a:xfrm xmlns:a="http://schemas.openxmlformats.org/drawingml/2006/main">
            <a:off x="4572000" y="3762375"/>
            <a:ext cx="3048000" cy="1143000"/>
          </a:xfrm>
          <a:prstGeom xmlns:a="http://schemas.openxmlformats.org/drawingml/2006/main" prst="rect">
            <a:avLst/>
          </a:prstGeom>
          <a:solidFill xmlns:a="http://schemas.openxmlformats.org/drawingml/2006/main">
            <a:srgbClr val="EBF4F1"/>
          </a:solidFill>
          <a:ln xmlns:a="http://schemas.openxmlformats.org/drawingml/2006/main" w="12383">
            <a:solidFill>
              <a:srgbClr val="CCD8DE"/>
            </a:solidFill>
          </a:ln>
        </p:spPr>
      </p:sp>
      <p:sp>
        <p:nvSpPr>
          <p:cNvPr id="9" name="">
            <a:extLst xmlns:a="http://schemas.openxmlformats.org/drawingml/2006/main">
              <a:ext uri="{FF2B5EF4-FFF2-40B4-BE49-F238E27FC236}">
                <a16:creationId xmlns:a16="http://schemas.microsoft.com/office/drawing/2014/main" id="{89A7E0CF-F0ED-476D-834D-8168FBBCFA23}"/>
              </a:ext>
            </a:extLst>
          </p:cNvPr>
          <p:cNvSpPr>
            <a:spLocks xmlns:a="http://schemas.openxmlformats.org/drawingml/2006/main" noGrp="1"/>
          </p:cNvSpPr>
          <p:nvPr/>
        </p:nvSpPr>
        <p:spPr>
          <a:xfrm xmlns:a="http://schemas.openxmlformats.org/drawingml/2006/main">
            <a:off x="4743450" y="3886200"/>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Improve the basis</a:t>
            </a:r>
          </a:p>
        </p:txBody>
      </p:sp>
      <p:sp>
        <p:nvSpPr>
          <p:cNvPr id="10" name="">
            <a:extLst xmlns:a="http://schemas.openxmlformats.org/drawingml/2006/main">
              <a:ext uri="{FF2B5EF4-FFF2-40B4-BE49-F238E27FC236}">
                <a16:creationId xmlns:a16="http://schemas.microsoft.com/office/drawing/2014/main" id="{BDEB15FD-A1EF-498B-AE72-CA9BA5A4994B}"/>
              </a:ext>
            </a:extLst>
          </p:cNvPr>
          <p:cNvSpPr>
            <a:spLocks xmlns:a="http://schemas.openxmlformats.org/drawingml/2006/main" noGrp="1"/>
          </p:cNvSpPr>
          <p:nvPr/>
        </p:nvSpPr>
        <p:spPr>
          <a:xfrm xmlns:a="http://schemas.openxmlformats.org/drawingml/2006/main">
            <a:off x="4743450" y="4324350"/>
            <a:ext cx="2705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Reduce what remains</a:t>
            </a:r>
          </a:p>
        </p:txBody>
      </p:sp>
      <p:sp>
        <p:nvSpPr>
          <p:cNvPr id="11" name="">
            <a:extLst xmlns:a="http://schemas.openxmlformats.org/drawingml/2006/main">
              <a:ext uri="{FF2B5EF4-FFF2-40B4-BE49-F238E27FC236}">
                <a16:creationId xmlns:a16="http://schemas.microsoft.com/office/drawing/2014/main" id="{C6E5DDFD-3345-4D83-BCBC-0559C67B8B8A}"/>
              </a:ext>
            </a:extLst>
          </p:cNvPr>
          <p:cNvSpPr>
            <a:spLocks xmlns:a="http://schemas.openxmlformats.org/drawingml/2006/main" noGrp="1"/>
          </p:cNvSpPr>
          <p:nvPr/>
        </p:nvSpPr>
        <p:spPr>
          <a:xfrm xmlns:a="http://schemas.openxmlformats.org/drawingml/2006/main">
            <a:off x="8382000" y="4762500"/>
            <a:ext cx="3048000" cy="1143000"/>
          </a:xfrm>
          <a:prstGeom xmlns:a="http://schemas.openxmlformats.org/drawingml/2006/main" prst="rect">
            <a:avLst/>
          </a:prstGeom>
          <a:solidFill xmlns:a="http://schemas.openxmlformats.org/drawingml/2006/main">
            <a:srgbClr val="FAF1E7"/>
          </a:solidFill>
          <a:ln xmlns:a="http://schemas.openxmlformats.org/drawingml/2006/main" w="12383">
            <a:solidFill>
              <a:srgbClr val="CCD8DE"/>
            </a:solidFill>
          </a:ln>
        </p:spPr>
      </p:sp>
      <p:sp>
        <p:nvSpPr>
          <p:cNvPr id="12" name="">
            <a:extLst xmlns:a="http://schemas.openxmlformats.org/drawingml/2006/main">
              <a:ext uri="{FF2B5EF4-FFF2-40B4-BE49-F238E27FC236}">
                <a16:creationId xmlns:a16="http://schemas.microsoft.com/office/drawing/2014/main" id="{7856263E-2605-4C28-ACB0-23A507DA42DE}"/>
              </a:ext>
            </a:extLst>
          </p:cNvPr>
          <p:cNvSpPr>
            <a:spLocks xmlns:a="http://schemas.openxmlformats.org/drawingml/2006/main" noGrp="1"/>
          </p:cNvSpPr>
          <p:nvPr/>
        </p:nvSpPr>
        <p:spPr>
          <a:xfrm xmlns:a="http://schemas.openxmlformats.org/drawingml/2006/main">
            <a:off x="8553450" y="488632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Residual averaging</a:t>
            </a:r>
          </a:p>
        </p:txBody>
      </p:sp>
      <p:sp>
        <p:nvSpPr>
          <p:cNvPr id="13" name="">
            <a:extLst xmlns:a="http://schemas.openxmlformats.org/drawingml/2006/main">
              <a:ext uri="{FF2B5EF4-FFF2-40B4-BE49-F238E27FC236}">
                <a16:creationId xmlns:a16="http://schemas.microsoft.com/office/drawing/2014/main" id="{BADEE935-19AA-49AB-9278-2C3680A748DE}"/>
              </a:ext>
            </a:extLst>
          </p:cNvPr>
          <p:cNvSpPr>
            <a:spLocks xmlns:a="http://schemas.openxmlformats.org/drawingml/2006/main" noGrp="1"/>
          </p:cNvSpPr>
          <p:nvPr/>
        </p:nvSpPr>
        <p:spPr>
          <a:xfrm xmlns:a="http://schemas.openxmlformats.org/drawingml/2006/main">
            <a:off x="8553450" y="5324475"/>
            <a:ext cx="2705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Reduce sampling noise</a:t>
            </a:r>
          </a:p>
        </p:txBody>
      </p:sp>
      <p:cxnSp>
        <p:nvCxnSpPr>
          <p:cNvPr id="30" name=""/>
          <p:cNvCxnSpPr>
            <a:stCxn xmlns:a="http://schemas.openxmlformats.org/drawingml/2006/main" id="5" idx="3"/>
            <a:endCxn xmlns:a="http://schemas.openxmlformats.org/drawingml/2006/main" id="8" idx="1"/>
          </p:cNvCxnSpPr>
          <p:nvPr/>
        </p:nvCxnSpPr>
        <p:spPr>
          <a:xfrm xmlns:a="http://schemas.openxmlformats.org/drawingml/2006/main" flipV="1">
            <a:off x="3762375" y="4333875"/>
            <a:ext cx="809625" cy="381000"/>
          </a:xfrm>
          <a:prstGeom xmlns:a="http://schemas.openxmlformats.org/drawingml/2006/main" prst="bentConnector3">
            <a:avLst>
              <a:gd name="adj1" fmla="val 50000"/>
            </a:avLst>
          </a:prstGeom>
          <a:ln xmlns:a="http://schemas.openxmlformats.org/drawingml/2006/main" w="23813">
            <a:solidFill>
              <a:srgbClr val="31688E"/>
            </a:solidFill>
            <a:prstDash val="solid"/>
            <a:tailEnd type="triangle" w="sm" len="sm"/>
          </a:ln>
        </p:spPr>
      </p:cxnSp>
      <p:cxnSp>
        <p:nvCxnSpPr>
          <p:cNvPr id="31" name=""/>
          <p:cNvCxnSpPr>
            <a:stCxn xmlns:a="http://schemas.openxmlformats.org/drawingml/2006/main" id="5" idx="3"/>
            <a:endCxn xmlns:a="http://schemas.openxmlformats.org/drawingml/2006/main" id="11" idx="1"/>
          </p:cNvCxnSpPr>
          <p:nvPr/>
        </p:nvCxnSpPr>
        <p:spPr>
          <a:xfrm xmlns:a="http://schemas.openxmlformats.org/drawingml/2006/main">
            <a:off x="3762375" y="4714875"/>
            <a:ext cx="4619625" cy="619125"/>
          </a:xfrm>
          <a:prstGeom xmlns:a="http://schemas.openxmlformats.org/drawingml/2006/main" prst="bentConnector3">
            <a:avLst>
              <a:gd name="adj1" fmla="val 4948"/>
            </a:avLst>
          </a:prstGeom>
          <a:ln xmlns:a="http://schemas.openxmlformats.org/drawingml/2006/main" w="23813">
            <a:solidFill>
              <a:srgbClr val="31688E"/>
            </a:solidFill>
            <a:prstDash val="solid"/>
            <a:tailEnd type="triangle" w="sm" len="sm"/>
          </a:ln>
        </p:spPr>
      </p:cxnSp>
      <p:sp>
        <p:nvSpPr>
          <p:cNvPr id="16" name="">
            <a:extLst xmlns:a="http://schemas.openxmlformats.org/drawingml/2006/main">
              <a:ext uri="{FF2B5EF4-FFF2-40B4-BE49-F238E27FC236}">
                <a16:creationId xmlns:a16="http://schemas.microsoft.com/office/drawing/2014/main" id="{FEB6555D-707B-4D80-991C-1F58B4753465}"/>
              </a:ext>
            </a:extLst>
          </p:cNvPr>
          <p:cNvSpPr>
            <a:spLocks xmlns:a="http://schemas.openxmlformats.org/drawingml/2006/main" noGrp="1"/>
          </p:cNvSpPr>
          <p:nvPr/>
        </p:nvSpPr>
        <p:spPr>
          <a:xfrm xmlns:a="http://schemas.openxmlformats.org/drawingml/2006/main">
            <a:off x="638175" y="6019800"/>
            <a:ext cx="10382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Goal: estimate tr(A), the sum of the matrix’s diagonal entries.</a:t>
            </a:r>
          </a:p>
        </p:txBody>
      </p:sp>
    </p:spTree>
    <p:extLst>
      <p:ext uri="{BB962C8B-B14F-4D97-AF65-F5344CB8AC3E}">
        <p14:creationId xmlns:p14="http://schemas.microsoft.com/office/powerpoint/2010/main" val="104738462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5F11567-2197-483B-88C7-69D987AE971F}"/>
              </a:ext>
            </a:extLst>
          </p:cNvPr>
          <p:cNvSpPr>
            <a:spLocks xmlns:a="http://schemas.openxmlformats.org/drawingml/2006/main" noGrp="1"/>
          </p:cNvSpPr>
          <p:nvPr/>
        </p:nvSpPr>
        <p:spPr>
          <a:xfrm xmlns:a="http://schemas.openxmlformats.org/drawingml/2006/main">
            <a:off x="571500" y="342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The query budget has two competing uses</a:t>
            </a:r>
          </a:p>
        </p:txBody>
      </p:sp>
      <p:sp>
        <p:nvSpPr>
          <p:cNvPr id="2" name="">
            <a:extLst xmlns:a="http://schemas.openxmlformats.org/drawingml/2006/main">
              <a:ext uri="{FF2B5EF4-FFF2-40B4-BE49-F238E27FC236}">
                <a16:creationId xmlns:a16="http://schemas.microsoft.com/office/drawing/2014/main" id="{02302149-5632-4953-98D0-0D84B93B7021}"/>
              </a:ext>
            </a:extLst>
          </p:cNvPr>
          <p:cNvSpPr>
            <a:spLocks xmlns:a="http://schemas.openxmlformats.org/drawingml/2006/main" noGrp="1"/>
          </p:cNvSpPr>
          <p:nvPr/>
        </p:nvSpPr>
        <p:spPr>
          <a:xfrm xmlns:a="http://schemas.openxmlformats.org/drawingml/2006/main">
            <a:off x="590550" y="13144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A query means one matrix–vector product.</a:t>
            </a:r>
          </a:p>
        </p:txBody>
      </p:sp>
      <p:sp>
        <p:nvSpPr>
          <p:cNvPr id="3" name="">
            <a:extLst xmlns:a="http://schemas.openxmlformats.org/drawingml/2006/main">
              <a:ext uri="{FF2B5EF4-FFF2-40B4-BE49-F238E27FC236}">
                <a16:creationId xmlns:a16="http://schemas.microsoft.com/office/drawing/2014/main" id="{8C73F564-9303-4A9D-9FB1-A151C862B831}"/>
              </a:ext>
            </a:extLst>
          </p:cNvPr>
          <p:cNvSpPr>
            <a:spLocks xmlns:a="http://schemas.openxmlformats.org/drawingml/2006/main" noGrp="1"/>
          </p:cNvSpPr>
          <p:nvPr/>
        </p:nvSpPr>
        <p:spPr>
          <a:xfrm xmlns:a="http://schemas.openxmlformats.org/drawingml/2006/main">
            <a:off x="11049000" y="639127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DC371E73-9E31-49A8-9C8B-EF0A0D6D2360}"/>
              </a:ext>
            </a:extLst>
          </p:cNvPr>
          <p:cNvSpPr>
            <a:spLocks xmlns:a="http://schemas.openxmlformats.org/drawingml/2006/main" noGrp="1"/>
          </p:cNvSpPr>
          <p:nvPr/>
        </p:nvSpPr>
        <p:spPr>
          <a:xfrm xmlns:a="http://schemas.openxmlformats.org/drawingml/2006/main">
            <a:off x="590550" y="2009775"/>
            <a:ext cx="3143250" cy="1285875"/>
          </a:xfrm>
          <a:prstGeom xmlns:a="http://schemas.openxmlformats.org/drawingml/2006/main" prst="rect">
            <a:avLst/>
          </a:prstGeom>
          <a:solidFill xmlns:a="http://schemas.openxmlformats.org/drawingml/2006/main">
            <a:srgbClr val="EDF4F6"/>
          </a:solidFill>
          <a:ln xmlns:a="http://schemas.openxmlformats.org/drawingml/2006/main" w="12383">
            <a:solidFill>
              <a:srgbClr val="CCD8DE"/>
            </a:solidFill>
          </a:ln>
        </p:spPr>
      </p:sp>
      <p:sp>
        <p:nvSpPr>
          <p:cNvPr id="5" name="">
            <a:extLst xmlns:a="http://schemas.openxmlformats.org/drawingml/2006/main">
              <a:ext uri="{FF2B5EF4-FFF2-40B4-BE49-F238E27FC236}">
                <a16:creationId xmlns:a16="http://schemas.microsoft.com/office/drawing/2014/main" id="{B2CD7B26-C042-4F0B-BBE5-A8A4217991FB}"/>
              </a:ext>
            </a:extLst>
          </p:cNvPr>
          <p:cNvSpPr>
            <a:spLocks xmlns:a="http://schemas.openxmlformats.org/drawingml/2006/main" noGrp="1"/>
          </p:cNvSpPr>
          <p:nvPr/>
        </p:nvSpPr>
        <p:spPr>
          <a:xfrm xmlns:a="http://schemas.openxmlformats.org/drawingml/2006/main">
            <a:off x="762000" y="2133600"/>
            <a:ext cx="2800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Build a basis Q</a:t>
            </a:r>
          </a:p>
        </p:txBody>
      </p:sp>
      <p:sp>
        <p:nvSpPr>
          <p:cNvPr id="6" name="">
            <a:extLst xmlns:a="http://schemas.openxmlformats.org/drawingml/2006/main">
              <a:ext uri="{FF2B5EF4-FFF2-40B4-BE49-F238E27FC236}">
                <a16:creationId xmlns:a16="http://schemas.microsoft.com/office/drawing/2014/main" id="{EAF65338-0DAA-4526-BF35-40637E28CE7C}"/>
              </a:ext>
            </a:extLst>
          </p:cNvPr>
          <p:cNvSpPr>
            <a:spLocks xmlns:a="http://schemas.openxmlformats.org/drawingml/2006/main" noGrp="1"/>
          </p:cNvSpPr>
          <p:nvPr/>
        </p:nvSpPr>
        <p:spPr>
          <a:xfrm xmlns:a="http://schemas.openxmlformats.org/drawingml/2006/main">
            <a:off x="762000" y="2571750"/>
            <a:ext cx="2800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q sketch queries</a:t>
            </a:r>
          </a:p>
        </p:txBody>
      </p:sp>
      <p:sp>
        <p:nvSpPr>
          <p:cNvPr id="7" name="">
            <a:extLst xmlns:a="http://schemas.openxmlformats.org/drawingml/2006/main">
              <a:ext uri="{FF2B5EF4-FFF2-40B4-BE49-F238E27FC236}">
                <a16:creationId xmlns:a16="http://schemas.microsoft.com/office/drawing/2014/main" id="{6E6ED51F-2A19-4167-9C66-4F2B48D4943B}"/>
              </a:ext>
            </a:extLst>
          </p:cNvPr>
          <p:cNvSpPr>
            <a:spLocks xmlns:a="http://schemas.openxmlformats.org/drawingml/2006/main" noGrp="1"/>
          </p:cNvSpPr>
          <p:nvPr/>
        </p:nvSpPr>
        <p:spPr>
          <a:xfrm xmlns:a="http://schemas.openxmlformats.org/drawingml/2006/main">
            <a:off x="4514850" y="2009775"/>
            <a:ext cx="3143250" cy="1285875"/>
          </a:xfrm>
          <a:prstGeom xmlns:a="http://schemas.openxmlformats.org/drawingml/2006/main" prst="rect">
            <a:avLst/>
          </a:prstGeom>
          <a:solidFill xmlns:a="http://schemas.openxmlformats.org/drawingml/2006/main">
            <a:srgbClr val="EDF4F6"/>
          </a:solidFill>
          <a:ln xmlns:a="http://schemas.openxmlformats.org/drawingml/2006/main" w="12383">
            <a:solidFill>
              <a:srgbClr val="CCD8DE"/>
            </a:solidFill>
          </a:ln>
        </p:spPr>
      </p:sp>
      <p:sp>
        <p:nvSpPr>
          <p:cNvPr id="8" name="">
            <a:extLst xmlns:a="http://schemas.openxmlformats.org/drawingml/2006/main">
              <a:ext uri="{FF2B5EF4-FFF2-40B4-BE49-F238E27FC236}">
                <a16:creationId xmlns:a16="http://schemas.microsoft.com/office/drawing/2014/main" id="{D53F5624-D50C-4314-91BA-95F83700218A}"/>
              </a:ext>
            </a:extLst>
          </p:cNvPr>
          <p:cNvSpPr>
            <a:spLocks xmlns:a="http://schemas.openxmlformats.org/drawingml/2006/main" noGrp="1"/>
          </p:cNvSpPr>
          <p:nvPr/>
        </p:nvSpPr>
        <p:spPr>
          <a:xfrm xmlns:a="http://schemas.openxmlformats.org/drawingml/2006/main">
            <a:off x="4686300" y="2133600"/>
            <a:ext cx="2800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Cache AQ</a:t>
            </a:r>
          </a:p>
        </p:txBody>
      </p:sp>
      <p:sp>
        <p:nvSpPr>
          <p:cNvPr id="9" name="">
            <a:extLst xmlns:a="http://schemas.openxmlformats.org/drawingml/2006/main">
              <a:ext uri="{FF2B5EF4-FFF2-40B4-BE49-F238E27FC236}">
                <a16:creationId xmlns:a16="http://schemas.microsoft.com/office/drawing/2014/main" id="{2407BF09-EF77-4057-BF05-384A6607C766}"/>
              </a:ext>
            </a:extLst>
          </p:cNvPr>
          <p:cNvSpPr>
            <a:spLocks xmlns:a="http://schemas.openxmlformats.org/drawingml/2006/main" noGrp="1"/>
          </p:cNvSpPr>
          <p:nvPr/>
        </p:nvSpPr>
        <p:spPr>
          <a:xfrm xmlns:a="http://schemas.openxmlformats.org/drawingml/2006/main">
            <a:off x="4686300" y="2571750"/>
            <a:ext cx="2800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r accepted directions</a:t>
            </a:r>
          </a:p>
        </p:txBody>
      </p:sp>
      <p:sp>
        <p:nvSpPr>
          <p:cNvPr id="10" name="">
            <a:extLst xmlns:a="http://schemas.openxmlformats.org/drawingml/2006/main">
              <a:ext uri="{FF2B5EF4-FFF2-40B4-BE49-F238E27FC236}">
                <a16:creationId xmlns:a16="http://schemas.microsoft.com/office/drawing/2014/main" id="{2F3CB3C9-A84A-4FC0-A4A8-019A913A772E}"/>
              </a:ext>
            </a:extLst>
          </p:cNvPr>
          <p:cNvSpPr>
            <a:spLocks xmlns:a="http://schemas.openxmlformats.org/drawingml/2006/main" noGrp="1"/>
          </p:cNvSpPr>
          <p:nvPr/>
        </p:nvSpPr>
        <p:spPr>
          <a:xfrm xmlns:a="http://schemas.openxmlformats.org/drawingml/2006/main">
            <a:off x="8439150" y="2009775"/>
            <a:ext cx="3143250" cy="1285875"/>
          </a:xfrm>
          <a:prstGeom xmlns:a="http://schemas.openxmlformats.org/drawingml/2006/main" prst="rect">
            <a:avLst/>
          </a:prstGeom>
          <a:solidFill xmlns:a="http://schemas.openxmlformats.org/drawingml/2006/main">
            <a:srgbClr val="EBF4F1"/>
          </a:solidFill>
          <a:ln xmlns:a="http://schemas.openxmlformats.org/drawingml/2006/main" w="12383">
            <a:solidFill>
              <a:srgbClr val="CCD8DE"/>
            </a:solidFill>
          </a:ln>
        </p:spPr>
      </p:sp>
      <p:sp>
        <p:nvSpPr>
          <p:cNvPr id="11" name="">
            <a:extLst xmlns:a="http://schemas.openxmlformats.org/drawingml/2006/main">
              <a:ext uri="{FF2B5EF4-FFF2-40B4-BE49-F238E27FC236}">
                <a16:creationId xmlns:a16="http://schemas.microsoft.com/office/drawing/2014/main" id="{0473FE45-EA6D-4C91-97FB-E71C4EEE7428}"/>
              </a:ext>
            </a:extLst>
          </p:cNvPr>
          <p:cNvSpPr>
            <a:spLocks xmlns:a="http://schemas.openxmlformats.org/drawingml/2006/main" noGrp="1"/>
          </p:cNvSpPr>
          <p:nvPr/>
        </p:nvSpPr>
        <p:spPr>
          <a:xfrm xmlns:a="http://schemas.openxmlformats.org/drawingml/2006/main">
            <a:off x="8610600" y="2133600"/>
            <a:ext cx="2800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Estimate the residual</a:t>
            </a:r>
          </a:p>
        </p:txBody>
      </p:sp>
      <p:sp>
        <p:nvSpPr>
          <p:cNvPr id="12" name="">
            <a:extLst xmlns:a="http://schemas.openxmlformats.org/drawingml/2006/main">
              <a:ext uri="{FF2B5EF4-FFF2-40B4-BE49-F238E27FC236}">
                <a16:creationId xmlns:a16="http://schemas.microsoft.com/office/drawing/2014/main" id="{09477D54-ADFE-4F7D-A752-E840A5C00330}"/>
              </a:ext>
            </a:extLst>
          </p:cNvPr>
          <p:cNvSpPr>
            <a:spLocks xmlns:a="http://schemas.openxmlformats.org/drawingml/2006/main" noGrp="1"/>
          </p:cNvSpPr>
          <p:nvPr/>
        </p:nvSpPr>
        <p:spPr>
          <a:xfrm xmlns:a="http://schemas.openxmlformats.org/drawingml/2006/main">
            <a:off x="8610600" y="2571750"/>
            <a:ext cx="2800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ℓ fresh probes</a:t>
            </a:r>
          </a:p>
        </p:txBody>
      </p:sp>
      <p:cxnSp>
        <p:nvCxnSpPr>
          <p:cNvPr id="37" name=""/>
          <p:cNvCxnSpPr>
            <a:stCxn xmlns:a="http://schemas.openxmlformats.org/drawingml/2006/main" id="4" idx="3"/>
            <a:endCxn xmlns:a="http://schemas.openxmlformats.org/drawingml/2006/main" id="7" idx="1"/>
          </p:cNvCxnSpPr>
          <p:nvPr/>
        </p:nvCxnSpPr>
        <p:spPr>
          <a:xfrm xmlns:a="http://schemas.openxmlformats.org/drawingml/2006/main">
            <a:off x="3733800" y="2652713"/>
            <a:ext cx="781050" cy="0"/>
          </a:xfrm>
          <a:prstGeom xmlns:a="http://schemas.openxmlformats.org/drawingml/2006/main" prst="straightConnector1">
            <a:avLst/>
          </a:prstGeom>
          <a:ln xmlns:a="http://schemas.openxmlformats.org/drawingml/2006/main" w="23813">
            <a:solidFill>
              <a:srgbClr val="31688E"/>
            </a:solidFill>
            <a:prstDash val="solid"/>
            <a:tailEnd type="triangle" w="sm" len="sm"/>
          </a:ln>
        </p:spPr>
      </p:cxnSp>
      <p:cxnSp>
        <p:nvCxnSpPr>
          <p:cNvPr id="38" name=""/>
          <p:cNvCxnSpPr>
            <a:stCxn xmlns:a="http://schemas.openxmlformats.org/drawingml/2006/main" id="7" idx="3"/>
            <a:endCxn xmlns:a="http://schemas.openxmlformats.org/drawingml/2006/main" id="10" idx="1"/>
          </p:cNvCxnSpPr>
          <p:nvPr/>
        </p:nvCxnSpPr>
        <p:spPr>
          <a:xfrm xmlns:a="http://schemas.openxmlformats.org/drawingml/2006/main">
            <a:off x="7658100" y="2652713"/>
            <a:ext cx="781050" cy="0"/>
          </a:xfrm>
          <a:prstGeom xmlns:a="http://schemas.openxmlformats.org/drawingml/2006/main" prst="straightConnector1">
            <a:avLst/>
          </a:prstGeom>
          <a:ln xmlns:a="http://schemas.openxmlformats.org/drawingml/2006/main" w="23813">
            <a:solidFill>
              <a:srgbClr val="31688E"/>
            </a:solidFill>
            <a:prstDash val="solid"/>
            <a:tailEnd type="triangle" w="sm" len="sm"/>
          </a:ln>
        </p:spPr>
      </p:cxnSp>
      <p:sp>
        <p:nvSpPr>
          <p:cNvPr id="15" name="">
            <a:extLst xmlns:a="http://schemas.openxmlformats.org/drawingml/2006/main">
              <a:ext uri="{FF2B5EF4-FFF2-40B4-BE49-F238E27FC236}">
                <a16:creationId xmlns:a16="http://schemas.microsoft.com/office/drawing/2014/main" id="{BA5606EC-2493-4C18-A8D5-EE8ECFFC9BC4}"/>
              </a:ext>
            </a:extLst>
          </p:cNvPr>
          <p:cNvSpPr>
            <a:spLocks xmlns:a="http://schemas.openxmlformats.org/drawingml/2006/main" noGrp="1"/>
          </p:cNvSpPr>
          <p:nvPr/>
        </p:nvSpPr>
        <p:spPr>
          <a:xfrm xmlns:a="http://schemas.openxmlformats.org/drawingml/2006/main">
            <a:off x="619125" y="3667125"/>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00" b="1">
                <a:solidFill>
                  <a:srgbClr val="192D3C"/>
                </a:solidFill>
                <a:latin typeface="Helvetica Neue"/>
                <a:ea typeface="Helvetica Neue"/>
                <a:cs typeface="Helvetica Neue"/>
              </a:defRPr>
            </a:pPr>
            <a:r>
              <a:rPr sz="3000" b="1">
                <a:solidFill>
                  <a:srgbClr val="192D3C"/>
                </a:solidFill>
                <a:latin typeface="Helvetica Neue"/>
                <a:ea typeface="Helvetica Neue"/>
                <a:cs typeface="Helvetica Neue"/>
              </a:rPr>
              <a:t>q + r + ℓ = m</a:t>
            </a:r>
          </a:p>
        </p:txBody>
      </p:sp>
      <p:sp>
        <p:nvSpPr>
          <p:cNvPr id="16" name="">
            <a:extLst xmlns:a="http://schemas.openxmlformats.org/drawingml/2006/main">
              <a:ext uri="{FF2B5EF4-FFF2-40B4-BE49-F238E27FC236}">
                <a16:creationId xmlns:a16="http://schemas.microsoft.com/office/drawing/2014/main" id="{39CB80A3-84A2-41A1-9AFB-2CE9FDD57691}"/>
              </a:ext>
            </a:extLst>
          </p:cNvPr>
          <p:cNvSpPr>
            <a:spLocks xmlns:a="http://schemas.openxmlformats.org/drawingml/2006/main" noGrp="1"/>
          </p:cNvSpPr>
          <p:nvPr/>
        </p:nvSpPr>
        <p:spPr>
          <a:xfrm xmlns:a="http://schemas.openxmlformats.org/drawingml/2006/main">
            <a:off x="619125" y="4543425"/>
            <a:ext cx="1022449" cy="609600"/>
          </a:xfrm>
          <a:prstGeom xmlns:a="http://schemas.openxmlformats.org/drawingml/2006/main" prst="rect">
            <a:avLst/>
          </a:prstGeom>
          <a:solidFill xmlns:a="http://schemas.openxmlformats.org/drawingml/2006/main">
            <a:srgbClr val="31688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007E38A6-BD31-4520-9C6B-BA6E01DF8A78}"/>
              </a:ext>
            </a:extLst>
          </p:cNvPr>
          <p:cNvSpPr>
            <a:spLocks xmlns:a="http://schemas.openxmlformats.org/drawingml/2006/main" noGrp="1"/>
          </p:cNvSpPr>
          <p:nvPr/>
        </p:nvSpPr>
        <p:spPr>
          <a:xfrm xmlns:a="http://schemas.openxmlformats.org/drawingml/2006/main">
            <a:off x="647700" y="4648200"/>
            <a:ext cx="965299"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15 sketch</a:t>
            </a:r>
          </a:p>
        </p:txBody>
      </p:sp>
      <p:sp>
        <p:nvSpPr>
          <p:cNvPr id="18" name="">
            <a:extLst xmlns:a="http://schemas.openxmlformats.org/drawingml/2006/main">
              <a:ext uri="{FF2B5EF4-FFF2-40B4-BE49-F238E27FC236}">
                <a16:creationId xmlns:a16="http://schemas.microsoft.com/office/drawing/2014/main" id="{808BC5E7-4B77-424C-831C-448B520C08FC}"/>
              </a:ext>
            </a:extLst>
          </p:cNvPr>
          <p:cNvSpPr>
            <a:spLocks xmlns:a="http://schemas.openxmlformats.org/drawingml/2006/main" noGrp="1"/>
          </p:cNvSpPr>
          <p:nvPr/>
        </p:nvSpPr>
        <p:spPr>
          <a:xfrm xmlns:a="http://schemas.openxmlformats.org/drawingml/2006/main">
            <a:off x="1641574" y="4543425"/>
            <a:ext cx="1022449" cy="609600"/>
          </a:xfrm>
          <a:prstGeom xmlns:a="http://schemas.openxmlformats.org/drawingml/2006/main" prst="rect">
            <a:avLst/>
          </a:prstGeom>
          <a:solidFill xmlns:a="http://schemas.openxmlformats.org/drawingml/2006/main">
            <a:srgbClr val="37847F"/>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84AC3E9-2ED7-41F9-A9CC-C24FE22F3885}"/>
              </a:ext>
            </a:extLst>
          </p:cNvPr>
          <p:cNvSpPr>
            <a:spLocks xmlns:a="http://schemas.openxmlformats.org/drawingml/2006/main" noGrp="1"/>
          </p:cNvSpPr>
          <p:nvPr/>
        </p:nvSpPr>
        <p:spPr>
          <a:xfrm xmlns:a="http://schemas.openxmlformats.org/drawingml/2006/main">
            <a:off x="1670149" y="4648200"/>
            <a:ext cx="965299"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15 basis</a:t>
            </a:r>
          </a:p>
        </p:txBody>
      </p:sp>
      <p:sp>
        <p:nvSpPr>
          <p:cNvPr id="20" name="">
            <a:extLst xmlns:a="http://schemas.openxmlformats.org/drawingml/2006/main">
              <a:ext uri="{FF2B5EF4-FFF2-40B4-BE49-F238E27FC236}">
                <a16:creationId xmlns:a16="http://schemas.microsoft.com/office/drawing/2014/main" id="{2257C28A-D56E-4589-80EB-BD21B4D2D39B}"/>
              </a:ext>
            </a:extLst>
          </p:cNvPr>
          <p:cNvSpPr>
            <a:spLocks xmlns:a="http://schemas.openxmlformats.org/drawingml/2006/main" noGrp="1"/>
          </p:cNvSpPr>
          <p:nvPr/>
        </p:nvSpPr>
        <p:spPr>
          <a:xfrm xmlns:a="http://schemas.openxmlformats.org/drawingml/2006/main">
            <a:off x="2664023" y="4543425"/>
            <a:ext cx="8861227" cy="609600"/>
          </a:xfrm>
          <a:prstGeom xmlns:a="http://schemas.openxmlformats.org/drawingml/2006/main" prst="rect">
            <a:avLst/>
          </a:prstGeom>
          <a:solidFill xmlns:a="http://schemas.openxmlformats.org/drawingml/2006/main">
            <a:srgbClr val="DDECE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2199EC4-BD04-478C-9E44-6C2F497A8755}"/>
              </a:ext>
            </a:extLst>
          </p:cNvPr>
          <p:cNvSpPr>
            <a:spLocks xmlns:a="http://schemas.openxmlformats.org/drawingml/2006/main" noGrp="1"/>
          </p:cNvSpPr>
          <p:nvPr/>
        </p:nvSpPr>
        <p:spPr>
          <a:xfrm xmlns:a="http://schemas.openxmlformats.org/drawingml/2006/main">
            <a:off x="2692598" y="4648200"/>
            <a:ext cx="8804077"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950" b="1">
                <a:solidFill>
                  <a:srgbClr val="192D3C"/>
                </a:solidFill>
                <a:latin typeface="Helvetica Neue"/>
                <a:ea typeface="Helvetica Neue"/>
                <a:cs typeface="Helvetica Neue"/>
              </a:defRPr>
            </a:pPr>
            <a:r>
              <a:rPr sz="1950" b="1">
                <a:solidFill>
                  <a:srgbClr val="192D3C"/>
                </a:solidFill>
                <a:latin typeface="Helvetica Neue"/>
                <a:ea typeface="Helvetica Neue"/>
                <a:cs typeface="Helvetica Neue"/>
              </a:rPr>
              <a:t>130 residual</a:t>
            </a:r>
          </a:p>
        </p:txBody>
      </p:sp>
      <p:sp>
        <p:nvSpPr>
          <p:cNvPr id="22" name="">
            <a:extLst xmlns:a="http://schemas.openxmlformats.org/drawingml/2006/main">
              <a:ext uri="{FF2B5EF4-FFF2-40B4-BE49-F238E27FC236}">
                <a16:creationId xmlns:a16="http://schemas.microsoft.com/office/drawing/2014/main" id="{A6786BB7-DF82-4EBB-9AA1-6A5FFFF15F80}"/>
              </a:ext>
            </a:extLst>
          </p:cNvPr>
          <p:cNvSpPr>
            <a:spLocks xmlns:a="http://schemas.openxmlformats.org/drawingml/2006/main" noGrp="1"/>
          </p:cNvSpPr>
          <p:nvPr/>
        </p:nvSpPr>
        <p:spPr>
          <a:xfrm xmlns:a="http://schemas.openxmlformats.org/drawingml/2006/main">
            <a:off x="619125" y="52768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86974"/>
                </a:solidFill>
                <a:latin typeface="Helvetica Neue"/>
                <a:ea typeface="Helvetica Neue"/>
                <a:cs typeface="Helvetica Neue"/>
              </a:defRPr>
            </a:pPr>
            <a:r>
              <a:rPr sz="1875" b="0">
                <a:solidFill>
                  <a:srgbClr val="586974"/>
                </a:solidFill>
                <a:latin typeface="Helvetica Neue"/>
                <a:ea typeface="Helvetica Neue"/>
                <a:cs typeface="Helvetica Neue"/>
              </a:rPr>
              <a:t>Example: 160 total queries, q = r = 15</a:t>
            </a:r>
          </a:p>
        </p:txBody>
      </p:sp>
      <p:sp>
        <p:nvSpPr>
          <p:cNvPr id="23" name="">
            <a:extLst xmlns:a="http://schemas.openxmlformats.org/drawingml/2006/main">
              <a:ext uri="{FF2B5EF4-FFF2-40B4-BE49-F238E27FC236}">
                <a16:creationId xmlns:a16="http://schemas.microsoft.com/office/drawing/2014/main" id="{B95AF895-5946-41B5-B7E0-5D3A4BCC722B}"/>
              </a:ext>
            </a:extLst>
          </p:cNvPr>
          <p:cNvSpPr>
            <a:spLocks xmlns:a="http://schemas.openxmlformats.org/drawingml/2006/main" noGrp="1"/>
          </p:cNvSpPr>
          <p:nvPr/>
        </p:nvSpPr>
        <p:spPr>
          <a:xfrm xmlns:a="http://schemas.openxmlformats.org/drawingml/2006/main">
            <a:off x="590550" y="6153150"/>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A22659C-8CF5-47CF-91CA-B6BB2EA7BEFA}"/>
              </a:ext>
            </a:extLst>
          </p:cNvPr>
          <p:cNvSpPr>
            <a:spLocks xmlns:a="http://schemas.openxmlformats.org/drawingml/2006/main" noGrp="1"/>
          </p:cNvSpPr>
          <p:nvPr/>
        </p:nvSpPr>
        <p:spPr>
          <a:xfrm xmlns:a="http://schemas.openxmlformats.org/drawingml/2006/main">
            <a:off x="590550" y="6267450"/>
            <a:ext cx="10239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Attempted columns q and useful rank r can differ. A rejected direction still costs a query.</a:t>
            </a:r>
          </a:p>
        </p:txBody>
      </p:sp>
    </p:spTree>
    <p:extLst>
      <p:ext uri="{BB962C8B-B14F-4D97-AF65-F5344CB8AC3E}">
        <p14:creationId xmlns:p14="http://schemas.microsoft.com/office/powerpoint/2010/main" val="13029088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4A11485-F48F-423F-BF52-DA27883C608E}"/>
              </a:ext>
            </a:extLst>
          </p:cNvPr>
          <p:cNvSpPr>
            <a:spLocks xmlns:a="http://schemas.openxmlformats.org/drawingml/2006/main" noGrp="1"/>
          </p:cNvSpPr>
          <p:nvPr/>
        </p:nvSpPr>
        <p:spPr>
          <a:xfrm xmlns:a="http://schemas.openxmlformats.org/drawingml/2006/main">
            <a:off x="571500" y="342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The actual basis determines the residual risk</a:t>
            </a:r>
          </a:p>
        </p:txBody>
      </p:sp>
      <p:sp>
        <p:nvSpPr>
          <p:cNvPr id="2" name="">
            <a:extLst xmlns:a="http://schemas.openxmlformats.org/drawingml/2006/main">
              <a:ext uri="{FF2B5EF4-FFF2-40B4-BE49-F238E27FC236}">
                <a16:creationId xmlns:a16="http://schemas.microsoft.com/office/drawing/2014/main" id="{4F7A205D-973C-44F3-BD3D-41977118B9B6}"/>
              </a:ext>
            </a:extLst>
          </p:cNvPr>
          <p:cNvSpPr>
            <a:spLocks xmlns:a="http://schemas.openxmlformats.org/drawingml/2006/main" noGrp="1"/>
          </p:cNvSpPr>
          <p:nvPr/>
        </p:nvSpPr>
        <p:spPr>
          <a:xfrm xmlns:a="http://schemas.openxmlformats.org/drawingml/2006/main">
            <a:off x="11049000" y="639127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03</a:t>
            </a:r>
          </a:p>
        </p:txBody>
      </p:sp>
      <p:sp>
        <p:nvSpPr>
          <p:cNvPr id="3" name="">
            <a:extLst xmlns:a="http://schemas.openxmlformats.org/drawingml/2006/main">
              <a:ext uri="{FF2B5EF4-FFF2-40B4-BE49-F238E27FC236}">
                <a16:creationId xmlns:a16="http://schemas.microsoft.com/office/drawing/2014/main" id="{1AA4369A-14E2-4370-AE00-F0C6A1F74749}"/>
              </a:ext>
            </a:extLst>
          </p:cNvPr>
          <p:cNvSpPr>
            <a:spLocks xmlns:a="http://schemas.openxmlformats.org/drawingml/2006/main" noGrp="1"/>
          </p:cNvSpPr>
          <p:nvPr/>
        </p:nvSpPr>
        <p:spPr>
          <a:xfrm xmlns:a="http://schemas.openxmlformats.org/drawingml/2006/main">
            <a:off x="4143375" y="1438275"/>
            <a:ext cx="3905250" cy="1066800"/>
          </a:xfrm>
          <a:prstGeom xmlns:a="http://schemas.openxmlformats.org/drawingml/2006/main" prst="rect">
            <a:avLst/>
          </a:prstGeom>
          <a:solidFill xmlns:a="http://schemas.openxmlformats.org/drawingml/2006/main">
            <a:srgbClr val="EDF4F6"/>
          </a:solidFill>
          <a:ln xmlns:a="http://schemas.openxmlformats.org/drawingml/2006/main" w="12383">
            <a:solidFill>
              <a:srgbClr val="CCD8DE"/>
            </a:solidFill>
          </a:ln>
        </p:spPr>
      </p:sp>
      <p:sp>
        <p:nvSpPr>
          <p:cNvPr id="4" name="">
            <a:extLst xmlns:a="http://schemas.openxmlformats.org/drawingml/2006/main">
              <a:ext uri="{FF2B5EF4-FFF2-40B4-BE49-F238E27FC236}">
                <a16:creationId xmlns:a16="http://schemas.microsoft.com/office/drawing/2014/main" id="{146AC72A-F98B-4EED-949F-8672303D645B}"/>
              </a:ext>
            </a:extLst>
          </p:cNvPr>
          <p:cNvSpPr>
            <a:spLocks xmlns:a="http://schemas.openxmlformats.org/drawingml/2006/main" noGrp="1"/>
          </p:cNvSpPr>
          <p:nvPr/>
        </p:nvSpPr>
        <p:spPr>
          <a:xfrm xmlns:a="http://schemas.openxmlformats.org/drawingml/2006/main">
            <a:off x="4314825" y="1562100"/>
            <a:ext cx="3562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Matrix + budget</a:t>
            </a:r>
          </a:p>
        </p:txBody>
      </p:sp>
      <p:sp>
        <p:nvSpPr>
          <p:cNvPr id="5" name="">
            <a:extLst xmlns:a="http://schemas.openxmlformats.org/drawingml/2006/main">
              <a:ext uri="{FF2B5EF4-FFF2-40B4-BE49-F238E27FC236}">
                <a16:creationId xmlns:a16="http://schemas.microsoft.com/office/drawing/2014/main" id="{F80D4AC0-ADF8-48FD-B71D-2DF68B2F4C61}"/>
              </a:ext>
            </a:extLst>
          </p:cNvPr>
          <p:cNvSpPr>
            <a:spLocks xmlns:a="http://schemas.openxmlformats.org/drawingml/2006/main" noGrp="1"/>
          </p:cNvSpPr>
          <p:nvPr/>
        </p:nvSpPr>
        <p:spPr>
          <a:xfrm xmlns:a="http://schemas.openxmlformats.org/drawingml/2006/main">
            <a:off x="4314825" y="2000250"/>
            <a:ext cx="3562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q attempted columns</a:t>
            </a:r>
          </a:p>
        </p:txBody>
      </p:sp>
      <p:sp>
        <p:nvSpPr>
          <p:cNvPr id="6" name="">
            <a:extLst xmlns:a="http://schemas.openxmlformats.org/drawingml/2006/main">
              <a:ext uri="{FF2B5EF4-FFF2-40B4-BE49-F238E27FC236}">
                <a16:creationId xmlns:a16="http://schemas.microsoft.com/office/drawing/2014/main" id="{28B05281-28AA-4FEE-AE53-CBFCADDE0A19}"/>
              </a:ext>
            </a:extLst>
          </p:cNvPr>
          <p:cNvSpPr>
            <a:spLocks xmlns:a="http://schemas.openxmlformats.org/drawingml/2006/main" noGrp="1"/>
          </p:cNvSpPr>
          <p:nvPr/>
        </p:nvSpPr>
        <p:spPr>
          <a:xfrm xmlns:a="http://schemas.openxmlformats.org/drawingml/2006/main">
            <a:off x="666750" y="3171825"/>
            <a:ext cx="4572000" cy="1143000"/>
          </a:xfrm>
          <a:prstGeom xmlns:a="http://schemas.openxmlformats.org/drawingml/2006/main" prst="rect">
            <a:avLst/>
          </a:prstGeom>
          <a:solidFill xmlns:a="http://schemas.openxmlformats.org/drawingml/2006/main">
            <a:srgbClr val="EDF4F6"/>
          </a:solidFill>
          <a:ln xmlns:a="http://schemas.openxmlformats.org/drawingml/2006/main" w="12383">
            <a:solidFill>
              <a:srgbClr val="CCD8DE"/>
            </a:solidFill>
          </a:ln>
        </p:spPr>
      </p:sp>
      <p:sp>
        <p:nvSpPr>
          <p:cNvPr id="7" name="">
            <a:extLst xmlns:a="http://schemas.openxmlformats.org/drawingml/2006/main">
              <a:ext uri="{FF2B5EF4-FFF2-40B4-BE49-F238E27FC236}">
                <a16:creationId xmlns:a16="http://schemas.microsoft.com/office/drawing/2014/main" id="{7DF27EA7-84BA-4742-8D7B-C1DD70318C0D}"/>
              </a:ext>
            </a:extLst>
          </p:cNvPr>
          <p:cNvSpPr>
            <a:spLocks xmlns:a="http://schemas.openxmlformats.org/drawingml/2006/main" noGrp="1"/>
          </p:cNvSpPr>
          <p:nvPr/>
        </p:nvSpPr>
        <p:spPr>
          <a:xfrm xmlns:a="http://schemas.openxmlformats.org/drawingml/2006/main">
            <a:off x="838200" y="3295650"/>
            <a:ext cx="422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Ideal spectral model</a:t>
            </a:r>
          </a:p>
        </p:txBody>
      </p:sp>
      <p:sp>
        <p:nvSpPr>
          <p:cNvPr id="8" name="">
            <a:extLst xmlns:a="http://schemas.openxmlformats.org/drawingml/2006/main">
              <a:ext uri="{FF2B5EF4-FFF2-40B4-BE49-F238E27FC236}">
                <a16:creationId xmlns:a16="http://schemas.microsoft.com/office/drawing/2014/main" id="{2643B9B8-D898-49EB-A1C1-5DE36E0E41FC}"/>
              </a:ext>
            </a:extLst>
          </p:cNvPr>
          <p:cNvSpPr>
            <a:spLocks xmlns:a="http://schemas.openxmlformats.org/drawingml/2006/main" noGrp="1"/>
          </p:cNvSpPr>
          <p:nvPr/>
        </p:nvSpPr>
        <p:spPr>
          <a:xfrm xmlns:a="http://schemas.openxmlformats.org/drawingml/2006/main">
            <a:off x="838200" y="3733800"/>
            <a:ext cx="4229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Assume the best r directions</a:t>
            </a:r>
          </a:p>
        </p:txBody>
      </p:sp>
      <p:sp>
        <p:nvSpPr>
          <p:cNvPr id="9" name="">
            <a:extLst xmlns:a="http://schemas.openxmlformats.org/drawingml/2006/main">
              <a:ext uri="{FF2B5EF4-FFF2-40B4-BE49-F238E27FC236}">
                <a16:creationId xmlns:a16="http://schemas.microsoft.com/office/drawing/2014/main" id="{71C02201-B6A0-4BAD-A6AE-4FC6AC048FCF}"/>
              </a:ext>
            </a:extLst>
          </p:cNvPr>
          <p:cNvSpPr>
            <a:spLocks xmlns:a="http://schemas.openxmlformats.org/drawingml/2006/main" noGrp="1"/>
          </p:cNvSpPr>
          <p:nvPr/>
        </p:nvSpPr>
        <p:spPr>
          <a:xfrm xmlns:a="http://schemas.openxmlformats.org/drawingml/2006/main">
            <a:off x="6962775" y="3171825"/>
            <a:ext cx="4572000" cy="1143000"/>
          </a:xfrm>
          <a:prstGeom xmlns:a="http://schemas.openxmlformats.org/drawingml/2006/main" prst="rect">
            <a:avLst/>
          </a:prstGeom>
          <a:solidFill xmlns:a="http://schemas.openxmlformats.org/drawingml/2006/main">
            <a:srgbClr val="EBF4F1"/>
          </a:solidFill>
          <a:ln xmlns:a="http://schemas.openxmlformats.org/drawingml/2006/main" w="12383">
            <a:solidFill>
              <a:srgbClr val="CCD8DE"/>
            </a:solidFill>
          </a:ln>
        </p:spPr>
      </p:sp>
      <p:sp>
        <p:nvSpPr>
          <p:cNvPr id="10" name="">
            <a:extLst xmlns:a="http://schemas.openxmlformats.org/drawingml/2006/main">
              <a:ext uri="{FF2B5EF4-FFF2-40B4-BE49-F238E27FC236}">
                <a16:creationId xmlns:a16="http://schemas.microsoft.com/office/drawing/2014/main" id="{9F8ABAB7-24FB-41DF-8B7D-FCC2E647CD97}"/>
              </a:ext>
            </a:extLst>
          </p:cNvPr>
          <p:cNvSpPr>
            <a:spLocks xmlns:a="http://schemas.openxmlformats.org/drawingml/2006/main" noGrp="1"/>
          </p:cNvSpPr>
          <p:nvPr/>
        </p:nvSpPr>
        <p:spPr>
          <a:xfrm xmlns:a="http://schemas.openxmlformats.org/drawingml/2006/main">
            <a:off x="7134225" y="3295650"/>
            <a:ext cx="4229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Realized basis Q</a:t>
            </a:r>
          </a:p>
        </p:txBody>
      </p:sp>
      <p:sp>
        <p:nvSpPr>
          <p:cNvPr id="11" name="">
            <a:extLst xmlns:a="http://schemas.openxmlformats.org/drawingml/2006/main">
              <a:ext uri="{FF2B5EF4-FFF2-40B4-BE49-F238E27FC236}">
                <a16:creationId xmlns:a16="http://schemas.microsoft.com/office/drawing/2014/main" id="{4E990333-68E5-4872-A0EE-A2B57B28C356}"/>
              </a:ext>
            </a:extLst>
          </p:cNvPr>
          <p:cNvSpPr>
            <a:spLocks xmlns:a="http://schemas.openxmlformats.org/drawingml/2006/main" noGrp="1"/>
          </p:cNvSpPr>
          <p:nvPr/>
        </p:nvSpPr>
        <p:spPr>
          <a:xfrm xmlns:a="http://schemas.openxmlformats.org/drawingml/2006/main">
            <a:off x="7134225" y="3733800"/>
            <a:ext cx="4229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Measure what the sketch captured</a:t>
            </a:r>
          </a:p>
        </p:txBody>
      </p:sp>
      <p:cxnSp>
        <p:nvCxnSpPr>
          <p:cNvPr id="31" name=""/>
          <p:cNvCxnSpPr>
            <a:stCxn xmlns:a="http://schemas.openxmlformats.org/drawingml/2006/main" id="3" idx="2"/>
            <a:endCxn xmlns:a="http://schemas.openxmlformats.org/drawingml/2006/main" id="6" idx="0"/>
          </p:cNvCxnSpPr>
          <p:nvPr/>
        </p:nvCxnSpPr>
        <p:spPr>
          <a:xfrm xmlns:a="http://schemas.openxmlformats.org/drawingml/2006/main" flipH="1">
            <a:off x="2952750" y="2505075"/>
            <a:ext cx="3143250" cy="666750"/>
          </a:xfrm>
          <a:prstGeom xmlns:a="http://schemas.openxmlformats.org/drawingml/2006/main" prst="bentConnector4">
            <a:avLst>
              <a:gd name="adj1" fmla="val 0"/>
              <a:gd name="adj2" fmla="val 50000"/>
            </a:avLst>
          </a:prstGeom>
          <a:ln xmlns:a="http://schemas.openxmlformats.org/drawingml/2006/main" w="23813">
            <a:solidFill>
              <a:srgbClr val="31688E"/>
            </a:solidFill>
            <a:prstDash val="solid"/>
            <a:tailEnd type="triangle" w="sm" len="sm"/>
          </a:ln>
        </p:spPr>
      </p:cxnSp>
      <p:cxnSp>
        <p:nvCxnSpPr>
          <p:cNvPr id="32" name=""/>
          <p:cNvCxnSpPr>
            <a:stCxn xmlns:a="http://schemas.openxmlformats.org/drawingml/2006/main" id="3" idx="2"/>
            <a:endCxn xmlns:a="http://schemas.openxmlformats.org/drawingml/2006/main" id="9" idx="0"/>
          </p:cNvCxnSpPr>
          <p:nvPr/>
        </p:nvCxnSpPr>
        <p:spPr>
          <a:xfrm xmlns:a="http://schemas.openxmlformats.org/drawingml/2006/main">
            <a:off x="6096000" y="2505075"/>
            <a:ext cx="3152775" cy="666750"/>
          </a:xfrm>
          <a:prstGeom xmlns:a="http://schemas.openxmlformats.org/drawingml/2006/main" prst="bentConnector4">
            <a:avLst>
              <a:gd name="adj1" fmla="val 0"/>
              <a:gd name="adj2" fmla="val 50000"/>
            </a:avLst>
          </a:prstGeom>
          <a:ln xmlns:a="http://schemas.openxmlformats.org/drawingml/2006/main" w="23813">
            <a:solidFill>
              <a:srgbClr val="31688E"/>
            </a:solidFill>
            <a:prstDash val="solid"/>
            <a:tailEnd type="triangle" w="sm" len="sm"/>
          </a:ln>
        </p:spPr>
      </p:cxnSp>
      <p:sp>
        <p:nvSpPr>
          <p:cNvPr id="14" name="">
            <a:extLst xmlns:a="http://schemas.openxmlformats.org/drawingml/2006/main">
              <a:ext uri="{FF2B5EF4-FFF2-40B4-BE49-F238E27FC236}">
                <a16:creationId xmlns:a16="http://schemas.microsoft.com/office/drawing/2014/main" id="{4804336A-8616-4E41-84C1-2F40133F0595}"/>
              </a:ext>
            </a:extLst>
          </p:cNvPr>
          <p:cNvSpPr>
            <a:spLocks xmlns:a="http://schemas.openxmlformats.org/drawingml/2006/main" noGrp="1"/>
          </p:cNvSpPr>
          <p:nvPr/>
        </p:nvSpPr>
        <p:spPr>
          <a:xfrm xmlns:a="http://schemas.openxmlformats.org/drawingml/2006/main">
            <a:off x="762000" y="460057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31688E"/>
                </a:solidFill>
                <a:latin typeface="Helvetica Neue"/>
                <a:ea typeface="Helvetica Neue"/>
                <a:cs typeface="Helvetica Neue"/>
              </a:defRPr>
            </a:pPr>
            <a:r>
              <a:rPr sz="2400" b="1">
                <a:solidFill>
                  <a:srgbClr val="31688E"/>
                </a:solidFill>
                <a:latin typeface="Helvetica Neue"/>
                <a:ea typeface="Helvetica Neue"/>
                <a:cs typeface="Helvetica Neue"/>
              </a:rPr>
              <a:t>Tail energy T(r)</a:t>
            </a:r>
          </a:p>
        </p:txBody>
      </p:sp>
      <p:sp>
        <p:nvSpPr>
          <p:cNvPr id="15" name="">
            <a:extLst xmlns:a="http://schemas.openxmlformats.org/drawingml/2006/main">
              <a:ext uri="{FF2B5EF4-FFF2-40B4-BE49-F238E27FC236}">
                <a16:creationId xmlns:a16="http://schemas.microsoft.com/office/drawing/2014/main" id="{F465677F-648C-4336-B186-0CCC808815D8}"/>
              </a:ext>
            </a:extLst>
          </p:cNvPr>
          <p:cNvSpPr>
            <a:spLocks xmlns:a="http://schemas.openxmlformats.org/drawingml/2006/main" noGrp="1"/>
          </p:cNvSpPr>
          <p:nvPr/>
        </p:nvSpPr>
        <p:spPr>
          <a:xfrm xmlns:a="http://schemas.openxmlformats.org/drawingml/2006/main">
            <a:off x="6962775" y="4600575"/>
            <a:ext cx="23241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37847F"/>
                </a:solidFill>
                <a:latin typeface="Helvetica Neue"/>
                <a:ea typeface="Helvetica Neue"/>
                <a:cs typeface="Helvetica Neue"/>
              </a:defRPr>
            </a:pPr>
            <a:r>
              <a:rPr sz="1800" b="1">
                <a:solidFill>
                  <a:srgbClr val="37847F"/>
                </a:solidFill>
                <a:latin typeface="Helvetica Neue"/>
                <a:ea typeface="Helvetica Neue"/>
                <a:cs typeface="Helvetica Neue"/>
              </a:rPr>
              <a:t>Gaussian</a:t>
            </a:r>
          </a:p>
          <a:p xmlns:a="http://schemas.openxmlformats.org/drawingml/2006/main">
            <a:pPr algn="l">
              <a:defRPr sz="1800" b="1">
                <a:solidFill>
                  <a:srgbClr val="37847F"/>
                </a:solidFill>
                <a:latin typeface="Helvetica Neue"/>
                <a:ea typeface="Helvetica Neue"/>
                <a:cs typeface="Helvetica Neue"/>
              </a:defRPr>
            </a:pPr>
            <a:r>
              <a:rPr sz="1800" b="1">
                <a:solidFill>
                  <a:srgbClr val="37847F"/>
                </a:solidFill>
                <a:latin typeface="Helvetica Neue"/>
                <a:ea typeface="Helvetica Neue"/>
                <a:cs typeface="Helvetica Neue"/>
              </a:rPr>
              <a:t>All residual energy</a:t>
            </a:r>
          </a:p>
        </p:txBody>
      </p:sp>
      <p:sp>
        <p:nvSpPr>
          <p:cNvPr id="16" name="">
            <a:extLst xmlns:a="http://schemas.openxmlformats.org/drawingml/2006/main">
              <a:ext uri="{FF2B5EF4-FFF2-40B4-BE49-F238E27FC236}">
                <a16:creationId xmlns:a16="http://schemas.microsoft.com/office/drawing/2014/main" id="{7A6FF57A-839E-46D2-B435-FE1F6C37E3C0}"/>
              </a:ext>
            </a:extLst>
          </p:cNvPr>
          <p:cNvSpPr>
            <a:spLocks xmlns:a="http://schemas.openxmlformats.org/drawingml/2006/main" noGrp="1"/>
          </p:cNvSpPr>
          <p:nvPr/>
        </p:nvSpPr>
        <p:spPr>
          <a:xfrm xmlns:a="http://schemas.openxmlformats.org/drawingml/2006/main">
            <a:off x="9382125" y="4600575"/>
            <a:ext cx="2209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37847F"/>
                </a:solidFill>
                <a:latin typeface="Helvetica Neue"/>
                <a:ea typeface="Helvetica Neue"/>
                <a:cs typeface="Helvetica Neue"/>
              </a:defRPr>
            </a:pPr>
            <a:r>
              <a:rPr sz="1800" b="1">
                <a:solidFill>
                  <a:srgbClr val="37847F"/>
                </a:solidFill>
                <a:latin typeface="Helvetica Neue"/>
                <a:ea typeface="Helvetica Neue"/>
                <a:cs typeface="Helvetica Neue"/>
              </a:rPr>
              <a:t>Rademacher</a:t>
            </a:r>
          </a:p>
          <a:p xmlns:a="http://schemas.openxmlformats.org/drawingml/2006/main">
            <a:pPr algn="l">
              <a:defRPr sz="1800" b="1">
                <a:solidFill>
                  <a:srgbClr val="37847F"/>
                </a:solidFill>
                <a:latin typeface="Helvetica Neue"/>
                <a:ea typeface="Helvetica Neue"/>
                <a:cs typeface="Helvetica Neue"/>
              </a:defRPr>
            </a:pPr>
            <a:r>
              <a:rPr sz="1800" b="1">
                <a:solidFill>
                  <a:srgbClr val="37847F"/>
                </a:solidFill>
                <a:latin typeface="Helvetica Neue"/>
                <a:ea typeface="Helvetica Neue"/>
                <a:cs typeface="Helvetica Neue"/>
              </a:rPr>
              <a:t>Off-diagonal energy</a:t>
            </a:r>
          </a:p>
        </p:txBody>
      </p:sp>
      <p:sp>
        <p:nvSpPr>
          <p:cNvPr id="17" name="">
            <a:extLst xmlns:a="http://schemas.openxmlformats.org/drawingml/2006/main">
              <a:ext uri="{FF2B5EF4-FFF2-40B4-BE49-F238E27FC236}">
                <a16:creationId xmlns:a16="http://schemas.microsoft.com/office/drawing/2014/main" id="{A6FEAF7B-85DC-4EFF-8E24-093AE9E3672E}"/>
              </a:ext>
            </a:extLst>
          </p:cNvPr>
          <p:cNvSpPr>
            <a:spLocks xmlns:a="http://schemas.openxmlformats.org/drawingml/2006/main" noGrp="1"/>
          </p:cNvSpPr>
          <p:nvPr/>
        </p:nvSpPr>
        <p:spPr>
          <a:xfrm xmlns:a="http://schemas.openxmlformats.org/drawingml/2006/main">
            <a:off x="781050" y="5362575"/>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586974"/>
                </a:solidFill>
                <a:latin typeface="Helvetica Neue"/>
                <a:ea typeface="Helvetica Neue"/>
                <a:cs typeface="Helvetica Neue"/>
              </a:defRPr>
            </a:pPr>
            <a:r>
              <a:rPr sz="1725" b="0">
                <a:solidFill>
                  <a:srgbClr val="586974"/>
                </a:solidFill>
                <a:latin typeface="Helvetica Neue"/>
                <a:ea typeface="Helvetica Neue"/>
                <a:cs typeface="Helvetica Neue"/>
              </a:rPr>
              <a:t>Ideal capture assumption</a:t>
            </a:r>
          </a:p>
        </p:txBody>
      </p:sp>
      <p:sp>
        <p:nvSpPr>
          <p:cNvPr id="18" name="">
            <a:extLst xmlns:a="http://schemas.openxmlformats.org/drawingml/2006/main">
              <a:ext uri="{FF2B5EF4-FFF2-40B4-BE49-F238E27FC236}">
                <a16:creationId xmlns:a16="http://schemas.microsoft.com/office/drawing/2014/main" id="{45AEEA43-B491-453D-8827-75F0BD8DCFF9}"/>
              </a:ext>
            </a:extLst>
          </p:cNvPr>
          <p:cNvSpPr>
            <a:spLocks xmlns:a="http://schemas.openxmlformats.org/drawingml/2006/main" noGrp="1"/>
          </p:cNvSpPr>
          <p:nvPr/>
        </p:nvSpPr>
        <p:spPr>
          <a:xfrm xmlns:a="http://schemas.openxmlformats.org/drawingml/2006/main">
            <a:off x="590550" y="6153150"/>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4E9B99B-8346-4DCB-8254-E34C67F9B378}"/>
              </a:ext>
            </a:extLst>
          </p:cNvPr>
          <p:cNvSpPr>
            <a:spLocks xmlns:a="http://schemas.openxmlformats.org/drawingml/2006/main" noGrp="1"/>
          </p:cNvSpPr>
          <p:nvPr/>
        </p:nvSpPr>
        <p:spPr>
          <a:xfrm xmlns:a="http://schemas.openxmlformats.org/drawingml/2006/main">
            <a:off x="590550" y="6267450"/>
            <a:ext cx="10239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Risk = expected squared trace error for a fixed basis. Rademacher probes use independent ±1 entries.</a:t>
            </a:r>
          </a:p>
        </p:txBody>
      </p:sp>
    </p:spTree>
    <p:extLst>
      <p:ext uri="{BB962C8B-B14F-4D97-AF65-F5344CB8AC3E}">
        <p14:creationId xmlns:p14="http://schemas.microsoft.com/office/powerpoint/2010/main" val="12702504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6340FD6-C710-4237-BDA3-1DC91AF9E746}"/>
              </a:ext>
            </a:extLst>
          </p:cNvPr>
          <p:cNvSpPr>
            <a:spLocks xmlns:a="http://schemas.openxmlformats.org/drawingml/2006/main" noGrp="1"/>
          </p:cNvSpPr>
          <p:nvPr/>
        </p:nvSpPr>
        <p:spPr>
          <a:xfrm xmlns:a="http://schemas.openxmlformats.org/drawingml/2006/main">
            <a:off x="571500" y="342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One extra column reduced the recorded mean risk</a:t>
            </a:r>
          </a:p>
        </p:txBody>
      </p:sp>
      <p:sp>
        <p:nvSpPr>
          <p:cNvPr id="2" name="">
            <a:extLst xmlns:a="http://schemas.openxmlformats.org/drawingml/2006/main">
              <a:ext uri="{FF2B5EF4-FFF2-40B4-BE49-F238E27FC236}">
                <a16:creationId xmlns:a16="http://schemas.microsoft.com/office/drawing/2014/main" id="{ED7AF170-2D49-4A7E-A1DE-15AE713355DB}"/>
              </a:ext>
            </a:extLst>
          </p:cNvPr>
          <p:cNvSpPr>
            <a:spLocks xmlns:a="http://schemas.openxmlformats.org/drawingml/2006/main" noGrp="1"/>
          </p:cNvSpPr>
          <p:nvPr/>
        </p:nvSpPr>
        <p:spPr>
          <a:xfrm xmlns:a="http://schemas.openxmlformats.org/drawingml/2006/main">
            <a:off x="590550" y="13144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Near the knee: d = 500, k = 15, η = 10⁻⁶, m = 160; 200 paths.</a:t>
            </a:r>
          </a:p>
        </p:txBody>
      </p:sp>
      <p:sp>
        <p:nvSpPr>
          <p:cNvPr id="3" name="">
            <a:extLst xmlns:a="http://schemas.openxmlformats.org/drawingml/2006/main">
              <a:ext uri="{FF2B5EF4-FFF2-40B4-BE49-F238E27FC236}">
                <a16:creationId xmlns:a16="http://schemas.microsoft.com/office/drawing/2014/main" id="{0BFAC3F4-466E-4099-A4A7-BA9C504B130A}"/>
              </a:ext>
            </a:extLst>
          </p:cNvPr>
          <p:cNvSpPr>
            <a:spLocks xmlns:a="http://schemas.openxmlformats.org/drawingml/2006/main" noGrp="1"/>
          </p:cNvSpPr>
          <p:nvPr/>
        </p:nvSpPr>
        <p:spPr>
          <a:xfrm xmlns:a="http://schemas.openxmlformats.org/drawingml/2006/main">
            <a:off x="11049000" y="639127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04</a:t>
            </a:r>
          </a:p>
        </p:txBody>
      </p:sp>
      <p:graphicFrame>
        <p:nvGraphicFramePr>
          <p:cNvPr id="18" name="Chart"/>
          <p:cNvGraphicFramePr/>
          <p:nvPr/>
        </p:nvGraphicFramePr>
        <p:xfrm>
          <a:off xmlns:a="http://schemas.openxmlformats.org/drawingml/2006/main" x="619125" y="2028825"/>
          <a:ext xmlns:a="http://schemas.openxmlformats.org/drawingml/2006/main" cx="6143625" cy="3333750"/>
        </p:xfrm>
        <a:graphic xmlns:a="http://schemas.openxmlformats.org/drawingml/2006/main">
          <a:graphicData uri="http://schemas.openxmlformats.org/drawingml/2006/chart">
            <c:chart xmlns:r="http://schemas.openxmlformats.org/officeDocument/2006/relationships" xmlns:c="http://schemas.openxmlformats.org/drawingml/2006/chart" r:id="R7866b5f679164a70"/>
          </a:graphicData>
        </a:graphic>
      </p:graphicFrame>
      <p:sp>
        <p:nvSpPr>
          <p:cNvPr id="5" name="">
            <a:extLst xmlns:a="http://schemas.openxmlformats.org/drawingml/2006/main">
              <a:ext uri="{FF2B5EF4-FFF2-40B4-BE49-F238E27FC236}">
                <a16:creationId xmlns:a16="http://schemas.microsoft.com/office/drawing/2014/main" id="{DB5CA387-E4CF-4922-9591-AEE7FE886427}"/>
              </a:ext>
            </a:extLst>
          </p:cNvPr>
          <p:cNvSpPr>
            <a:spLocks xmlns:a="http://schemas.openxmlformats.org/drawingml/2006/main" noGrp="1"/>
          </p:cNvSpPr>
          <p:nvPr/>
        </p:nvSpPr>
        <p:spPr>
          <a:xfrm xmlns:a="http://schemas.openxmlformats.org/drawingml/2006/main">
            <a:off x="7400925" y="2019300"/>
            <a:ext cx="4000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192D3C"/>
                </a:solidFill>
                <a:latin typeface="Helvetica Neue"/>
                <a:ea typeface="Helvetica Neue"/>
                <a:cs typeface="Helvetica Neue"/>
              </a:defRPr>
            </a:pPr>
            <a:r>
              <a:rPr sz="2325" b="1">
                <a:solidFill>
                  <a:srgbClr val="192D3C"/>
                </a:solidFill>
                <a:latin typeface="Helvetica Neue"/>
                <a:ea typeface="Helvetica Neue"/>
                <a:cs typeface="Helvetica Neue"/>
              </a:rPr>
              <a:t>Full accepted rank</a:t>
            </a:r>
          </a:p>
          <a:p xmlns:a="http://schemas.openxmlformats.org/drawingml/2006/main">
            <a:pPr algn="l">
              <a:defRPr sz="2325" b="1">
                <a:solidFill>
                  <a:srgbClr val="192D3C"/>
                </a:solidFill>
                <a:latin typeface="Helvetica Neue"/>
                <a:ea typeface="Helvetica Neue"/>
                <a:cs typeface="Helvetica Neue"/>
              </a:defRPr>
            </a:pPr>
            <a:r>
              <a:rPr sz="2325" b="1">
                <a:solidFill>
                  <a:srgbClr val="192D3C"/>
                </a:solidFill>
                <a:latin typeface="Helvetica Neue"/>
                <a:ea typeface="Helvetica Neue"/>
                <a:cs typeface="Helvetica Neue"/>
              </a:rPr>
              <a:t>at both allocations</a:t>
            </a:r>
          </a:p>
        </p:txBody>
      </p:sp>
      <p:sp>
        <p:nvSpPr>
          <p:cNvPr id="6" name="">
            <a:extLst xmlns:a="http://schemas.openxmlformats.org/drawingml/2006/main">
              <a:ext uri="{FF2B5EF4-FFF2-40B4-BE49-F238E27FC236}">
                <a16:creationId xmlns:a16="http://schemas.microsoft.com/office/drawing/2014/main" id="{4A543E69-DE59-4C96-9BE6-93446B15B36E}"/>
              </a:ext>
            </a:extLst>
          </p:cNvPr>
          <p:cNvSpPr>
            <a:spLocks xmlns:a="http://schemas.openxmlformats.org/drawingml/2006/main" noGrp="1"/>
          </p:cNvSpPr>
          <p:nvPr/>
        </p:nvSpPr>
        <p:spPr>
          <a:xfrm xmlns:a="http://schemas.openxmlformats.org/drawingml/2006/main">
            <a:off x="7334250" y="3286125"/>
            <a:ext cx="4133850" cy="914400"/>
          </a:xfrm>
          <a:prstGeom xmlns:a="http://schemas.openxmlformats.org/drawingml/2006/main" prst="rect">
            <a:avLst/>
          </a:prstGeom>
          <a:solidFill xmlns:a="http://schemas.openxmlformats.org/drawingml/2006/main">
            <a:srgbClr val="FAF1E7"/>
          </a:solidFill>
          <a:ln xmlns:a="http://schemas.openxmlformats.org/drawingml/2006/main" w="12383">
            <a:solidFill>
              <a:srgbClr val="CCD8DE"/>
            </a:solidFill>
          </a:ln>
        </p:spPr>
      </p:sp>
      <p:sp>
        <p:nvSpPr>
          <p:cNvPr id="7" name="">
            <a:extLst xmlns:a="http://schemas.openxmlformats.org/drawingml/2006/main">
              <a:ext uri="{FF2B5EF4-FFF2-40B4-BE49-F238E27FC236}">
                <a16:creationId xmlns:a16="http://schemas.microsoft.com/office/drawing/2014/main" id="{31CD2433-7119-4107-A553-0B3B1BC350A1}"/>
              </a:ext>
            </a:extLst>
          </p:cNvPr>
          <p:cNvSpPr>
            <a:spLocks xmlns:a="http://schemas.openxmlformats.org/drawingml/2006/main" noGrp="1"/>
          </p:cNvSpPr>
          <p:nvPr/>
        </p:nvSpPr>
        <p:spPr>
          <a:xfrm xmlns:a="http://schemas.openxmlformats.org/drawingml/2006/main">
            <a:off x="7505700" y="3409950"/>
            <a:ext cx="3790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No spare column</a:t>
            </a:r>
          </a:p>
        </p:txBody>
      </p:sp>
      <p:sp>
        <p:nvSpPr>
          <p:cNvPr id="8" name="">
            <a:extLst xmlns:a="http://schemas.openxmlformats.org/drawingml/2006/main">
              <a:ext uri="{FF2B5EF4-FFF2-40B4-BE49-F238E27FC236}">
                <a16:creationId xmlns:a16="http://schemas.microsoft.com/office/drawing/2014/main" id="{716197A9-09B3-42E6-9118-A8169E3CB98A}"/>
              </a:ext>
            </a:extLst>
          </p:cNvPr>
          <p:cNvSpPr>
            <a:spLocks xmlns:a="http://schemas.openxmlformats.org/drawingml/2006/main" noGrp="1"/>
          </p:cNvSpPr>
          <p:nvPr/>
        </p:nvSpPr>
        <p:spPr>
          <a:xfrm xmlns:a="http://schemas.openxmlformats.org/drawingml/2006/main">
            <a:off x="7505700" y="3848100"/>
            <a:ext cx="3790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Rare poor conditioning</a:t>
            </a:r>
          </a:p>
        </p:txBody>
      </p:sp>
      <p:sp>
        <p:nvSpPr>
          <p:cNvPr id="9" name="">
            <a:extLst xmlns:a="http://schemas.openxmlformats.org/drawingml/2006/main">
              <a:ext uri="{FF2B5EF4-FFF2-40B4-BE49-F238E27FC236}">
                <a16:creationId xmlns:a16="http://schemas.microsoft.com/office/drawing/2014/main" id="{AF899F26-77F0-4249-818B-7E0A48122731}"/>
              </a:ext>
            </a:extLst>
          </p:cNvPr>
          <p:cNvSpPr>
            <a:spLocks xmlns:a="http://schemas.openxmlformats.org/drawingml/2006/main" noGrp="1"/>
          </p:cNvSpPr>
          <p:nvPr/>
        </p:nvSpPr>
        <p:spPr>
          <a:xfrm xmlns:a="http://schemas.openxmlformats.org/drawingml/2006/main">
            <a:off x="7334250" y="4591050"/>
            <a:ext cx="4133850" cy="914400"/>
          </a:xfrm>
          <a:prstGeom xmlns:a="http://schemas.openxmlformats.org/drawingml/2006/main" prst="rect">
            <a:avLst/>
          </a:prstGeom>
          <a:solidFill xmlns:a="http://schemas.openxmlformats.org/drawingml/2006/main">
            <a:srgbClr val="EBF4F1"/>
          </a:solidFill>
          <a:ln xmlns:a="http://schemas.openxmlformats.org/drawingml/2006/main" w="12383">
            <a:solidFill>
              <a:srgbClr val="CCD8DE"/>
            </a:solidFill>
          </a:ln>
        </p:spPr>
      </p:sp>
      <p:sp>
        <p:nvSpPr>
          <p:cNvPr id="10" name="">
            <a:extLst xmlns:a="http://schemas.openxmlformats.org/drawingml/2006/main">
              <a:ext uri="{FF2B5EF4-FFF2-40B4-BE49-F238E27FC236}">
                <a16:creationId xmlns:a16="http://schemas.microsoft.com/office/drawing/2014/main" id="{AC8C1926-B2C8-4B7D-B25D-0E65F595F0A2}"/>
              </a:ext>
            </a:extLst>
          </p:cNvPr>
          <p:cNvSpPr>
            <a:spLocks xmlns:a="http://schemas.openxmlformats.org/drawingml/2006/main" noGrp="1"/>
          </p:cNvSpPr>
          <p:nvPr/>
        </p:nvSpPr>
        <p:spPr>
          <a:xfrm xmlns:a="http://schemas.openxmlformats.org/drawingml/2006/main">
            <a:off x="7505700" y="4714875"/>
            <a:ext cx="3790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One spare column</a:t>
            </a:r>
          </a:p>
        </p:txBody>
      </p:sp>
      <p:sp>
        <p:nvSpPr>
          <p:cNvPr id="11" name="">
            <a:extLst xmlns:a="http://schemas.openxmlformats.org/drawingml/2006/main">
              <a:ext uri="{FF2B5EF4-FFF2-40B4-BE49-F238E27FC236}">
                <a16:creationId xmlns:a16="http://schemas.microsoft.com/office/drawing/2014/main" id="{5BE870F6-EC09-4ACE-AD60-50BCF6A06C37}"/>
              </a:ext>
            </a:extLst>
          </p:cNvPr>
          <p:cNvSpPr>
            <a:spLocks xmlns:a="http://schemas.openxmlformats.org/drawingml/2006/main" noGrp="1"/>
          </p:cNvSpPr>
          <p:nvPr/>
        </p:nvSpPr>
        <p:spPr>
          <a:xfrm xmlns:a="http://schemas.openxmlformats.org/drawingml/2006/main">
            <a:off x="7505700" y="5153025"/>
            <a:ext cx="37909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Better capture on bad paths</a:t>
            </a:r>
          </a:p>
        </p:txBody>
      </p:sp>
      <p:cxnSp>
        <p:nvCxnSpPr>
          <p:cNvPr id="26" name=""/>
          <p:cNvCxnSpPr>
            <a:stCxn xmlns:a="http://schemas.openxmlformats.org/drawingml/2006/main" id="6" idx="2"/>
            <a:endCxn xmlns:a="http://schemas.openxmlformats.org/drawingml/2006/main" id="9" idx="0"/>
          </p:cNvCxnSpPr>
          <p:nvPr/>
        </p:nvCxnSpPr>
        <p:spPr>
          <a:xfrm xmlns:a="http://schemas.openxmlformats.org/drawingml/2006/main">
            <a:off x="9401175" y="4200525"/>
            <a:ext cx="0" cy="390525"/>
          </a:xfrm>
          <a:prstGeom xmlns:a="http://schemas.openxmlformats.org/drawingml/2006/main" prst="straightConnector1">
            <a:avLst/>
          </a:prstGeom>
          <a:ln xmlns:a="http://schemas.openxmlformats.org/drawingml/2006/main" w="23813">
            <a:solidFill>
              <a:srgbClr val="31688E"/>
            </a:solidFill>
            <a:prstDash val="solid"/>
            <a:tailEnd type="triangle" w="sm" len="sm"/>
          </a:ln>
        </p:spPr>
      </p:cxnSp>
      <p:sp>
        <p:nvSpPr>
          <p:cNvPr id="13" name="">
            <a:extLst xmlns:a="http://schemas.openxmlformats.org/drawingml/2006/main">
              <a:ext uri="{FF2B5EF4-FFF2-40B4-BE49-F238E27FC236}">
                <a16:creationId xmlns:a16="http://schemas.microsoft.com/office/drawing/2014/main" id="{FD62F00D-8208-4175-8F81-81425443AD18}"/>
              </a:ext>
            </a:extLst>
          </p:cNvPr>
          <p:cNvSpPr>
            <a:spLocks xmlns:a="http://schemas.openxmlformats.org/drawingml/2006/main" noGrp="1"/>
          </p:cNvSpPr>
          <p:nvPr/>
        </p:nvSpPr>
        <p:spPr>
          <a:xfrm xmlns:a="http://schemas.openxmlformats.org/drawingml/2006/main">
            <a:off x="590550" y="6153150"/>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DE7E73D-61A8-448A-9131-237D717FF2B5}"/>
              </a:ext>
            </a:extLst>
          </p:cNvPr>
          <p:cNvSpPr>
            <a:spLocks xmlns:a="http://schemas.openxmlformats.org/drawingml/2006/main" noGrp="1"/>
          </p:cNvSpPr>
          <p:nvPr/>
        </p:nvSpPr>
        <p:spPr>
          <a:xfrm xmlns:a="http://schemas.openxmlformats.org/drawingml/2006/main">
            <a:off x="590550" y="6267450"/>
            <a:ext cx="10239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Finite empirical means. Medians often favored k; sensitivity runs did not give a universal +1 optimum.</a:t>
            </a:r>
          </a:p>
        </p:txBody>
      </p:sp>
    </p:spTree>
    <p:extLst>
      <p:ext uri="{BB962C8B-B14F-4D97-AF65-F5344CB8AC3E}">
        <p14:creationId xmlns:p14="http://schemas.microsoft.com/office/powerpoint/2010/main" val="18133107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76669B66-AD5D-49D2-9D6A-1164269725FB}"/>
              </a:ext>
            </a:extLst>
          </p:cNvPr>
          <p:cNvSpPr>
            <a:spLocks xmlns:a="http://schemas.openxmlformats.org/drawingml/2006/main" noGrp="1"/>
          </p:cNvSpPr>
          <p:nvPr/>
        </p:nvSpPr>
        <p:spPr>
          <a:xfrm xmlns:a="http://schemas.openxmlformats.org/drawingml/2006/main">
            <a:off x="571500" y="342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A sharp pilot gap can miss a leading direction</a:t>
            </a:r>
          </a:p>
        </p:txBody>
      </p:sp>
      <p:sp>
        <p:nvSpPr>
          <p:cNvPr id="2" name="">
            <a:extLst xmlns:a="http://schemas.openxmlformats.org/drawingml/2006/main">
              <a:ext uri="{FF2B5EF4-FFF2-40B4-BE49-F238E27FC236}">
                <a16:creationId xmlns:a16="http://schemas.microsoft.com/office/drawing/2014/main" id="{3D59C852-081F-499C-8CAD-87335F967CBB}"/>
              </a:ext>
            </a:extLst>
          </p:cNvPr>
          <p:cNvSpPr>
            <a:spLocks xmlns:a="http://schemas.openxmlformats.org/drawingml/2006/main" noGrp="1"/>
          </p:cNvSpPr>
          <p:nvPr/>
        </p:nvSpPr>
        <p:spPr>
          <a:xfrm xmlns:a="http://schemas.openxmlformats.org/drawingml/2006/main">
            <a:off x="590550" y="13144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Coordinate step matrix: d = 100, k = 5, η = 0.001.</a:t>
            </a:r>
          </a:p>
        </p:txBody>
      </p:sp>
      <p:sp>
        <p:nvSpPr>
          <p:cNvPr id="3" name="">
            <a:extLst xmlns:a="http://schemas.openxmlformats.org/drawingml/2006/main">
              <a:ext uri="{FF2B5EF4-FFF2-40B4-BE49-F238E27FC236}">
                <a16:creationId xmlns:a16="http://schemas.microsoft.com/office/drawing/2014/main" id="{AD931386-AB1F-4905-B233-88816A4060B6}"/>
              </a:ext>
            </a:extLst>
          </p:cNvPr>
          <p:cNvSpPr>
            <a:spLocks xmlns:a="http://schemas.openxmlformats.org/drawingml/2006/main" noGrp="1"/>
          </p:cNvSpPr>
          <p:nvPr/>
        </p:nvSpPr>
        <p:spPr>
          <a:xfrm xmlns:a="http://schemas.openxmlformats.org/drawingml/2006/main">
            <a:off x="11049000" y="639127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9D5DA62E-FAF7-41D9-B9A8-A9D25B5A6D08}"/>
              </a:ext>
            </a:extLst>
          </p:cNvPr>
          <p:cNvSpPr>
            <a:spLocks xmlns:a="http://schemas.openxmlformats.org/drawingml/2006/main" noGrp="1"/>
          </p:cNvSpPr>
          <p:nvPr/>
        </p:nvSpPr>
        <p:spPr>
          <a:xfrm xmlns:a="http://schemas.openxmlformats.org/drawingml/2006/main">
            <a:off x="619125" y="1962150"/>
            <a:ext cx="7524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Two signal rows in the failing sketch</a:t>
            </a:r>
          </a:p>
        </p:txBody>
      </p:sp>
      <p:sp>
        <p:nvSpPr>
          <p:cNvPr id="5" name="">
            <a:extLst xmlns:a="http://schemas.openxmlformats.org/drawingml/2006/main">
              <a:ext uri="{FF2B5EF4-FFF2-40B4-BE49-F238E27FC236}">
                <a16:creationId xmlns:a16="http://schemas.microsoft.com/office/drawing/2014/main" id="{352795F0-6A97-4FAA-AA2A-A8A3890C8844}"/>
              </a:ext>
            </a:extLst>
          </p:cNvPr>
          <p:cNvSpPr>
            <a:spLocks xmlns:a="http://schemas.openxmlformats.org/drawingml/2006/main" noGrp="1"/>
          </p:cNvSpPr>
          <p:nvPr/>
        </p:nvSpPr>
        <p:spPr>
          <a:xfrm xmlns:a="http://schemas.openxmlformats.org/drawingml/2006/main">
            <a:off x="619125" y="2638425"/>
            <a:ext cx="1000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Row 3</a:t>
            </a:r>
          </a:p>
        </p:txBody>
      </p:sp>
      <p:sp>
        <p:nvSpPr>
          <p:cNvPr id="6" name="">
            <a:extLst xmlns:a="http://schemas.openxmlformats.org/drawingml/2006/main">
              <a:ext uri="{FF2B5EF4-FFF2-40B4-BE49-F238E27FC236}">
                <a16:creationId xmlns:a16="http://schemas.microsoft.com/office/drawing/2014/main" id="{2106D487-4B0D-468C-91B8-FB8738C2CF73}"/>
              </a:ext>
            </a:extLst>
          </p:cNvPr>
          <p:cNvSpPr>
            <a:spLocks xmlns:a="http://schemas.openxmlformats.org/drawingml/2006/main" noGrp="1"/>
          </p:cNvSpPr>
          <p:nvPr/>
        </p:nvSpPr>
        <p:spPr>
          <a:xfrm xmlns:a="http://schemas.openxmlformats.org/drawingml/2006/main">
            <a:off x="1743075" y="2581275"/>
            <a:ext cx="619125" cy="55245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ED473D6-BB34-4E68-BCB4-F3A47146BAD1}"/>
              </a:ext>
            </a:extLst>
          </p:cNvPr>
          <p:cNvSpPr>
            <a:spLocks xmlns:a="http://schemas.openxmlformats.org/drawingml/2006/main" noGrp="1"/>
          </p:cNvSpPr>
          <p:nvPr/>
        </p:nvSpPr>
        <p:spPr>
          <a:xfrm xmlns:a="http://schemas.openxmlformats.org/drawingml/2006/main">
            <a:off x="1743075" y="2647950"/>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31688E"/>
                </a:solidFill>
                <a:latin typeface="Helvetica Neue"/>
                <a:ea typeface="Helvetica Neue"/>
                <a:cs typeface="Helvetica Neue"/>
              </a:defRPr>
            </a:pPr>
            <a:r>
              <a:rPr sz="2025" b="1">
                <a:solidFill>
                  <a:srgbClr val="31688E"/>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C7178B21-F4BA-43C4-AF07-7243ABF32A99}"/>
              </a:ext>
            </a:extLst>
          </p:cNvPr>
          <p:cNvSpPr>
            <a:spLocks xmlns:a="http://schemas.openxmlformats.org/drawingml/2006/main" noGrp="1"/>
          </p:cNvSpPr>
          <p:nvPr/>
        </p:nvSpPr>
        <p:spPr>
          <a:xfrm xmlns:a="http://schemas.openxmlformats.org/drawingml/2006/main">
            <a:off x="2447925" y="2581275"/>
            <a:ext cx="619125" cy="55245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B55157B-9892-466E-AFBB-952367EEE7C2}"/>
              </a:ext>
            </a:extLst>
          </p:cNvPr>
          <p:cNvSpPr>
            <a:spLocks xmlns:a="http://schemas.openxmlformats.org/drawingml/2006/main" noGrp="1"/>
          </p:cNvSpPr>
          <p:nvPr/>
        </p:nvSpPr>
        <p:spPr>
          <a:xfrm xmlns:a="http://schemas.openxmlformats.org/drawingml/2006/main">
            <a:off x="2447925" y="2647950"/>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31688E"/>
                </a:solidFill>
                <a:latin typeface="Helvetica Neue"/>
                <a:ea typeface="Helvetica Neue"/>
                <a:cs typeface="Helvetica Neue"/>
              </a:defRPr>
            </a:pPr>
            <a:r>
              <a:rPr sz="2025" b="1">
                <a:solidFill>
                  <a:srgbClr val="31688E"/>
                </a:solidFill>
                <a:latin typeface="Helvetica Neue"/>
                <a:ea typeface="Helvetica Neue"/>
                <a:cs typeface="Helvetica Neue"/>
              </a:rPr>
              <a:t>+1</a:t>
            </a:r>
          </a:p>
        </p:txBody>
      </p:sp>
      <p:sp>
        <p:nvSpPr>
          <p:cNvPr id="10" name="">
            <a:extLst xmlns:a="http://schemas.openxmlformats.org/drawingml/2006/main">
              <a:ext uri="{FF2B5EF4-FFF2-40B4-BE49-F238E27FC236}">
                <a16:creationId xmlns:a16="http://schemas.microsoft.com/office/drawing/2014/main" id="{6CF5F6EE-D619-4AD7-8E04-12E43789D9A3}"/>
              </a:ext>
            </a:extLst>
          </p:cNvPr>
          <p:cNvSpPr>
            <a:spLocks xmlns:a="http://schemas.openxmlformats.org/drawingml/2006/main" noGrp="1"/>
          </p:cNvSpPr>
          <p:nvPr/>
        </p:nvSpPr>
        <p:spPr>
          <a:xfrm xmlns:a="http://schemas.openxmlformats.org/drawingml/2006/main">
            <a:off x="3152775" y="2581275"/>
            <a:ext cx="619125" cy="552450"/>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4032440A-8982-4FB7-BA4B-96A5A3598F58}"/>
              </a:ext>
            </a:extLst>
          </p:cNvPr>
          <p:cNvSpPr>
            <a:spLocks xmlns:a="http://schemas.openxmlformats.org/drawingml/2006/main" noGrp="1"/>
          </p:cNvSpPr>
          <p:nvPr/>
        </p:nvSpPr>
        <p:spPr>
          <a:xfrm xmlns:a="http://schemas.openxmlformats.org/drawingml/2006/main">
            <a:off x="3152775" y="2647950"/>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BC702D"/>
                </a:solidFill>
                <a:latin typeface="Helvetica Neue"/>
                <a:ea typeface="Helvetica Neue"/>
                <a:cs typeface="Helvetica Neue"/>
              </a:defRPr>
            </a:pPr>
            <a:r>
              <a:rPr sz="2025" b="1">
                <a:solidFill>
                  <a:srgbClr val="BC702D"/>
                </a:solidFill>
                <a:latin typeface="Helvetica Neue"/>
                <a:ea typeface="Helvetica Neue"/>
                <a:cs typeface="Helvetica Neue"/>
              </a:rPr>
              <a:t>−1</a:t>
            </a:r>
          </a:p>
        </p:txBody>
      </p:sp>
      <p:sp>
        <p:nvSpPr>
          <p:cNvPr id="12" name="">
            <a:extLst xmlns:a="http://schemas.openxmlformats.org/drawingml/2006/main">
              <a:ext uri="{FF2B5EF4-FFF2-40B4-BE49-F238E27FC236}">
                <a16:creationId xmlns:a16="http://schemas.microsoft.com/office/drawing/2014/main" id="{97B5FA7E-1286-4AB4-A757-11F1FBCADDAB}"/>
              </a:ext>
            </a:extLst>
          </p:cNvPr>
          <p:cNvSpPr>
            <a:spLocks xmlns:a="http://schemas.openxmlformats.org/drawingml/2006/main" noGrp="1"/>
          </p:cNvSpPr>
          <p:nvPr/>
        </p:nvSpPr>
        <p:spPr>
          <a:xfrm xmlns:a="http://schemas.openxmlformats.org/drawingml/2006/main">
            <a:off x="3857625" y="2581275"/>
            <a:ext cx="619125" cy="552450"/>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453B55F-0D3D-4C2C-A7C0-8A4E50E439C3}"/>
              </a:ext>
            </a:extLst>
          </p:cNvPr>
          <p:cNvSpPr>
            <a:spLocks xmlns:a="http://schemas.openxmlformats.org/drawingml/2006/main" noGrp="1"/>
          </p:cNvSpPr>
          <p:nvPr/>
        </p:nvSpPr>
        <p:spPr>
          <a:xfrm xmlns:a="http://schemas.openxmlformats.org/drawingml/2006/main">
            <a:off x="3857625" y="2647950"/>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BC702D"/>
                </a:solidFill>
                <a:latin typeface="Helvetica Neue"/>
                <a:ea typeface="Helvetica Neue"/>
                <a:cs typeface="Helvetica Neue"/>
              </a:defRPr>
            </a:pPr>
            <a:r>
              <a:rPr sz="2025" b="1">
                <a:solidFill>
                  <a:srgbClr val="BC702D"/>
                </a:solidFill>
                <a:latin typeface="Helvetica Neue"/>
                <a:ea typeface="Helvetica Neue"/>
                <a:cs typeface="Helvetica Neue"/>
              </a:rPr>
              <a:t>−1</a:t>
            </a:r>
          </a:p>
        </p:txBody>
      </p:sp>
      <p:sp>
        <p:nvSpPr>
          <p:cNvPr id="14" name="">
            <a:extLst xmlns:a="http://schemas.openxmlformats.org/drawingml/2006/main">
              <a:ext uri="{FF2B5EF4-FFF2-40B4-BE49-F238E27FC236}">
                <a16:creationId xmlns:a16="http://schemas.microsoft.com/office/drawing/2014/main" id="{D08EA47E-74F7-4F5C-8816-FCE0286F9CDF}"/>
              </a:ext>
            </a:extLst>
          </p:cNvPr>
          <p:cNvSpPr>
            <a:spLocks xmlns:a="http://schemas.openxmlformats.org/drawingml/2006/main" noGrp="1"/>
          </p:cNvSpPr>
          <p:nvPr/>
        </p:nvSpPr>
        <p:spPr>
          <a:xfrm xmlns:a="http://schemas.openxmlformats.org/drawingml/2006/main">
            <a:off x="4562475" y="2581275"/>
            <a:ext cx="619125" cy="55245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14AB7C3A-F1F6-47F0-97AC-C6CE436955A4}"/>
              </a:ext>
            </a:extLst>
          </p:cNvPr>
          <p:cNvSpPr>
            <a:spLocks xmlns:a="http://schemas.openxmlformats.org/drawingml/2006/main" noGrp="1"/>
          </p:cNvSpPr>
          <p:nvPr/>
        </p:nvSpPr>
        <p:spPr>
          <a:xfrm xmlns:a="http://schemas.openxmlformats.org/drawingml/2006/main">
            <a:off x="4562475" y="2647950"/>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31688E"/>
                </a:solidFill>
                <a:latin typeface="Helvetica Neue"/>
                <a:ea typeface="Helvetica Neue"/>
                <a:cs typeface="Helvetica Neue"/>
              </a:defRPr>
            </a:pPr>
            <a:r>
              <a:rPr sz="2025" b="1">
                <a:solidFill>
                  <a:srgbClr val="31688E"/>
                </a:solidFill>
                <a:latin typeface="Helvetica Neue"/>
                <a:ea typeface="Helvetica Neue"/>
                <a:cs typeface="Helvetica Neue"/>
              </a:rPr>
              <a:t>+1</a:t>
            </a:r>
          </a:p>
        </p:txBody>
      </p:sp>
      <p:sp>
        <p:nvSpPr>
          <p:cNvPr id="16" name="">
            <a:extLst xmlns:a="http://schemas.openxmlformats.org/drawingml/2006/main">
              <a:ext uri="{FF2B5EF4-FFF2-40B4-BE49-F238E27FC236}">
                <a16:creationId xmlns:a16="http://schemas.microsoft.com/office/drawing/2014/main" id="{E3469357-5C0F-442C-B738-ECBBB3E9A9EA}"/>
              </a:ext>
            </a:extLst>
          </p:cNvPr>
          <p:cNvSpPr>
            <a:spLocks xmlns:a="http://schemas.openxmlformats.org/drawingml/2006/main" noGrp="1"/>
          </p:cNvSpPr>
          <p:nvPr/>
        </p:nvSpPr>
        <p:spPr>
          <a:xfrm xmlns:a="http://schemas.openxmlformats.org/drawingml/2006/main">
            <a:off x="5267325" y="2581275"/>
            <a:ext cx="619125" cy="55245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29DFB3F-6B3E-4285-B69E-62A19B7B1B1E}"/>
              </a:ext>
            </a:extLst>
          </p:cNvPr>
          <p:cNvSpPr>
            <a:spLocks xmlns:a="http://schemas.openxmlformats.org/drawingml/2006/main" noGrp="1"/>
          </p:cNvSpPr>
          <p:nvPr/>
        </p:nvSpPr>
        <p:spPr>
          <a:xfrm xmlns:a="http://schemas.openxmlformats.org/drawingml/2006/main">
            <a:off x="5267325" y="2647950"/>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31688E"/>
                </a:solidFill>
                <a:latin typeface="Helvetica Neue"/>
                <a:ea typeface="Helvetica Neue"/>
                <a:cs typeface="Helvetica Neue"/>
              </a:defRPr>
            </a:pPr>
            <a:r>
              <a:rPr sz="2025" b="1">
                <a:solidFill>
                  <a:srgbClr val="31688E"/>
                </a:solidFill>
                <a:latin typeface="Helvetica Neue"/>
                <a:ea typeface="Helvetica Neue"/>
                <a:cs typeface="Helvetica Neue"/>
              </a:rPr>
              <a:t>+1</a:t>
            </a:r>
          </a:p>
        </p:txBody>
      </p:sp>
      <p:sp>
        <p:nvSpPr>
          <p:cNvPr id="18" name="">
            <a:extLst xmlns:a="http://schemas.openxmlformats.org/drawingml/2006/main">
              <a:ext uri="{FF2B5EF4-FFF2-40B4-BE49-F238E27FC236}">
                <a16:creationId xmlns:a16="http://schemas.microsoft.com/office/drawing/2014/main" id="{B3EA22E1-9921-4319-BC60-525A240F4FF4}"/>
              </a:ext>
            </a:extLst>
          </p:cNvPr>
          <p:cNvSpPr>
            <a:spLocks xmlns:a="http://schemas.openxmlformats.org/drawingml/2006/main" noGrp="1"/>
          </p:cNvSpPr>
          <p:nvPr/>
        </p:nvSpPr>
        <p:spPr>
          <a:xfrm xmlns:a="http://schemas.openxmlformats.org/drawingml/2006/main">
            <a:off x="5972175" y="2581275"/>
            <a:ext cx="619125" cy="552450"/>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FD11597-816B-470D-A499-B97E7B152E5A}"/>
              </a:ext>
            </a:extLst>
          </p:cNvPr>
          <p:cNvSpPr>
            <a:spLocks xmlns:a="http://schemas.openxmlformats.org/drawingml/2006/main" noGrp="1"/>
          </p:cNvSpPr>
          <p:nvPr/>
        </p:nvSpPr>
        <p:spPr>
          <a:xfrm xmlns:a="http://schemas.openxmlformats.org/drawingml/2006/main">
            <a:off x="5972175" y="2647950"/>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BC702D"/>
                </a:solidFill>
                <a:latin typeface="Helvetica Neue"/>
                <a:ea typeface="Helvetica Neue"/>
                <a:cs typeface="Helvetica Neue"/>
              </a:defRPr>
            </a:pPr>
            <a:r>
              <a:rPr sz="2025" b="1">
                <a:solidFill>
                  <a:srgbClr val="BC702D"/>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FA3364CF-F8F3-465D-A54F-3BB88AA72841}"/>
              </a:ext>
            </a:extLst>
          </p:cNvPr>
          <p:cNvSpPr>
            <a:spLocks xmlns:a="http://schemas.openxmlformats.org/drawingml/2006/main" noGrp="1"/>
          </p:cNvSpPr>
          <p:nvPr/>
        </p:nvSpPr>
        <p:spPr>
          <a:xfrm xmlns:a="http://schemas.openxmlformats.org/drawingml/2006/main">
            <a:off x="6677025" y="2581275"/>
            <a:ext cx="619125" cy="552450"/>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024C153-21B1-4739-B733-BC171437CB5F}"/>
              </a:ext>
            </a:extLst>
          </p:cNvPr>
          <p:cNvSpPr>
            <a:spLocks xmlns:a="http://schemas.openxmlformats.org/drawingml/2006/main" noGrp="1"/>
          </p:cNvSpPr>
          <p:nvPr/>
        </p:nvSpPr>
        <p:spPr>
          <a:xfrm xmlns:a="http://schemas.openxmlformats.org/drawingml/2006/main">
            <a:off x="6677025" y="2647950"/>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BC702D"/>
                </a:solidFill>
                <a:latin typeface="Helvetica Neue"/>
                <a:ea typeface="Helvetica Neue"/>
                <a:cs typeface="Helvetica Neue"/>
              </a:defRPr>
            </a:pPr>
            <a:r>
              <a:rPr sz="2025" b="1">
                <a:solidFill>
                  <a:srgbClr val="BC702D"/>
                </a:solidFill>
                <a:latin typeface="Helvetica Neue"/>
                <a:ea typeface="Helvetica Neue"/>
                <a:cs typeface="Helvetica Neue"/>
              </a:rPr>
              <a:t>−1</a:t>
            </a:r>
          </a:p>
        </p:txBody>
      </p:sp>
      <p:sp>
        <p:nvSpPr>
          <p:cNvPr id="22" name="">
            <a:extLst xmlns:a="http://schemas.openxmlformats.org/drawingml/2006/main">
              <a:ext uri="{FF2B5EF4-FFF2-40B4-BE49-F238E27FC236}">
                <a16:creationId xmlns:a16="http://schemas.microsoft.com/office/drawing/2014/main" id="{D40D102D-F271-450F-9978-548BE30AA1B4}"/>
              </a:ext>
            </a:extLst>
          </p:cNvPr>
          <p:cNvSpPr>
            <a:spLocks xmlns:a="http://schemas.openxmlformats.org/drawingml/2006/main" noGrp="1"/>
          </p:cNvSpPr>
          <p:nvPr/>
        </p:nvSpPr>
        <p:spPr>
          <a:xfrm xmlns:a="http://schemas.openxmlformats.org/drawingml/2006/main">
            <a:off x="619125" y="3333750"/>
            <a:ext cx="1000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Row 4</a:t>
            </a:r>
          </a:p>
        </p:txBody>
      </p:sp>
      <p:sp>
        <p:nvSpPr>
          <p:cNvPr id="23" name="">
            <a:extLst xmlns:a="http://schemas.openxmlformats.org/drawingml/2006/main">
              <a:ext uri="{FF2B5EF4-FFF2-40B4-BE49-F238E27FC236}">
                <a16:creationId xmlns:a16="http://schemas.microsoft.com/office/drawing/2014/main" id="{69C69EFF-A3C4-44FE-9FFB-CDEC12310B85}"/>
              </a:ext>
            </a:extLst>
          </p:cNvPr>
          <p:cNvSpPr>
            <a:spLocks xmlns:a="http://schemas.openxmlformats.org/drawingml/2006/main" noGrp="1"/>
          </p:cNvSpPr>
          <p:nvPr/>
        </p:nvSpPr>
        <p:spPr>
          <a:xfrm xmlns:a="http://schemas.openxmlformats.org/drawingml/2006/main">
            <a:off x="1743075" y="3276600"/>
            <a:ext cx="619125" cy="552450"/>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21BA3C4-C025-4F13-86EF-B12B6F33F1E1}"/>
              </a:ext>
            </a:extLst>
          </p:cNvPr>
          <p:cNvSpPr>
            <a:spLocks xmlns:a="http://schemas.openxmlformats.org/drawingml/2006/main" noGrp="1"/>
          </p:cNvSpPr>
          <p:nvPr/>
        </p:nvSpPr>
        <p:spPr>
          <a:xfrm xmlns:a="http://schemas.openxmlformats.org/drawingml/2006/main">
            <a:off x="1743075" y="33432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BC702D"/>
                </a:solidFill>
                <a:latin typeface="Helvetica Neue"/>
                <a:ea typeface="Helvetica Neue"/>
                <a:cs typeface="Helvetica Neue"/>
              </a:defRPr>
            </a:pPr>
            <a:r>
              <a:rPr sz="2025" b="1">
                <a:solidFill>
                  <a:srgbClr val="BC702D"/>
                </a:solidFill>
                <a:latin typeface="Helvetica Neue"/>
                <a:ea typeface="Helvetica Neue"/>
                <a:cs typeface="Helvetica Neue"/>
              </a:rPr>
              <a:t>−1</a:t>
            </a:r>
          </a:p>
        </p:txBody>
      </p:sp>
      <p:sp>
        <p:nvSpPr>
          <p:cNvPr id="25" name="">
            <a:extLst xmlns:a="http://schemas.openxmlformats.org/drawingml/2006/main">
              <a:ext uri="{FF2B5EF4-FFF2-40B4-BE49-F238E27FC236}">
                <a16:creationId xmlns:a16="http://schemas.microsoft.com/office/drawing/2014/main" id="{040FD525-FF86-4FE3-90E2-5B519548841F}"/>
              </a:ext>
            </a:extLst>
          </p:cNvPr>
          <p:cNvSpPr>
            <a:spLocks xmlns:a="http://schemas.openxmlformats.org/drawingml/2006/main" noGrp="1"/>
          </p:cNvSpPr>
          <p:nvPr/>
        </p:nvSpPr>
        <p:spPr>
          <a:xfrm xmlns:a="http://schemas.openxmlformats.org/drawingml/2006/main">
            <a:off x="2447925" y="3276600"/>
            <a:ext cx="619125" cy="552450"/>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C125B346-93D4-43A2-9B53-828ED4C1179A}"/>
              </a:ext>
            </a:extLst>
          </p:cNvPr>
          <p:cNvSpPr>
            <a:spLocks xmlns:a="http://schemas.openxmlformats.org/drawingml/2006/main" noGrp="1"/>
          </p:cNvSpPr>
          <p:nvPr/>
        </p:nvSpPr>
        <p:spPr>
          <a:xfrm xmlns:a="http://schemas.openxmlformats.org/drawingml/2006/main">
            <a:off x="2447925" y="33432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BC702D"/>
                </a:solidFill>
                <a:latin typeface="Helvetica Neue"/>
                <a:ea typeface="Helvetica Neue"/>
                <a:cs typeface="Helvetica Neue"/>
              </a:defRPr>
            </a:pPr>
            <a:r>
              <a:rPr sz="2025" b="1">
                <a:solidFill>
                  <a:srgbClr val="BC702D"/>
                </a:solidFill>
                <a:latin typeface="Helvetica Neue"/>
                <a:ea typeface="Helvetica Neue"/>
                <a:cs typeface="Helvetica Neue"/>
              </a:rPr>
              <a:t>−1</a:t>
            </a:r>
          </a:p>
        </p:txBody>
      </p:sp>
      <p:sp>
        <p:nvSpPr>
          <p:cNvPr id="27" name="">
            <a:extLst xmlns:a="http://schemas.openxmlformats.org/drawingml/2006/main">
              <a:ext uri="{FF2B5EF4-FFF2-40B4-BE49-F238E27FC236}">
                <a16:creationId xmlns:a16="http://schemas.microsoft.com/office/drawing/2014/main" id="{F1AEABAE-5B39-4458-ADE4-F433CCDE1F52}"/>
              </a:ext>
            </a:extLst>
          </p:cNvPr>
          <p:cNvSpPr>
            <a:spLocks xmlns:a="http://schemas.openxmlformats.org/drawingml/2006/main" noGrp="1"/>
          </p:cNvSpPr>
          <p:nvPr/>
        </p:nvSpPr>
        <p:spPr>
          <a:xfrm xmlns:a="http://schemas.openxmlformats.org/drawingml/2006/main">
            <a:off x="3152775" y="3276600"/>
            <a:ext cx="619125" cy="55245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49A1791-D2E3-44F2-93E5-8DF66489A9BD}"/>
              </a:ext>
            </a:extLst>
          </p:cNvPr>
          <p:cNvSpPr>
            <a:spLocks xmlns:a="http://schemas.openxmlformats.org/drawingml/2006/main" noGrp="1"/>
          </p:cNvSpPr>
          <p:nvPr/>
        </p:nvSpPr>
        <p:spPr>
          <a:xfrm xmlns:a="http://schemas.openxmlformats.org/drawingml/2006/main">
            <a:off x="3152775" y="33432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31688E"/>
                </a:solidFill>
                <a:latin typeface="Helvetica Neue"/>
                <a:ea typeface="Helvetica Neue"/>
                <a:cs typeface="Helvetica Neue"/>
              </a:defRPr>
            </a:pPr>
            <a:r>
              <a:rPr sz="2025" b="1">
                <a:solidFill>
                  <a:srgbClr val="31688E"/>
                </a:solidFill>
                <a:latin typeface="Helvetica Neue"/>
                <a:ea typeface="Helvetica Neue"/>
                <a:cs typeface="Helvetica Neue"/>
              </a:rPr>
              <a:t>+1</a:t>
            </a:r>
          </a:p>
        </p:txBody>
      </p:sp>
      <p:sp>
        <p:nvSpPr>
          <p:cNvPr id="29" name="">
            <a:extLst xmlns:a="http://schemas.openxmlformats.org/drawingml/2006/main">
              <a:ext uri="{FF2B5EF4-FFF2-40B4-BE49-F238E27FC236}">
                <a16:creationId xmlns:a16="http://schemas.microsoft.com/office/drawing/2014/main" id="{36013BF7-6254-413D-9948-501DD7A28CD0}"/>
              </a:ext>
            </a:extLst>
          </p:cNvPr>
          <p:cNvSpPr>
            <a:spLocks xmlns:a="http://schemas.openxmlformats.org/drawingml/2006/main" noGrp="1"/>
          </p:cNvSpPr>
          <p:nvPr/>
        </p:nvSpPr>
        <p:spPr>
          <a:xfrm xmlns:a="http://schemas.openxmlformats.org/drawingml/2006/main">
            <a:off x="3857625" y="3276600"/>
            <a:ext cx="619125" cy="55245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EA0B8191-9DD9-4EA3-896E-6ADEF671FDAA}"/>
              </a:ext>
            </a:extLst>
          </p:cNvPr>
          <p:cNvSpPr>
            <a:spLocks xmlns:a="http://schemas.openxmlformats.org/drawingml/2006/main" noGrp="1"/>
          </p:cNvSpPr>
          <p:nvPr/>
        </p:nvSpPr>
        <p:spPr>
          <a:xfrm xmlns:a="http://schemas.openxmlformats.org/drawingml/2006/main">
            <a:off x="3857625" y="33432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31688E"/>
                </a:solidFill>
                <a:latin typeface="Helvetica Neue"/>
                <a:ea typeface="Helvetica Neue"/>
                <a:cs typeface="Helvetica Neue"/>
              </a:defRPr>
            </a:pPr>
            <a:r>
              <a:rPr sz="2025" b="1">
                <a:solidFill>
                  <a:srgbClr val="31688E"/>
                </a:solidFill>
                <a:latin typeface="Helvetica Neue"/>
                <a:ea typeface="Helvetica Neue"/>
                <a:cs typeface="Helvetica Neue"/>
              </a:rPr>
              <a:t>+1</a:t>
            </a:r>
          </a:p>
        </p:txBody>
      </p:sp>
      <p:sp>
        <p:nvSpPr>
          <p:cNvPr id="31" name="">
            <a:extLst xmlns:a="http://schemas.openxmlformats.org/drawingml/2006/main">
              <a:ext uri="{FF2B5EF4-FFF2-40B4-BE49-F238E27FC236}">
                <a16:creationId xmlns:a16="http://schemas.microsoft.com/office/drawing/2014/main" id="{D0F2F75B-7B43-4E27-891B-7CFCAC450226}"/>
              </a:ext>
            </a:extLst>
          </p:cNvPr>
          <p:cNvSpPr>
            <a:spLocks xmlns:a="http://schemas.openxmlformats.org/drawingml/2006/main" noGrp="1"/>
          </p:cNvSpPr>
          <p:nvPr/>
        </p:nvSpPr>
        <p:spPr>
          <a:xfrm xmlns:a="http://schemas.openxmlformats.org/drawingml/2006/main">
            <a:off x="4562475" y="3276600"/>
            <a:ext cx="619125" cy="552450"/>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CD054174-EE77-4831-A286-7D352DC00E02}"/>
              </a:ext>
            </a:extLst>
          </p:cNvPr>
          <p:cNvSpPr>
            <a:spLocks xmlns:a="http://schemas.openxmlformats.org/drawingml/2006/main" noGrp="1"/>
          </p:cNvSpPr>
          <p:nvPr/>
        </p:nvSpPr>
        <p:spPr>
          <a:xfrm xmlns:a="http://schemas.openxmlformats.org/drawingml/2006/main">
            <a:off x="4562475" y="33432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BC702D"/>
                </a:solidFill>
                <a:latin typeface="Helvetica Neue"/>
                <a:ea typeface="Helvetica Neue"/>
                <a:cs typeface="Helvetica Neue"/>
              </a:defRPr>
            </a:pPr>
            <a:r>
              <a:rPr sz="2025" b="1">
                <a:solidFill>
                  <a:srgbClr val="BC702D"/>
                </a:solidFill>
                <a:latin typeface="Helvetica Neue"/>
                <a:ea typeface="Helvetica Neue"/>
                <a:cs typeface="Helvetica Neue"/>
              </a:rPr>
              <a:t>−1</a:t>
            </a:r>
          </a:p>
        </p:txBody>
      </p:sp>
      <p:sp>
        <p:nvSpPr>
          <p:cNvPr id="33" name="">
            <a:extLst xmlns:a="http://schemas.openxmlformats.org/drawingml/2006/main">
              <a:ext uri="{FF2B5EF4-FFF2-40B4-BE49-F238E27FC236}">
                <a16:creationId xmlns:a16="http://schemas.microsoft.com/office/drawing/2014/main" id="{D34A9980-325E-49D1-9D96-EB3EE4F852E5}"/>
              </a:ext>
            </a:extLst>
          </p:cNvPr>
          <p:cNvSpPr>
            <a:spLocks xmlns:a="http://schemas.openxmlformats.org/drawingml/2006/main" noGrp="1"/>
          </p:cNvSpPr>
          <p:nvPr/>
        </p:nvSpPr>
        <p:spPr>
          <a:xfrm xmlns:a="http://schemas.openxmlformats.org/drawingml/2006/main">
            <a:off x="5267325" y="3276600"/>
            <a:ext cx="619125" cy="552450"/>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F163F07F-A8D9-46D1-B08F-5D824D80C0CA}"/>
              </a:ext>
            </a:extLst>
          </p:cNvPr>
          <p:cNvSpPr>
            <a:spLocks xmlns:a="http://schemas.openxmlformats.org/drawingml/2006/main" noGrp="1"/>
          </p:cNvSpPr>
          <p:nvPr/>
        </p:nvSpPr>
        <p:spPr>
          <a:xfrm xmlns:a="http://schemas.openxmlformats.org/drawingml/2006/main">
            <a:off x="5267325" y="33432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BC702D"/>
                </a:solidFill>
                <a:latin typeface="Helvetica Neue"/>
                <a:ea typeface="Helvetica Neue"/>
                <a:cs typeface="Helvetica Neue"/>
              </a:defRPr>
            </a:pPr>
            <a:r>
              <a:rPr sz="2025" b="1">
                <a:solidFill>
                  <a:srgbClr val="BC702D"/>
                </a:solidFill>
                <a:latin typeface="Helvetica Neue"/>
                <a:ea typeface="Helvetica Neue"/>
                <a:cs typeface="Helvetica Neue"/>
              </a:rPr>
              <a:t>−1</a:t>
            </a:r>
          </a:p>
        </p:txBody>
      </p:sp>
      <p:sp>
        <p:nvSpPr>
          <p:cNvPr id="35" name="">
            <a:extLst xmlns:a="http://schemas.openxmlformats.org/drawingml/2006/main">
              <a:ext uri="{FF2B5EF4-FFF2-40B4-BE49-F238E27FC236}">
                <a16:creationId xmlns:a16="http://schemas.microsoft.com/office/drawing/2014/main" id="{70E4ED31-2C9F-4910-9278-5954CB210E8D}"/>
              </a:ext>
            </a:extLst>
          </p:cNvPr>
          <p:cNvSpPr>
            <a:spLocks xmlns:a="http://schemas.openxmlformats.org/drawingml/2006/main" noGrp="1"/>
          </p:cNvSpPr>
          <p:nvPr/>
        </p:nvSpPr>
        <p:spPr>
          <a:xfrm xmlns:a="http://schemas.openxmlformats.org/drawingml/2006/main">
            <a:off x="5972175" y="3276600"/>
            <a:ext cx="619125" cy="55245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C33C727A-E6C8-438E-B29F-9231620039D0}"/>
              </a:ext>
            </a:extLst>
          </p:cNvPr>
          <p:cNvSpPr>
            <a:spLocks xmlns:a="http://schemas.openxmlformats.org/drawingml/2006/main" noGrp="1"/>
          </p:cNvSpPr>
          <p:nvPr/>
        </p:nvSpPr>
        <p:spPr>
          <a:xfrm xmlns:a="http://schemas.openxmlformats.org/drawingml/2006/main">
            <a:off x="5972175" y="33432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31688E"/>
                </a:solidFill>
                <a:latin typeface="Helvetica Neue"/>
                <a:ea typeface="Helvetica Neue"/>
                <a:cs typeface="Helvetica Neue"/>
              </a:defRPr>
            </a:pPr>
            <a:r>
              <a:rPr sz="2025" b="1">
                <a:solidFill>
                  <a:srgbClr val="31688E"/>
                </a:solidFill>
                <a:latin typeface="Helvetica Neue"/>
                <a:ea typeface="Helvetica Neue"/>
                <a:cs typeface="Helvetica Neue"/>
              </a:rPr>
              <a:t>+1</a:t>
            </a:r>
          </a:p>
        </p:txBody>
      </p:sp>
      <p:sp>
        <p:nvSpPr>
          <p:cNvPr id="37" name="">
            <a:extLst xmlns:a="http://schemas.openxmlformats.org/drawingml/2006/main">
              <a:ext uri="{FF2B5EF4-FFF2-40B4-BE49-F238E27FC236}">
                <a16:creationId xmlns:a16="http://schemas.microsoft.com/office/drawing/2014/main" id="{74318D88-3C23-4EBF-A361-DF10B3498C09}"/>
              </a:ext>
            </a:extLst>
          </p:cNvPr>
          <p:cNvSpPr>
            <a:spLocks xmlns:a="http://schemas.openxmlformats.org/drawingml/2006/main" noGrp="1"/>
          </p:cNvSpPr>
          <p:nvPr/>
        </p:nvSpPr>
        <p:spPr>
          <a:xfrm xmlns:a="http://schemas.openxmlformats.org/drawingml/2006/main">
            <a:off x="6677025" y="3276600"/>
            <a:ext cx="619125" cy="552450"/>
          </a:xfrm>
          <a:prstGeom xmlns:a="http://schemas.openxmlformats.org/drawingml/2006/main" prst="rect">
            <a:avLst/>
          </a:prstGeom>
          <a:solidFill xmlns:a="http://schemas.openxmlformats.org/drawingml/2006/main">
            <a:srgbClr val="EDF4F6"/>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4F2E8288-A095-40CE-A947-80FDEB6BDE74}"/>
              </a:ext>
            </a:extLst>
          </p:cNvPr>
          <p:cNvSpPr>
            <a:spLocks xmlns:a="http://schemas.openxmlformats.org/drawingml/2006/main" noGrp="1"/>
          </p:cNvSpPr>
          <p:nvPr/>
        </p:nvSpPr>
        <p:spPr>
          <a:xfrm xmlns:a="http://schemas.openxmlformats.org/drawingml/2006/main">
            <a:off x="6677025" y="3343275"/>
            <a:ext cx="619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025" b="1">
                <a:solidFill>
                  <a:srgbClr val="31688E"/>
                </a:solidFill>
                <a:latin typeface="Helvetica Neue"/>
                <a:ea typeface="Helvetica Neue"/>
                <a:cs typeface="Helvetica Neue"/>
              </a:defRPr>
            </a:pPr>
            <a:r>
              <a:rPr sz="2025" b="1">
                <a:solidFill>
                  <a:srgbClr val="31688E"/>
                </a:solidFill>
                <a:latin typeface="Helvetica Neue"/>
                <a:ea typeface="Helvetica Neue"/>
                <a:cs typeface="Helvetica Neue"/>
              </a:rPr>
              <a:t>+1</a:t>
            </a:r>
          </a:p>
        </p:txBody>
      </p:sp>
      <p:sp>
        <p:nvSpPr>
          <p:cNvPr id="39" name="">
            <a:extLst xmlns:a="http://schemas.openxmlformats.org/drawingml/2006/main">
              <a:ext uri="{FF2B5EF4-FFF2-40B4-BE49-F238E27FC236}">
                <a16:creationId xmlns:a16="http://schemas.microsoft.com/office/drawing/2014/main" id="{A4EE3666-67C2-4792-96C9-1F2532C4E34C}"/>
              </a:ext>
            </a:extLst>
          </p:cNvPr>
          <p:cNvSpPr>
            <a:spLocks xmlns:a="http://schemas.openxmlformats.org/drawingml/2006/main" noGrp="1"/>
          </p:cNvSpPr>
          <p:nvPr/>
        </p:nvSpPr>
        <p:spPr>
          <a:xfrm xmlns:a="http://schemas.openxmlformats.org/drawingml/2006/main">
            <a:off x="1695450" y="4067175"/>
            <a:ext cx="6000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192D3C"/>
                </a:solidFill>
                <a:latin typeface="Helvetica Neue"/>
                <a:ea typeface="Helvetica Neue"/>
                <a:cs typeface="Helvetica Neue"/>
              </a:defRPr>
            </a:pPr>
            <a:r>
              <a:rPr sz="2400" b="1">
                <a:solidFill>
                  <a:srgbClr val="192D3C"/>
                </a:solidFill>
                <a:latin typeface="Helvetica Neue"/>
                <a:ea typeface="Helvetica Neue"/>
                <a:cs typeface="Helvetica Neue"/>
              </a:rPr>
              <a:t>The rows cancel exactly</a:t>
            </a:r>
          </a:p>
        </p:txBody>
      </p:sp>
      <p:sp>
        <p:nvSpPr>
          <p:cNvPr id="40" name="">
            <a:extLst xmlns:a="http://schemas.openxmlformats.org/drawingml/2006/main">
              <a:ext uri="{FF2B5EF4-FFF2-40B4-BE49-F238E27FC236}">
                <a16:creationId xmlns:a16="http://schemas.microsoft.com/office/drawing/2014/main" id="{BF24F379-BE16-4A81-B25C-6D3AE1D27AB9}"/>
              </a:ext>
            </a:extLst>
          </p:cNvPr>
          <p:cNvSpPr>
            <a:spLocks xmlns:a="http://schemas.openxmlformats.org/drawingml/2006/main" noGrp="1"/>
          </p:cNvSpPr>
          <p:nvPr/>
        </p:nvSpPr>
        <p:spPr>
          <a:xfrm xmlns:a="http://schemas.openxmlformats.org/drawingml/2006/main">
            <a:off x="619125" y="4762500"/>
            <a:ext cx="700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w = (e₃ + e₄) / √2   remains invisible</a:t>
            </a:r>
          </a:p>
        </p:txBody>
      </p:sp>
      <p:sp>
        <p:nvSpPr>
          <p:cNvPr id="41" name="">
            <a:extLst xmlns:a="http://schemas.openxmlformats.org/drawingml/2006/main">
              <a:ext uri="{FF2B5EF4-FFF2-40B4-BE49-F238E27FC236}">
                <a16:creationId xmlns:a16="http://schemas.microsoft.com/office/drawing/2014/main" id="{EF2FCD2E-3C0C-4848-BB63-E7F26C57E0B4}"/>
              </a:ext>
            </a:extLst>
          </p:cNvPr>
          <p:cNvSpPr>
            <a:spLocks xmlns:a="http://schemas.openxmlformats.org/drawingml/2006/main" noGrp="1"/>
          </p:cNvSpPr>
          <p:nvPr/>
        </p:nvSpPr>
        <p:spPr>
          <a:xfrm xmlns:a="http://schemas.openxmlformats.org/drawingml/2006/main">
            <a:off x="8867775" y="2114550"/>
            <a:ext cx="20383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5100" b="1">
                <a:solidFill>
                  <a:srgbClr val="31688E"/>
                </a:solidFill>
                <a:latin typeface="Helvetica Neue"/>
                <a:ea typeface="Helvetica Neue"/>
                <a:cs typeface="Helvetica Neue"/>
              </a:defRPr>
            </a:pPr>
            <a:r>
              <a:rPr sz="5100" b="1">
                <a:solidFill>
                  <a:srgbClr val="31688E"/>
                </a:solidFill>
                <a:latin typeface="Helvetica Neue"/>
                <a:ea typeface="Helvetica Neue"/>
                <a:cs typeface="Helvetica Neue"/>
              </a:rPr>
              <a:t>8</a:t>
            </a:r>
          </a:p>
        </p:txBody>
      </p:sp>
      <p:sp>
        <p:nvSpPr>
          <p:cNvPr id="42" name="">
            <a:extLst xmlns:a="http://schemas.openxmlformats.org/drawingml/2006/main">
              <a:ext uri="{FF2B5EF4-FFF2-40B4-BE49-F238E27FC236}">
                <a16:creationId xmlns:a16="http://schemas.microsoft.com/office/drawing/2014/main" id="{C1C0E616-D6BC-45BB-9759-EB07A9AEBA4E}"/>
              </a:ext>
            </a:extLst>
          </p:cNvPr>
          <p:cNvSpPr>
            <a:spLocks xmlns:a="http://schemas.openxmlformats.org/drawingml/2006/main" noGrp="1"/>
          </p:cNvSpPr>
          <p:nvPr/>
        </p:nvSpPr>
        <p:spPr>
          <a:xfrm xmlns:a="http://schemas.openxmlformats.org/drawingml/2006/main">
            <a:off x="8020050" y="2914650"/>
            <a:ext cx="3429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192D3C"/>
                </a:solidFill>
                <a:latin typeface="Helvetica Neue"/>
                <a:ea typeface="Helvetica Neue"/>
                <a:cs typeface="Helvetica Neue"/>
              </a:defRPr>
            </a:pPr>
            <a:r>
              <a:rPr sz="1875" b="0">
                <a:solidFill>
                  <a:srgbClr val="192D3C"/>
                </a:solidFill>
                <a:latin typeface="Helvetica Neue"/>
                <a:ea typeface="Helvetica Neue"/>
                <a:cs typeface="Helvetica Neue"/>
              </a:rPr>
              <a:t>accepted directions</a:t>
            </a:r>
          </a:p>
        </p:txBody>
      </p:sp>
      <p:sp>
        <p:nvSpPr>
          <p:cNvPr id="43" name="">
            <a:extLst xmlns:a="http://schemas.openxmlformats.org/drawingml/2006/main">
              <a:ext uri="{FF2B5EF4-FFF2-40B4-BE49-F238E27FC236}">
                <a16:creationId xmlns:a16="http://schemas.microsoft.com/office/drawing/2014/main" id="{DE2843BD-E74D-4424-839A-8D59B9220D61}"/>
              </a:ext>
            </a:extLst>
          </p:cNvPr>
          <p:cNvSpPr>
            <a:spLocks xmlns:a="http://schemas.openxmlformats.org/drawingml/2006/main" noGrp="1"/>
          </p:cNvSpPr>
          <p:nvPr/>
        </p:nvSpPr>
        <p:spPr>
          <a:xfrm xmlns:a="http://schemas.openxmlformats.org/drawingml/2006/main">
            <a:off x="8162925" y="3876675"/>
            <a:ext cx="31527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4500" b="1">
                <a:solidFill>
                  <a:srgbClr val="BC702D"/>
                </a:solidFill>
                <a:latin typeface="Helvetica Neue"/>
                <a:ea typeface="Helvetica Neue"/>
                <a:cs typeface="Helvetica Neue"/>
              </a:defRPr>
            </a:pPr>
            <a:r>
              <a:rPr sz="4500" b="1">
                <a:solidFill>
                  <a:srgbClr val="BC702D"/>
                </a:solidFill>
                <a:latin typeface="Helvetica Neue"/>
                <a:ea typeface="Helvetica Neue"/>
                <a:cs typeface="Helvetica Neue"/>
              </a:rPr>
              <a:t>4 of 5</a:t>
            </a:r>
          </a:p>
        </p:txBody>
      </p:sp>
      <p:sp>
        <p:nvSpPr>
          <p:cNvPr id="44" name="">
            <a:extLst xmlns:a="http://schemas.openxmlformats.org/drawingml/2006/main">
              <a:ext uri="{FF2B5EF4-FFF2-40B4-BE49-F238E27FC236}">
                <a16:creationId xmlns:a16="http://schemas.microsoft.com/office/drawing/2014/main" id="{E7933B69-E91B-4E0D-B5CA-6718ED4C702D}"/>
              </a:ext>
            </a:extLst>
          </p:cNvPr>
          <p:cNvSpPr>
            <a:spLocks xmlns:a="http://schemas.openxmlformats.org/drawingml/2006/main" noGrp="1"/>
          </p:cNvSpPr>
          <p:nvPr/>
        </p:nvSpPr>
        <p:spPr>
          <a:xfrm xmlns:a="http://schemas.openxmlformats.org/drawingml/2006/main">
            <a:off x="7772400" y="4648200"/>
            <a:ext cx="38004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0">
                <a:solidFill>
                  <a:srgbClr val="192D3C"/>
                </a:solidFill>
                <a:latin typeface="Helvetica Neue"/>
                <a:ea typeface="Helvetica Neue"/>
                <a:cs typeface="Helvetica Neue"/>
              </a:defRPr>
            </a:pPr>
            <a:r>
              <a:rPr sz="1875" b="0">
                <a:solidFill>
                  <a:srgbClr val="192D3C"/>
                </a:solidFill>
                <a:latin typeface="Helvetica Neue"/>
                <a:ea typeface="Helvetica Neue"/>
                <a:cs typeface="Helvetica Neue"/>
              </a:rPr>
              <a:t>signal directions captured</a:t>
            </a:r>
          </a:p>
        </p:txBody>
      </p:sp>
      <p:sp>
        <p:nvSpPr>
          <p:cNvPr id="45" name="">
            <a:extLst xmlns:a="http://schemas.openxmlformats.org/drawingml/2006/main">
              <a:ext uri="{FF2B5EF4-FFF2-40B4-BE49-F238E27FC236}">
                <a16:creationId xmlns:a16="http://schemas.microsoft.com/office/drawing/2014/main" id="{077CF84F-25F1-403F-A580-1DB0771459E8}"/>
              </a:ext>
            </a:extLst>
          </p:cNvPr>
          <p:cNvSpPr>
            <a:spLocks xmlns:a="http://schemas.openxmlformats.org/drawingml/2006/main" noGrp="1"/>
          </p:cNvSpPr>
          <p:nvPr/>
        </p:nvSpPr>
        <p:spPr>
          <a:xfrm xmlns:a="http://schemas.openxmlformats.org/drawingml/2006/main">
            <a:off x="590550" y="6153150"/>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363A900D-3115-4558-AD3D-E5623B76DFC6}"/>
              </a:ext>
            </a:extLst>
          </p:cNvPr>
          <p:cNvSpPr>
            <a:spLocks xmlns:a="http://schemas.openxmlformats.org/drawingml/2006/main" noGrp="1"/>
          </p:cNvSpPr>
          <p:nvPr/>
        </p:nvSpPr>
        <p:spPr>
          <a:xfrm xmlns:a="http://schemas.openxmlformats.org/drawingml/2006/main">
            <a:off x="590550" y="6267450"/>
            <a:ext cx="10239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One path contributed 99.9948% of total conditional risk in the ten coordinate paths.</a:t>
            </a:r>
          </a:p>
        </p:txBody>
      </p:sp>
    </p:spTree>
    <p:extLst>
      <p:ext uri="{BB962C8B-B14F-4D97-AF65-F5344CB8AC3E}">
        <p14:creationId xmlns:p14="http://schemas.microsoft.com/office/powerpoint/2010/main" val="147484847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EE1818D-61E9-4BB3-B733-C479106FE9EA}"/>
              </a:ext>
            </a:extLst>
          </p:cNvPr>
          <p:cNvSpPr>
            <a:spLocks xmlns:a="http://schemas.openxmlformats.org/drawingml/2006/main" noGrp="1"/>
          </p:cNvSpPr>
          <p:nvPr/>
        </p:nvSpPr>
        <p:spPr>
          <a:xfrm xmlns:a="http://schemas.openxmlformats.org/drawingml/2006/main">
            <a:off x="571500" y="342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The extra direction must earn its query cost</a:t>
            </a:r>
          </a:p>
        </p:txBody>
      </p:sp>
      <p:sp>
        <p:nvSpPr>
          <p:cNvPr id="2" name="">
            <a:extLst xmlns:a="http://schemas.openxmlformats.org/drawingml/2006/main">
              <a:ext uri="{FF2B5EF4-FFF2-40B4-BE49-F238E27FC236}">
                <a16:creationId xmlns:a16="http://schemas.microsoft.com/office/drawing/2014/main" id="{82A74284-5522-4465-B160-CD65084046DF}"/>
              </a:ext>
            </a:extLst>
          </p:cNvPr>
          <p:cNvSpPr>
            <a:spLocks xmlns:a="http://schemas.openxmlformats.org/drawingml/2006/main" noGrp="1"/>
          </p:cNvSpPr>
          <p:nvPr/>
        </p:nvSpPr>
        <p:spPr>
          <a:xfrm xmlns:a="http://schemas.openxmlformats.org/drawingml/2006/main">
            <a:off x="11049000" y="639127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06</a:t>
            </a:r>
          </a:p>
        </p:txBody>
      </p:sp>
      <p:sp>
        <p:nvSpPr>
          <p:cNvPr id="3" name="">
            <a:extLst xmlns:a="http://schemas.openxmlformats.org/drawingml/2006/main">
              <a:ext uri="{FF2B5EF4-FFF2-40B4-BE49-F238E27FC236}">
                <a16:creationId xmlns:a16="http://schemas.microsoft.com/office/drawing/2014/main" id="{CAE9BB43-99AC-4D58-B879-DD6D90C97051}"/>
              </a:ext>
            </a:extLst>
          </p:cNvPr>
          <p:cNvSpPr>
            <a:spLocks xmlns:a="http://schemas.openxmlformats.org/drawingml/2006/main" noGrp="1"/>
          </p:cNvSpPr>
          <p:nvPr/>
        </p:nvSpPr>
        <p:spPr>
          <a:xfrm xmlns:a="http://schemas.openxmlformats.org/drawingml/2006/main">
            <a:off x="809625" y="1933575"/>
            <a:ext cx="4191000" cy="1647825"/>
          </a:xfrm>
          <a:prstGeom xmlns:a="http://schemas.openxmlformats.org/drawingml/2006/main" prst="rect">
            <a:avLst/>
          </a:prstGeom>
          <a:solidFill xmlns:a="http://schemas.openxmlformats.org/drawingml/2006/main">
            <a:srgbClr val="EDF4F6"/>
          </a:solidFill>
          <a:ln xmlns:a="http://schemas.openxmlformats.org/drawingml/2006/main" w="12383">
            <a:solidFill>
              <a:srgbClr val="CCD8DE"/>
            </a:solidFill>
          </a:ln>
        </p:spPr>
      </p:sp>
      <p:sp>
        <p:nvSpPr>
          <p:cNvPr id="4" name="">
            <a:extLst xmlns:a="http://schemas.openxmlformats.org/drawingml/2006/main">
              <a:ext uri="{FF2B5EF4-FFF2-40B4-BE49-F238E27FC236}">
                <a16:creationId xmlns:a16="http://schemas.microsoft.com/office/drawing/2014/main" id="{6D92DCB7-E2DC-4E76-A442-5C22F8C31D84}"/>
              </a:ext>
            </a:extLst>
          </p:cNvPr>
          <p:cNvSpPr>
            <a:spLocks xmlns:a="http://schemas.openxmlformats.org/drawingml/2006/main" noGrp="1"/>
          </p:cNvSpPr>
          <p:nvPr/>
        </p:nvSpPr>
        <p:spPr>
          <a:xfrm xmlns:a="http://schemas.openxmlformats.org/drawingml/2006/main">
            <a:off x="981075" y="2057400"/>
            <a:ext cx="3848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Current basis</a:t>
            </a:r>
          </a:p>
        </p:txBody>
      </p:sp>
      <p:sp>
        <p:nvSpPr>
          <p:cNvPr id="5" name="">
            <a:extLst xmlns:a="http://schemas.openxmlformats.org/drawingml/2006/main">
              <a:ext uri="{FF2B5EF4-FFF2-40B4-BE49-F238E27FC236}">
                <a16:creationId xmlns:a16="http://schemas.microsoft.com/office/drawing/2014/main" id="{F1BA0B8D-F51D-471F-9768-F5FD4AFEA0D2}"/>
              </a:ext>
            </a:extLst>
          </p:cNvPr>
          <p:cNvSpPr>
            <a:spLocks xmlns:a="http://schemas.openxmlformats.org/drawingml/2006/main" noGrp="1"/>
          </p:cNvSpPr>
          <p:nvPr/>
        </p:nvSpPr>
        <p:spPr>
          <a:xfrm xmlns:a="http://schemas.openxmlformats.org/drawingml/2006/main">
            <a:off x="981075" y="2495550"/>
            <a:ext cx="38481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Residual energy E</a:t>
            </a:r>
          </a:p>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D final probes</a:t>
            </a:r>
          </a:p>
        </p:txBody>
      </p:sp>
      <p:sp>
        <p:nvSpPr>
          <p:cNvPr id="6" name="">
            <a:extLst xmlns:a="http://schemas.openxmlformats.org/drawingml/2006/main">
              <a:ext uri="{FF2B5EF4-FFF2-40B4-BE49-F238E27FC236}">
                <a16:creationId xmlns:a16="http://schemas.microsoft.com/office/drawing/2014/main" id="{8FD0CE92-E642-4EF5-925E-FCBB89FEADCE}"/>
              </a:ext>
            </a:extLst>
          </p:cNvPr>
          <p:cNvSpPr>
            <a:spLocks xmlns:a="http://schemas.openxmlformats.org/drawingml/2006/main" noGrp="1"/>
          </p:cNvSpPr>
          <p:nvPr/>
        </p:nvSpPr>
        <p:spPr>
          <a:xfrm xmlns:a="http://schemas.openxmlformats.org/drawingml/2006/main">
            <a:off x="7191375" y="1933575"/>
            <a:ext cx="4191000" cy="1647825"/>
          </a:xfrm>
          <a:prstGeom xmlns:a="http://schemas.openxmlformats.org/drawingml/2006/main" prst="rect">
            <a:avLst/>
          </a:prstGeom>
          <a:solidFill xmlns:a="http://schemas.openxmlformats.org/drawingml/2006/main">
            <a:srgbClr val="EBF4F1"/>
          </a:solidFill>
          <a:ln xmlns:a="http://schemas.openxmlformats.org/drawingml/2006/main" w="12383">
            <a:solidFill>
              <a:srgbClr val="CCD8DE"/>
            </a:solidFill>
          </a:ln>
        </p:spPr>
      </p:sp>
      <p:sp>
        <p:nvSpPr>
          <p:cNvPr id="7" name="">
            <a:extLst xmlns:a="http://schemas.openxmlformats.org/drawingml/2006/main">
              <a:ext uri="{FF2B5EF4-FFF2-40B4-BE49-F238E27FC236}">
                <a16:creationId xmlns:a16="http://schemas.microsoft.com/office/drawing/2014/main" id="{E55F03F4-C36F-4D4C-9E9D-0AA5B416EEA5}"/>
              </a:ext>
            </a:extLst>
          </p:cNvPr>
          <p:cNvSpPr>
            <a:spLocks xmlns:a="http://schemas.openxmlformats.org/drawingml/2006/main" noGrp="1"/>
          </p:cNvSpPr>
          <p:nvPr/>
        </p:nvSpPr>
        <p:spPr>
          <a:xfrm xmlns:a="http://schemas.openxmlformats.org/drawingml/2006/main">
            <a:off x="7362825" y="2057400"/>
            <a:ext cx="3848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One accepted direction</a:t>
            </a:r>
          </a:p>
        </p:txBody>
      </p:sp>
      <p:sp>
        <p:nvSpPr>
          <p:cNvPr id="8" name="">
            <a:extLst xmlns:a="http://schemas.openxmlformats.org/drawingml/2006/main">
              <a:ext uri="{FF2B5EF4-FFF2-40B4-BE49-F238E27FC236}">
                <a16:creationId xmlns:a16="http://schemas.microsoft.com/office/drawing/2014/main" id="{3E010DD0-DC9C-4934-892A-30E538C4552D}"/>
              </a:ext>
            </a:extLst>
          </p:cNvPr>
          <p:cNvSpPr>
            <a:spLocks xmlns:a="http://schemas.openxmlformats.org/drawingml/2006/main" noGrp="1"/>
          </p:cNvSpPr>
          <p:nvPr/>
        </p:nvSpPr>
        <p:spPr>
          <a:xfrm xmlns:a="http://schemas.openxmlformats.org/drawingml/2006/main">
            <a:off x="7362825" y="2495550"/>
            <a:ext cx="384810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Residual energy E′</a:t>
            </a:r>
          </a:p>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D − 2 final probes</a:t>
            </a:r>
          </a:p>
        </p:txBody>
      </p:sp>
      <p:cxnSp>
        <p:nvCxnSpPr>
          <p:cNvPr id="23" name=""/>
          <p:cNvCxnSpPr>
            <a:stCxn xmlns:a="http://schemas.openxmlformats.org/drawingml/2006/main" id="3" idx="3"/>
            <a:endCxn xmlns:a="http://schemas.openxmlformats.org/drawingml/2006/main" id="6" idx="1"/>
          </p:cNvCxnSpPr>
          <p:nvPr/>
        </p:nvCxnSpPr>
        <p:spPr>
          <a:xfrm xmlns:a="http://schemas.openxmlformats.org/drawingml/2006/main">
            <a:off x="5000625" y="2757488"/>
            <a:ext cx="2190750" cy="0"/>
          </a:xfrm>
          <a:prstGeom xmlns:a="http://schemas.openxmlformats.org/drawingml/2006/main" prst="straightConnector1">
            <a:avLst/>
          </a:prstGeom>
          <a:ln xmlns:a="http://schemas.openxmlformats.org/drawingml/2006/main" w="23813">
            <a:solidFill>
              <a:srgbClr val="31688E"/>
            </a:solidFill>
            <a:prstDash val="solid"/>
            <a:tailEnd type="triangle" w="sm" len="sm"/>
          </a:ln>
        </p:spPr>
      </p:cxnSp>
      <p:sp>
        <p:nvSpPr>
          <p:cNvPr id="10" name="">
            <a:extLst xmlns:a="http://schemas.openxmlformats.org/drawingml/2006/main">
              <a:ext uri="{FF2B5EF4-FFF2-40B4-BE49-F238E27FC236}">
                <a16:creationId xmlns:a16="http://schemas.microsoft.com/office/drawing/2014/main" id="{54E2D2E6-4F23-4E15-977C-C30B08CAADCC}"/>
              </a:ext>
            </a:extLst>
          </p:cNvPr>
          <p:cNvSpPr>
            <a:spLocks xmlns:a="http://schemas.openxmlformats.org/drawingml/2006/main" noGrp="1"/>
          </p:cNvSpPr>
          <p:nvPr/>
        </p:nvSpPr>
        <p:spPr>
          <a:xfrm xmlns:a="http://schemas.openxmlformats.org/drawingml/2006/main">
            <a:off x="809625" y="400050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Risk improves exactly when</a:t>
            </a:r>
          </a:p>
        </p:txBody>
      </p:sp>
      <p:sp>
        <p:nvSpPr>
          <p:cNvPr id="11" name="">
            <a:extLst xmlns:a="http://schemas.openxmlformats.org/drawingml/2006/main">
              <a:ext uri="{FF2B5EF4-FFF2-40B4-BE49-F238E27FC236}">
                <a16:creationId xmlns:a16="http://schemas.microsoft.com/office/drawing/2014/main" id="{78231EC7-221F-4CD1-9D8B-0C3F42A522DF}"/>
              </a:ext>
            </a:extLst>
          </p:cNvPr>
          <p:cNvSpPr>
            <a:spLocks xmlns:a="http://schemas.openxmlformats.org/drawingml/2006/main" noGrp="1"/>
          </p:cNvSpPr>
          <p:nvPr/>
        </p:nvSpPr>
        <p:spPr>
          <a:xfrm xmlns:a="http://schemas.openxmlformats.org/drawingml/2006/main">
            <a:off x="809625" y="4533900"/>
            <a:ext cx="10477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31688E"/>
                </a:solidFill>
                <a:latin typeface="Helvetica Neue"/>
                <a:ea typeface="Helvetica Neue"/>
                <a:cs typeface="Helvetica Neue"/>
              </a:defRPr>
            </a:pPr>
            <a:r>
              <a:rPr sz="3150" b="1">
                <a:solidFill>
                  <a:srgbClr val="31688E"/>
                </a:solidFill>
                <a:latin typeface="Helvetica Neue"/>
                <a:ea typeface="Helvetica Neue"/>
                <a:cs typeface="Helvetica Neue"/>
              </a:rPr>
              <a:t>fraction of energy removed  &gt;  2 / D</a:t>
            </a:r>
          </a:p>
        </p:txBody>
      </p:sp>
      <p:sp>
        <p:nvSpPr>
          <p:cNvPr id="12" name="">
            <a:extLst xmlns:a="http://schemas.openxmlformats.org/drawingml/2006/main">
              <a:ext uri="{FF2B5EF4-FFF2-40B4-BE49-F238E27FC236}">
                <a16:creationId xmlns:a16="http://schemas.microsoft.com/office/drawing/2014/main" id="{E7F07A87-1875-4068-B3D6-AE1E7E5AB5AD}"/>
              </a:ext>
            </a:extLst>
          </p:cNvPr>
          <p:cNvSpPr>
            <a:spLocks xmlns:a="http://schemas.openxmlformats.org/drawingml/2006/main" noGrp="1"/>
          </p:cNvSpPr>
          <p:nvPr/>
        </p:nvSpPr>
        <p:spPr>
          <a:xfrm xmlns:a="http://schemas.openxmlformats.org/drawingml/2006/main">
            <a:off x="809625" y="5353050"/>
            <a:ext cx="10382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192D3C"/>
                </a:solidFill>
                <a:latin typeface="Helvetica Neue"/>
                <a:ea typeface="Helvetica Neue"/>
                <a:cs typeface="Helvetica Neue"/>
              </a:defRPr>
            </a:pPr>
            <a:r>
              <a:rPr sz="2100" b="0">
                <a:solidFill>
                  <a:srgbClr val="192D3C"/>
                </a:solidFill>
                <a:latin typeface="Helvetica Neue"/>
                <a:ea typeface="Helvetica Neue"/>
                <a:cs typeface="Helvetica Neue"/>
              </a:rPr>
              <a:t>Example: 130 → 128 probes requires more than 1.54% energy removal.</a:t>
            </a:r>
          </a:p>
        </p:txBody>
      </p:sp>
      <p:sp>
        <p:nvSpPr>
          <p:cNvPr id="13" name="">
            <a:extLst xmlns:a="http://schemas.openxmlformats.org/drawingml/2006/main">
              <a:ext uri="{FF2B5EF4-FFF2-40B4-BE49-F238E27FC236}">
                <a16:creationId xmlns:a16="http://schemas.microsoft.com/office/drawing/2014/main" id="{0E372DBB-792E-46DF-8AA8-85928BFB5EA4}"/>
              </a:ext>
            </a:extLst>
          </p:cNvPr>
          <p:cNvSpPr>
            <a:spLocks xmlns:a="http://schemas.openxmlformats.org/drawingml/2006/main" noGrp="1"/>
          </p:cNvSpPr>
          <p:nvPr/>
        </p:nvSpPr>
        <p:spPr>
          <a:xfrm xmlns:a="http://schemas.openxmlformats.org/drawingml/2006/main">
            <a:off x="590550" y="6153150"/>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A3EB42A-C2A2-4457-8AFC-B6FAD43F58FC}"/>
              </a:ext>
            </a:extLst>
          </p:cNvPr>
          <p:cNvSpPr>
            <a:spLocks xmlns:a="http://schemas.openxmlformats.org/drawingml/2006/main" noGrp="1"/>
          </p:cNvSpPr>
          <p:nvPr/>
        </p:nvSpPr>
        <p:spPr>
          <a:xfrm xmlns:a="http://schemas.openxmlformats.org/drawingml/2006/main">
            <a:off x="590550" y="6267450"/>
            <a:ext cx="10239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Proved for either probe-specific energy, with E &gt; 0, D &gt; 2 and one new accepted direction.</a:t>
            </a:r>
          </a:p>
        </p:txBody>
      </p:sp>
    </p:spTree>
    <p:extLst>
      <p:ext uri="{BB962C8B-B14F-4D97-AF65-F5344CB8AC3E}">
        <p14:creationId xmlns:p14="http://schemas.microsoft.com/office/powerpoint/2010/main" val="187348163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D1292F9-B962-456B-97E8-C2CFC7444563}"/>
              </a:ext>
            </a:extLst>
          </p:cNvPr>
          <p:cNvSpPr>
            <a:spLocks xmlns:a="http://schemas.openxmlformats.org/drawingml/2006/main" noGrp="1"/>
          </p:cNvSpPr>
          <p:nvPr/>
        </p:nvSpPr>
        <p:spPr>
          <a:xfrm xmlns:a="http://schemas.openxmlformats.org/drawingml/2006/main">
            <a:off x="571500" y="342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Fresh probes measure the basis we actually obtained</a:t>
            </a:r>
          </a:p>
        </p:txBody>
      </p:sp>
      <p:sp>
        <p:nvSpPr>
          <p:cNvPr id="2" name="">
            <a:extLst xmlns:a="http://schemas.openxmlformats.org/drawingml/2006/main">
              <a:ext uri="{FF2B5EF4-FFF2-40B4-BE49-F238E27FC236}">
                <a16:creationId xmlns:a16="http://schemas.microsoft.com/office/drawing/2014/main" id="{8DBD1E2F-6CB7-4F9B-AF88-E20837F00E3E}"/>
              </a:ext>
            </a:extLst>
          </p:cNvPr>
          <p:cNvSpPr>
            <a:spLocks xmlns:a="http://schemas.openxmlformats.org/drawingml/2006/main" noGrp="1"/>
          </p:cNvSpPr>
          <p:nvPr/>
        </p:nvSpPr>
        <p:spPr>
          <a:xfrm xmlns:a="http://schemas.openxmlformats.org/drawingml/2006/main">
            <a:off x="11049000" y="639127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07</a:t>
            </a:r>
          </a:p>
        </p:txBody>
      </p:sp>
      <p:sp>
        <p:nvSpPr>
          <p:cNvPr id="3" name="">
            <a:extLst xmlns:a="http://schemas.openxmlformats.org/drawingml/2006/main">
              <a:ext uri="{FF2B5EF4-FFF2-40B4-BE49-F238E27FC236}">
                <a16:creationId xmlns:a16="http://schemas.microsoft.com/office/drawing/2014/main" id="{7992092C-AF2F-4E2C-9C18-35222B085D26}"/>
              </a:ext>
            </a:extLst>
          </p:cNvPr>
          <p:cNvSpPr>
            <a:spLocks xmlns:a="http://schemas.openxmlformats.org/drawingml/2006/main" noGrp="1"/>
          </p:cNvSpPr>
          <p:nvPr/>
        </p:nvSpPr>
        <p:spPr>
          <a:xfrm xmlns:a="http://schemas.openxmlformats.org/drawingml/2006/main">
            <a:off x="619125" y="2609850"/>
            <a:ext cx="2476500" cy="1219200"/>
          </a:xfrm>
          <a:prstGeom xmlns:a="http://schemas.openxmlformats.org/drawingml/2006/main" prst="rect">
            <a:avLst/>
          </a:prstGeom>
          <a:solidFill xmlns:a="http://schemas.openxmlformats.org/drawingml/2006/main">
            <a:srgbClr val="EDF4F6"/>
          </a:solidFill>
          <a:ln xmlns:a="http://schemas.openxmlformats.org/drawingml/2006/main" w="12383">
            <a:solidFill>
              <a:srgbClr val="CCD8DE"/>
            </a:solidFill>
          </a:ln>
        </p:spPr>
      </p:sp>
      <p:sp>
        <p:nvSpPr>
          <p:cNvPr id="4" name="">
            <a:extLst xmlns:a="http://schemas.openxmlformats.org/drawingml/2006/main">
              <a:ext uri="{FF2B5EF4-FFF2-40B4-BE49-F238E27FC236}">
                <a16:creationId xmlns:a16="http://schemas.microsoft.com/office/drawing/2014/main" id="{226F21C8-AD8C-46A4-9E36-6050C8E66F33}"/>
              </a:ext>
            </a:extLst>
          </p:cNvPr>
          <p:cNvSpPr>
            <a:spLocks xmlns:a="http://schemas.openxmlformats.org/drawingml/2006/main" noGrp="1"/>
          </p:cNvSpPr>
          <p:nvPr/>
        </p:nvSpPr>
        <p:spPr>
          <a:xfrm xmlns:a="http://schemas.openxmlformats.org/drawingml/2006/main">
            <a:off x="790575" y="2733675"/>
            <a:ext cx="2133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Fresh probe g</a:t>
            </a:r>
          </a:p>
        </p:txBody>
      </p:sp>
      <p:sp>
        <p:nvSpPr>
          <p:cNvPr id="5" name="">
            <a:extLst xmlns:a="http://schemas.openxmlformats.org/drawingml/2006/main">
              <a:ext uri="{FF2B5EF4-FFF2-40B4-BE49-F238E27FC236}">
                <a16:creationId xmlns:a16="http://schemas.microsoft.com/office/drawing/2014/main" id="{A1F4E6FF-DBE3-4355-9F16-899032C80E78}"/>
              </a:ext>
            </a:extLst>
          </p:cNvPr>
          <p:cNvSpPr>
            <a:spLocks xmlns:a="http://schemas.openxmlformats.org/drawingml/2006/main" noGrp="1"/>
          </p:cNvSpPr>
          <p:nvPr/>
        </p:nvSpPr>
        <p:spPr>
          <a:xfrm xmlns:a="http://schemas.openxmlformats.org/drawingml/2006/main">
            <a:off x="790575" y="3171825"/>
            <a:ext cx="2133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One product Ag</a:t>
            </a:r>
          </a:p>
        </p:txBody>
      </p:sp>
      <p:sp>
        <p:nvSpPr>
          <p:cNvPr id="6" name="">
            <a:extLst xmlns:a="http://schemas.openxmlformats.org/drawingml/2006/main">
              <a:ext uri="{FF2B5EF4-FFF2-40B4-BE49-F238E27FC236}">
                <a16:creationId xmlns:a16="http://schemas.microsoft.com/office/drawing/2014/main" id="{9E72A10A-21E7-4487-905F-9C0DEB7AEB0F}"/>
              </a:ext>
            </a:extLst>
          </p:cNvPr>
          <p:cNvSpPr>
            <a:spLocks xmlns:a="http://schemas.openxmlformats.org/drawingml/2006/main" noGrp="1"/>
          </p:cNvSpPr>
          <p:nvPr/>
        </p:nvSpPr>
        <p:spPr>
          <a:xfrm xmlns:a="http://schemas.openxmlformats.org/drawingml/2006/main">
            <a:off x="4276725" y="1952625"/>
            <a:ext cx="2838450" cy="1200150"/>
          </a:xfrm>
          <a:prstGeom xmlns:a="http://schemas.openxmlformats.org/drawingml/2006/main" prst="rect">
            <a:avLst/>
          </a:prstGeom>
          <a:solidFill xmlns:a="http://schemas.openxmlformats.org/drawingml/2006/main">
            <a:srgbClr val="EBF4F1"/>
          </a:solidFill>
          <a:ln xmlns:a="http://schemas.openxmlformats.org/drawingml/2006/main" w="12383">
            <a:solidFill>
              <a:srgbClr val="CCD8DE"/>
            </a:solidFill>
          </a:ln>
        </p:spPr>
      </p:sp>
      <p:sp>
        <p:nvSpPr>
          <p:cNvPr id="7" name="">
            <a:extLst xmlns:a="http://schemas.openxmlformats.org/drawingml/2006/main">
              <a:ext uri="{FF2B5EF4-FFF2-40B4-BE49-F238E27FC236}">
                <a16:creationId xmlns:a16="http://schemas.microsoft.com/office/drawing/2014/main" id="{FFBC9BA8-D977-484B-A482-73809F76F17A}"/>
              </a:ext>
            </a:extLst>
          </p:cNvPr>
          <p:cNvSpPr>
            <a:spLocks xmlns:a="http://schemas.openxmlformats.org/drawingml/2006/main" noGrp="1"/>
          </p:cNvSpPr>
          <p:nvPr/>
        </p:nvSpPr>
        <p:spPr>
          <a:xfrm xmlns:a="http://schemas.openxmlformats.org/drawingml/2006/main">
            <a:off x="4448175" y="2076450"/>
            <a:ext cx="2495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Candidate Qₐ</a:t>
            </a:r>
          </a:p>
        </p:txBody>
      </p:sp>
      <p:sp>
        <p:nvSpPr>
          <p:cNvPr id="8" name="">
            <a:extLst xmlns:a="http://schemas.openxmlformats.org/drawingml/2006/main">
              <a:ext uri="{FF2B5EF4-FFF2-40B4-BE49-F238E27FC236}">
                <a16:creationId xmlns:a16="http://schemas.microsoft.com/office/drawing/2014/main" id="{20BFFC68-A89B-41AB-8D67-AA80912C61B6}"/>
              </a:ext>
            </a:extLst>
          </p:cNvPr>
          <p:cNvSpPr>
            <a:spLocks xmlns:a="http://schemas.openxmlformats.org/drawingml/2006/main" noGrp="1"/>
          </p:cNvSpPr>
          <p:nvPr/>
        </p:nvSpPr>
        <p:spPr>
          <a:xfrm xmlns:a="http://schemas.openxmlformats.org/drawingml/2006/main">
            <a:off x="4448175" y="2514600"/>
            <a:ext cx="2495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Use cached AQₐ</a:t>
            </a:r>
          </a:p>
        </p:txBody>
      </p:sp>
      <p:sp>
        <p:nvSpPr>
          <p:cNvPr id="9" name="">
            <a:extLst xmlns:a="http://schemas.openxmlformats.org/drawingml/2006/main">
              <a:ext uri="{FF2B5EF4-FFF2-40B4-BE49-F238E27FC236}">
                <a16:creationId xmlns:a16="http://schemas.microsoft.com/office/drawing/2014/main" id="{81D6AC04-AFB3-4CAF-A8BF-19263C2AF1BA}"/>
              </a:ext>
            </a:extLst>
          </p:cNvPr>
          <p:cNvSpPr>
            <a:spLocks xmlns:a="http://schemas.openxmlformats.org/drawingml/2006/main" noGrp="1"/>
          </p:cNvSpPr>
          <p:nvPr/>
        </p:nvSpPr>
        <p:spPr>
          <a:xfrm xmlns:a="http://schemas.openxmlformats.org/drawingml/2006/main">
            <a:off x="4276725" y="4248150"/>
            <a:ext cx="2838450" cy="1200150"/>
          </a:xfrm>
          <a:prstGeom xmlns:a="http://schemas.openxmlformats.org/drawingml/2006/main" prst="rect">
            <a:avLst/>
          </a:prstGeom>
          <a:solidFill xmlns:a="http://schemas.openxmlformats.org/drawingml/2006/main">
            <a:srgbClr val="EDF4F6"/>
          </a:solidFill>
          <a:ln xmlns:a="http://schemas.openxmlformats.org/drawingml/2006/main" w="12383">
            <a:solidFill>
              <a:srgbClr val="CCD8DE"/>
            </a:solidFill>
          </a:ln>
        </p:spPr>
      </p:sp>
      <p:sp>
        <p:nvSpPr>
          <p:cNvPr id="10" name="">
            <a:extLst xmlns:a="http://schemas.openxmlformats.org/drawingml/2006/main">
              <a:ext uri="{FF2B5EF4-FFF2-40B4-BE49-F238E27FC236}">
                <a16:creationId xmlns:a16="http://schemas.microsoft.com/office/drawing/2014/main" id="{F3010461-6A97-4836-83CA-244E48A89FAB}"/>
              </a:ext>
            </a:extLst>
          </p:cNvPr>
          <p:cNvSpPr>
            <a:spLocks xmlns:a="http://schemas.openxmlformats.org/drawingml/2006/main" noGrp="1"/>
          </p:cNvSpPr>
          <p:nvPr/>
        </p:nvSpPr>
        <p:spPr>
          <a:xfrm xmlns:a="http://schemas.openxmlformats.org/drawingml/2006/main">
            <a:off x="4448175" y="4371975"/>
            <a:ext cx="2495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Baseline Q₀</a:t>
            </a:r>
          </a:p>
        </p:txBody>
      </p:sp>
      <p:sp>
        <p:nvSpPr>
          <p:cNvPr id="11" name="">
            <a:extLst xmlns:a="http://schemas.openxmlformats.org/drawingml/2006/main">
              <a:ext uri="{FF2B5EF4-FFF2-40B4-BE49-F238E27FC236}">
                <a16:creationId xmlns:a16="http://schemas.microsoft.com/office/drawing/2014/main" id="{01B3F3C9-BF4C-4675-9BFF-9F8798BFD2AD}"/>
              </a:ext>
            </a:extLst>
          </p:cNvPr>
          <p:cNvSpPr>
            <a:spLocks xmlns:a="http://schemas.openxmlformats.org/drawingml/2006/main" noGrp="1"/>
          </p:cNvSpPr>
          <p:nvPr/>
        </p:nvSpPr>
        <p:spPr>
          <a:xfrm xmlns:a="http://schemas.openxmlformats.org/drawingml/2006/main">
            <a:off x="4448175" y="4810125"/>
            <a:ext cx="24955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Use cached AQ₀</a:t>
            </a:r>
          </a:p>
        </p:txBody>
      </p:sp>
      <p:sp>
        <p:nvSpPr>
          <p:cNvPr id="12" name="">
            <a:extLst xmlns:a="http://schemas.openxmlformats.org/drawingml/2006/main">
              <a:ext uri="{FF2B5EF4-FFF2-40B4-BE49-F238E27FC236}">
                <a16:creationId xmlns:a16="http://schemas.microsoft.com/office/drawing/2014/main" id="{EFDD3432-4BBE-4CEA-90C4-3EAF060EA13E}"/>
              </a:ext>
            </a:extLst>
          </p:cNvPr>
          <p:cNvSpPr>
            <a:spLocks xmlns:a="http://schemas.openxmlformats.org/drawingml/2006/main" noGrp="1"/>
          </p:cNvSpPr>
          <p:nvPr/>
        </p:nvSpPr>
        <p:spPr>
          <a:xfrm xmlns:a="http://schemas.openxmlformats.org/drawingml/2006/main">
            <a:off x="8477250" y="1952625"/>
            <a:ext cx="3048000" cy="1200150"/>
          </a:xfrm>
          <a:prstGeom xmlns:a="http://schemas.openxmlformats.org/drawingml/2006/main" prst="rect">
            <a:avLst/>
          </a:prstGeom>
          <a:solidFill xmlns:a="http://schemas.openxmlformats.org/drawingml/2006/main">
            <a:srgbClr val="EBF4F1"/>
          </a:solidFill>
          <a:ln xmlns:a="http://schemas.openxmlformats.org/drawingml/2006/main" w="12383">
            <a:solidFill>
              <a:srgbClr val="CCD8DE"/>
            </a:solidFill>
          </a:ln>
        </p:spPr>
      </p:sp>
      <p:sp>
        <p:nvSpPr>
          <p:cNvPr id="13" name="">
            <a:extLst xmlns:a="http://schemas.openxmlformats.org/drawingml/2006/main">
              <a:ext uri="{FF2B5EF4-FFF2-40B4-BE49-F238E27FC236}">
                <a16:creationId xmlns:a16="http://schemas.microsoft.com/office/drawing/2014/main" id="{E25A4F92-3832-4446-BD96-0C54EEE404B6}"/>
              </a:ext>
            </a:extLst>
          </p:cNvPr>
          <p:cNvSpPr>
            <a:spLocks xmlns:a="http://schemas.openxmlformats.org/drawingml/2006/main" noGrp="1"/>
          </p:cNvSpPr>
          <p:nvPr/>
        </p:nvSpPr>
        <p:spPr>
          <a:xfrm xmlns:a="http://schemas.openxmlformats.org/drawingml/2006/main">
            <a:off x="8648700" y="2076450"/>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Quadratic forms</a:t>
            </a:r>
          </a:p>
        </p:txBody>
      </p:sp>
      <p:sp>
        <p:nvSpPr>
          <p:cNvPr id="14" name="">
            <a:extLst xmlns:a="http://schemas.openxmlformats.org/drawingml/2006/main">
              <a:ext uri="{FF2B5EF4-FFF2-40B4-BE49-F238E27FC236}">
                <a16:creationId xmlns:a16="http://schemas.microsoft.com/office/drawing/2014/main" id="{A83CF14D-30ED-4AEF-8AEB-5A8DE17517BC}"/>
              </a:ext>
            </a:extLst>
          </p:cNvPr>
          <p:cNvSpPr>
            <a:spLocks xmlns:a="http://schemas.openxmlformats.org/drawingml/2006/main" noGrp="1"/>
          </p:cNvSpPr>
          <p:nvPr/>
        </p:nvSpPr>
        <p:spPr>
          <a:xfrm xmlns:a="http://schemas.openxmlformats.org/drawingml/2006/main">
            <a:off x="8648700" y="2514600"/>
            <a:ext cx="2705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Xₐ = gᵀRₐARₐg</a:t>
            </a:r>
          </a:p>
        </p:txBody>
      </p:sp>
      <p:sp>
        <p:nvSpPr>
          <p:cNvPr id="15" name="">
            <a:extLst xmlns:a="http://schemas.openxmlformats.org/drawingml/2006/main">
              <a:ext uri="{FF2B5EF4-FFF2-40B4-BE49-F238E27FC236}">
                <a16:creationId xmlns:a16="http://schemas.microsoft.com/office/drawing/2014/main" id="{A54230F2-F318-4A74-81FB-8D01BF235EE8}"/>
              </a:ext>
            </a:extLst>
          </p:cNvPr>
          <p:cNvSpPr>
            <a:spLocks xmlns:a="http://schemas.openxmlformats.org/drawingml/2006/main" noGrp="1"/>
          </p:cNvSpPr>
          <p:nvPr/>
        </p:nvSpPr>
        <p:spPr>
          <a:xfrm xmlns:a="http://schemas.openxmlformats.org/drawingml/2006/main">
            <a:off x="8477250" y="4248150"/>
            <a:ext cx="3048000" cy="1200150"/>
          </a:xfrm>
          <a:prstGeom xmlns:a="http://schemas.openxmlformats.org/drawingml/2006/main" prst="rect">
            <a:avLst/>
          </a:prstGeom>
          <a:solidFill xmlns:a="http://schemas.openxmlformats.org/drawingml/2006/main">
            <a:srgbClr val="EDF4F6"/>
          </a:solidFill>
          <a:ln xmlns:a="http://schemas.openxmlformats.org/drawingml/2006/main" w="12383">
            <a:solidFill>
              <a:srgbClr val="CCD8DE"/>
            </a:solidFill>
          </a:ln>
        </p:spPr>
      </p:sp>
      <p:sp>
        <p:nvSpPr>
          <p:cNvPr id="16" name="">
            <a:extLst xmlns:a="http://schemas.openxmlformats.org/drawingml/2006/main">
              <a:ext uri="{FF2B5EF4-FFF2-40B4-BE49-F238E27FC236}">
                <a16:creationId xmlns:a16="http://schemas.microsoft.com/office/drawing/2014/main" id="{A8CC508C-6858-46DE-B6DA-9A67B6013AB7}"/>
              </a:ext>
            </a:extLst>
          </p:cNvPr>
          <p:cNvSpPr>
            <a:spLocks xmlns:a="http://schemas.openxmlformats.org/drawingml/2006/main" noGrp="1"/>
          </p:cNvSpPr>
          <p:nvPr/>
        </p:nvSpPr>
        <p:spPr>
          <a:xfrm xmlns:a="http://schemas.openxmlformats.org/drawingml/2006/main">
            <a:off x="8648700" y="4371975"/>
            <a:ext cx="2705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Quadratic forms</a:t>
            </a:r>
          </a:p>
        </p:txBody>
      </p:sp>
      <p:sp>
        <p:nvSpPr>
          <p:cNvPr id="17" name="">
            <a:extLst xmlns:a="http://schemas.openxmlformats.org/drawingml/2006/main">
              <a:ext uri="{FF2B5EF4-FFF2-40B4-BE49-F238E27FC236}">
                <a16:creationId xmlns:a16="http://schemas.microsoft.com/office/drawing/2014/main" id="{90F88FB8-BE1C-4810-8089-542D785ACF02}"/>
              </a:ext>
            </a:extLst>
          </p:cNvPr>
          <p:cNvSpPr>
            <a:spLocks xmlns:a="http://schemas.openxmlformats.org/drawingml/2006/main" noGrp="1"/>
          </p:cNvSpPr>
          <p:nvPr/>
        </p:nvSpPr>
        <p:spPr>
          <a:xfrm xmlns:a="http://schemas.openxmlformats.org/drawingml/2006/main">
            <a:off x="8648700" y="4810125"/>
            <a:ext cx="2705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X₀ = gᵀR₀AR₀g</a:t>
            </a:r>
          </a:p>
        </p:txBody>
      </p:sp>
      <p:cxnSp>
        <p:nvCxnSpPr>
          <p:cNvPr id="42" name=""/>
          <p:cNvCxnSpPr>
            <a:stCxn xmlns:a="http://schemas.openxmlformats.org/drawingml/2006/main" id="3" idx="3"/>
            <a:endCxn xmlns:a="http://schemas.openxmlformats.org/drawingml/2006/main" id="6" idx="1"/>
          </p:cNvCxnSpPr>
          <p:nvPr/>
        </p:nvCxnSpPr>
        <p:spPr>
          <a:xfrm xmlns:a="http://schemas.openxmlformats.org/drawingml/2006/main" flipV="1">
            <a:off x="3095625" y="2552700"/>
            <a:ext cx="1181100" cy="666750"/>
          </a:xfrm>
          <a:prstGeom xmlns:a="http://schemas.openxmlformats.org/drawingml/2006/main" prst="bentConnector3">
            <a:avLst>
              <a:gd name="adj1" fmla="val 50000"/>
            </a:avLst>
          </a:prstGeom>
          <a:ln xmlns:a="http://schemas.openxmlformats.org/drawingml/2006/main" w="23813">
            <a:solidFill>
              <a:srgbClr val="31688E"/>
            </a:solidFill>
            <a:prstDash val="solid"/>
            <a:tailEnd type="triangle" w="sm" len="sm"/>
          </a:ln>
        </p:spPr>
      </p:cxnSp>
      <p:cxnSp>
        <p:nvCxnSpPr>
          <p:cNvPr id="43" name=""/>
          <p:cNvCxnSpPr>
            <a:stCxn xmlns:a="http://schemas.openxmlformats.org/drawingml/2006/main" id="3" idx="3"/>
            <a:endCxn xmlns:a="http://schemas.openxmlformats.org/drawingml/2006/main" id="9" idx="1"/>
          </p:cNvCxnSpPr>
          <p:nvPr/>
        </p:nvCxnSpPr>
        <p:spPr>
          <a:xfrm xmlns:a="http://schemas.openxmlformats.org/drawingml/2006/main">
            <a:off x="3095625" y="3219450"/>
            <a:ext cx="1181100" cy="1628775"/>
          </a:xfrm>
          <a:prstGeom xmlns:a="http://schemas.openxmlformats.org/drawingml/2006/main" prst="bentConnector3">
            <a:avLst>
              <a:gd name="adj1" fmla="val 50000"/>
            </a:avLst>
          </a:prstGeom>
          <a:ln xmlns:a="http://schemas.openxmlformats.org/drawingml/2006/main" w="23813">
            <a:solidFill>
              <a:srgbClr val="31688E"/>
            </a:solidFill>
            <a:prstDash val="solid"/>
            <a:tailEnd type="triangle" w="sm" len="sm"/>
          </a:ln>
        </p:spPr>
      </p:cxnSp>
      <p:cxnSp>
        <p:nvCxnSpPr>
          <p:cNvPr id="44" name=""/>
          <p:cNvCxnSpPr>
            <a:stCxn xmlns:a="http://schemas.openxmlformats.org/drawingml/2006/main" id="6" idx="3"/>
            <a:endCxn xmlns:a="http://schemas.openxmlformats.org/drawingml/2006/main" id="12" idx="1"/>
          </p:cNvCxnSpPr>
          <p:nvPr/>
        </p:nvCxnSpPr>
        <p:spPr>
          <a:xfrm xmlns:a="http://schemas.openxmlformats.org/drawingml/2006/main">
            <a:off x="7115175" y="2552700"/>
            <a:ext cx="1362075" cy="0"/>
          </a:xfrm>
          <a:prstGeom xmlns:a="http://schemas.openxmlformats.org/drawingml/2006/main" prst="straightConnector1">
            <a:avLst/>
          </a:prstGeom>
          <a:ln xmlns:a="http://schemas.openxmlformats.org/drawingml/2006/main" w="23813">
            <a:solidFill>
              <a:srgbClr val="31688E"/>
            </a:solidFill>
            <a:prstDash val="solid"/>
            <a:tailEnd type="triangle" w="sm" len="sm"/>
          </a:ln>
        </p:spPr>
      </p:cxnSp>
      <p:cxnSp>
        <p:nvCxnSpPr>
          <p:cNvPr id="45" name=""/>
          <p:cNvCxnSpPr>
            <a:stCxn xmlns:a="http://schemas.openxmlformats.org/drawingml/2006/main" id="9" idx="3"/>
            <a:endCxn xmlns:a="http://schemas.openxmlformats.org/drawingml/2006/main" id="15" idx="1"/>
          </p:cNvCxnSpPr>
          <p:nvPr/>
        </p:nvCxnSpPr>
        <p:spPr>
          <a:xfrm xmlns:a="http://schemas.openxmlformats.org/drawingml/2006/main">
            <a:off x="7115175" y="4848225"/>
            <a:ext cx="1362075" cy="0"/>
          </a:xfrm>
          <a:prstGeom xmlns:a="http://schemas.openxmlformats.org/drawingml/2006/main" prst="straightConnector1">
            <a:avLst/>
          </a:prstGeom>
          <a:ln xmlns:a="http://schemas.openxmlformats.org/drawingml/2006/main" w="23813">
            <a:solidFill>
              <a:srgbClr val="31688E"/>
            </a:solidFill>
            <a:prstDash val="solid"/>
            <a:tailEnd type="triangle" w="sm" len="sm"/>
          </a:ln>
        </p:spPr>
      </p:cxnSp>
      <p:sp>
        <p:nvSpPr>
          <p:cNvPr id="22" name="">
            <a:extLst xmlns:a="http://schemas.openxmlformats.org/drawingml/2006/main">
              <a:ext uri="{FF2B5EF4-FFF2-40B4-BE49-F238E27FC236}">
                <a16:creationId xmlns:a16="http://schemas.microsoft.com/office/drawing/2014/main" id="{5EC4DE40-8293-49CF-BC7A-45E4CDFA69CF}"/>
              </a:ext>
            </a:extLst>
          </p:cNvPr>
          <p:cNvSpPr>
            <a:spLocks xmlns:a="http://schemas.openxmlformats.org/drawingml/2006/main" noGrp="1"/>
          </p:cNvSpPr>
          <p:nvPr/>
        </p:nvSpPr>
        <p:spPr>
          <a:xfrm xmlns:a="http://schemas.openxmlformats.org/drawingml/2006/main">
            <a:off x="619125" y="561975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192D3C"/>
                </a:solidFill>
                <a:latin typeface="Helvetica Neue"/>
                <a:ea typeface="Helvetica Neue"/>
                <a:cs typeface="Helvetica Neue"/>
              </a:defRPr>
            </a:pPr>
            <a:r>
              <a:rPr sz="1950" b="1">
                <a:solidFill>
                  <a:srgbClr val="192D3C"/>
                </a:solidFill>
                <a:latin typeface="Helvetica Neue"/>
                <a:ea typeface="Helvetica Neue"/>
                <a:cs typeface="Helvetica Neue"/>
              </a:rPr>
              <a:t>Repeat s times. Sample variance estimates each residual variance.</a:t>
            </a:r>
          </a:p>
        </p:txBody>
      </p:sp>
      <p:sp>
        <p:nvSpPr>
          <p:cNvPr id="23" name="">
            <a:extLst xmlns:a="http://schemas.openxmlformats.org/drawingml/2006/main">
              <a:ext uri="{FF2B5EF4-FFF2-40B4-BE49-F238E27FC236}">
                <a16:creationId xmlns:a16="http://schemas.microsoft.com/office/drawing/2014/main" id="{505DE0A2-21F2-4D24-86FE-3EC4076B7B0D}"/>
              </a:ext>
            </a:extLst>
          </p:cNvPr>
          <p:cNvSpPr>
            <a:spLocks xmlns:a="http://schemas.openxmlformats.org/drawingml/2006/main" noGrp="1"/>
          </p:cNvSpPr>
          <p:nvPr/>
        </p:nvSpPr>
        <p:spPr>
          <a:xfrm xmlns:a="http://schemas.openxmlformats.org/drawingml/2006/main">
            <a:off x="590550" y="6153150"/>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E93B322-1BB2-4924-9B9C-94D745A60E8B}"/>
              </a:ext>
            </a:extLst>
          </p:cNvPr>
          <p:cNvSpPr>
            <a:spLocks xmlns:a="http://schemas.openxmlformats.org/drawingml/2006/main" noGrp="1"/>
          </p:cNvSpPr>
          <p:nvPr/>
        </p:nvSpPr>
        <p:spPr>
          <a:xfrm xmlns:a="http://schemas.openxmlformats.org/drawingml/2006/main">
            <a:off x="590550" y="6267450"/>
            <a:ext cx="10239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Same certification probes across actions. Fresh, separate probes for the final trace estimate.</a:t>
            </a:r>
          </a:p>
        </p:txBody>
      </p:sp>
    </p:spTree>
    <p:extLst>
      <p:ext uri="{BB962C8B-B14F-4D97-AF65-F5344CB8AC3E}">
        <p14:creationId xmlns:p14="http://schemas.microsoft.com/office/powerpoint/2010/main" val="199537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53A7D48-C56F-42E8-9F9F-3504FA49C9ED}"/>
              </a:ext>
            </a:extLst>
          </p:cNvPr>
          <p:cNvSpPr>
            <a:spLocks xmlns:a="http://schemas.openxmlformats.org/drawingml/2006/main" noGrp="1"/>
          </p:cNvSpPr>
          <p:nvPr/>
        </p:nvSpPr>
        <p:spPr>
          <a:xfrm xmlns:a="http://schemas.openxmlformats.org/drawingml/2006/main">
            <a:off x="571500" y="342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Sixteen probes provided useful empirical discrimination</a:t>
            </a:r>
          </a:p>
        </p:txBody>
      </p:sp>
      <p:sp>
        <p:nvSpPr>
          <p:cNvPr id="2" name="">
            <a:extLst xmlns:a="http://schemas.openxmlformats.org/drawingml/2006/main">
              <a:ext uri="{FF2B5EF4-FFF2-40B4-BE49-F238E27FC236}">
                <a16:creationId xmlns:a16="http://schemas.microsoft.com/office/drawing/2014/main" id="{45947D49-BBA2-4EDE-A130-8FA07B361203}"/>
              </a:ext>
            </a:extLst>
          </p:cNvPr>
          <p:cNvSpPr>
            <a:spLocks xmlns:a="http://schemas.openxmlformats.org/drawingml/2006/main" noGrp="1"/>
          </p:cNvSpPr>
          <p:nvPr/>
        </p:nvSpPr>
        <p:spPr>
          <a:xfrm xmlns:a="http://schemas.openxmlformats.org/drawingml/2006/main">
            <a:off x="590550" y="13144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Sample variance compared q = k + 1 with q = k. Certification was external here.</a:t>
            </a:r>
          </a:p>
        </p:txBody>
      </p:sp>
      <p:sp>
        <p:nvSpPr>
          <p:cNvPr id="3" name="">
            <a:extLst xmlns:a="http://schemas.openxmlformats.org/drawingml/2006/main">
              <a:ext uri="{FF2B5EF4-FFF2-40B4-BE49-F238E27FC236}">
                <a16:creationId xmlns:a16="http://schemas.microsoft.com/office/drawing/2014/main" id="{79121978-B1C4-4869-8545-93D91E01BADF}"/>
              </a:ext>
            </a:extLst>
          </p:cNvPr>
          <p:cNvSpPr>
            <a:spLocks xmlns:a="http://schemas.openxmlformats.org/drawingml/2006/main" noGrp="1"/>
          </p:cNvSpPr>
          <p:nvPr/>
        </p:nvSpPr>
        <p:spPr>
          <a:xfrm xmlns:a="http://schemas.openxmlformats.org/drawingml/2006/main">
            <a:off x="11049000" y="639127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63C590DE-29E6-48A1-A3B6-496180B8EC8E}"/>
              </a:ext>
            </a:extLst>
          </p:cNvPr>
          <p:cNvSpPr>
            <a:spLocks xmlns:a="http://schemas.openxmlformats.org/drawingml/2006/main" noGrp="1"/>
          </p:cNvSpPr>
          <p:nvPr/>
        </p:nvSpPr>
        <p:spPr>
          <a:xfrm xmlns:a="http://schemas.openxmlformats.org/drawingml/2006/main">
            <a:off x="619125" y="1990725"/>
            <a:ext cx="5857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92D3C"/>
                </a:solidFill>
                <a:latin typeface="Helvetica Neue"/>
                <a:ea typeface="Helvetica Neue"/>
                <a:cs typeface="Helvetica Neue"/>
              </a:defRPr>
            </a:pPr>
            <a:r>
              <a:rPr sz="2175" b="1">
                <a:solidFill>
                  <a:srgbClr val="192D3C"/>
                </a:solidFill>
                <a:latin typeface="Helvetica Neue"/>
                <a:ea typeface="Helvetica Neue"/>
                <a:cs typeface="Helvetica Neue"/>
              </a:rPr>
              <a:t>False-safe acceptance (%)</a:t>
            </a:r>
          </a:p>
        </p:txBody>
      </p:sp>
      <p:graphicFrame>
        <p:nvGraphicFramePr>
          <p:cNvPr id="16" name="Chart"/>
          <p:cNvGraphicFramePr/>
          <p:nvPr/>
        </p:nvGraphicFramePr>
        <p:xfrm>
          <a:off xmlns:a="http://schemas.openxmlformats.org/drawingml/2006/main" x="619125" y="2543175"/>
          <a:ext xmlns:a="http://schemas.openxmlformats.org/drawingml/2006/main" cx="6238875" cy="2809875"/>
        </p:xfrm>
        <a:graphic xmlns:a="http://schemas.openxmlformats.org/drawingml/2006/main">
          <a:graphicData uri="http://schemas.openxmlformats.org/drawingml/2006/chart">
            <c:chart xmlns:r="http://schemas.openxmlformats.org/officeDocument/2006/relationships" xmlns:c="http://schemas.openxmlformats.org/drawingml/2006/chart" r:id="R5809305dcf3845d9"/>
          </a:graphicData>
        </a:graphic>
      </p:graphicFrame>
      <p:sp>
        <p:nvSpPr>
          <p:cNvPr id="6" name="">
            <a:extLst xmlns:a="http://schemas.openxmlformats.org/drawingml/2006/main">
              <a:ext uri="{FF2B5EF4-FFF2-40B4-BE49-F238E27FC236}">
                <a16:creationId xmlns:a16="http://schemas.microsoft.com/office/drawing/2014/main" id="{21F52D96-1022-43AB-A708-5359BA163463}"/>
              </a:ext>
            </a:extLst>
          </p:cNvPr>
          <p:cNvSpPr>
            <a:spLocks xmlns:a="http://schemas.openxmlformats.org/drawingml/2006/main" noGrp="1"/>
          </p:cNvSpPr>
          <p:nvPr/>
        </p:nvSpPr>
        <p:spPr>
          <a:xfrm xmlns:a="http://schemas.openxmlformats.org/drawingml/2006/main">
            <a:off x="8010525" y="2495550"/>
            <a:ext cx="33147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00" b="1">
                <a:solidFill>
                  <a:srgbClr val="37847F"/>
                </a:solidFill>
                <a:latin typeface="Helvetica Neue"/>
                <a:ea typeface="Helvetica Neue"/>
                <a:cs typeface="Helvetica Neue"/>
              </a:defRPr>
            </a:pPr>
            <a:r>
              <a:rPr sz="5100" b="1">
                <a:solidFill>
                  <a:srgbClr val="37847F"/>
                </a:solidFill>
                <a:latin typeface="Helvetica Neue"/>
                <a:ea typeface="Helvetica Neue"/>
                <a:cs typeface="Helvetica Neue"/>
              </a:rPr>
              <a:t>79.7%</a:t>
            </a:r>
          </a:p>
        </p:txBody>
      </p:sp>
      <p:sp>
        <p:nvSpPr>
          <p:cNvPr id="7" name="">
            <a:extLst xmlns:a="http://schemas.openxmlformats.org/drawingml/2006/main">
              <a:ext uri="{FF2B5EF4-FFF2-40B4-BE49-F238E27FC236}">
                <a16:creationId xmlns:a16="http://schemas.microsoft.com/office/drawing/2014/main" id="{E706633C-B627-4496-8E70-C7343B997EA3}"/>
              </a:ext>
            </a:extLst>
          </p:cNvPr>
          <p:cNvSpPr>
            <a:spLocks xmlns:a="http://schemas.openxmlformats.org/drawingml/2006/main" noGrp="1"/>
          </p:cNvSpPr>
          <p:nvPr/>
        </p:nvSpPr>
        <p:spPr>
          <a:xfrm xmlns:a="http://schemas.openxmlformats.org/drawingml/2006/main">
            <a:off x="7648575" y="3600450"/>
            <a:ext cx="3895725"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Catastrophic detection</a:t>
            </a:r>
          </a:p>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with sample variance</a:t>
            </a:r>
          </a:p>
        </p:txBody>
      </p:sp>
      <p:sp>
        <p:nvSpPr>
          <p:cNvPr id="8" name="">
            <a:extLst xmlns:a="http://schemas.openxmlformats.org/drawingml/2006/main">
              <a:ext uri="{FF2B5EF4-FFF2-40B4-BE49-F238E27FC236}">
                <a16:creationId xmlns:a16="http://schemas.microsoft.com/office/drawing/2014/main" id="{FBF213B0-16EA-499B-B5AC-89E93B3FBF92}"/>
              </a:ext>
            </a:extLst>
          </p:cNvPr>
          <p:cNvSpPr>
            <a:spLocks xmlns:a="http://schemas.openxmlformats.org/drawingml/2006/main" noGrp="1"/>
          </p:cNvSpPr>
          <p:nvPr/>
        </p:nvSpPr>
        <p:spPr>
          <a:xfrm xmlns:a="http://schemas.openxmlformats.org/drawingml/2006/main">
            <a:off x="7648575" y="4657725"/>
            <a:ext cx="38957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95% interval: 69.1–89.3%</a:t>
            </a:r>
          </a:p>
        </p:txBody>
      </p:sp>
      <p:sp>
        <p:nvSpPr>
          <p:cNvPr id="9" name="">
            <a:extLst xmlns:a="http://schemas.openxmlformats.org/drawingml/2006/main">
              <a:ext uri="{FF2B5EF4-FFF2-40B4-BE49-F238E27FC236}">
                <a16:creationId xmlns:a16="http://schemas.microsoft.com/office/drawing/2014/main" id="{AEF5995E-504D-4F4A-A520-B2BFA35A9396}"/>
              </a:ext>
            </a:extLst>
          </p:cNvPr>
          <p:cNvSpPr>
            <a:spLocks xmlns:a="http://schemas.openxmlformats.org/drawingml/2006/main" noGrp="1"/>
          </p:cNvSpPr>
          <p:nvPr/>
        </p:nvSpPr>
        <p:spPr>
          <a:xfrm xmlns:a="http://schemas.openxmlformats.org/drawingml/2006/main">
            <a:off x="647700" y="5505450"/>
            <a:ext cx="6172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Among truly worse candidates</a:t>
            </a:r>
          </a:p>
        </p:txBody>
      </p:sp>
      <p:sp>
        <p:nvSpPr>
          <p:cNvPr id="10" name="">
            <a:extLst xmlns:a="http://schemas.openxmlformats.org/drawingml/2006/main">
              <a:ext uri="{FF2B5EF4-FFF2-40B4-BE49-F238E27FC236}">
                <a16:creationId xmlns:a16="http://schemas.microsoft.com/office/drawing/2014/main" id="{11E12EF5-311A-4A61-9BB5-F23B66C47856}"/>
              </a:ext>
            </a:extLst>
          </p:cNvPr>
          <p:cNvSpPr>
            <a:spLocks xmlns:a="http://schemas.openxmlformats.org/drawingml/2006/main" noGrp="1"/>
          </p:cNvSpPr>
          <p:nvPr/>
        </p:nvSpPr>
        <p:spPr>
          <a:xfrm xmlns:a="http://schemas.openxmlformats.org/drawingml/2006/main">
            <a:off x="590550" y="6153150"/>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30A4B261-6764-4AA8-A2F2-B356508F00D9}"/>
              </a:ext>
            </a:extLst>
          </p:cNvPr>
          <p:cNvSpPr>
            <a:spLocks xmlns:a="http://schemas.openxmlformats.org/drawingml/2006/main" noGrp="1"/>
          </p:cNvSpPr>
          <p:nvPr/>
        </p:nvSpPr>
        <p:spPr>
          <a:xfrm xmlns:a="http://schemas.openxmlformats.org/drawingml/2006/main">
            <a:off x="590550" y="6267450"/>
            <a:ext cx="10239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Empirical rule: accept only when estimated candidate risk is at most half the baseline estimate.</a:t>
            </a:r>
          </a:p>
        </p:txBody>
      </p:sp>
    </p:spTree>
    <p:extLst>
      <p:ext uri="{BB962C8B-B14F-4D97-AF65-F5344CB8AC3E}">
        <p14:creationId xmlns:p14="http://schemas.microsoft.com/office/powerpoint/2010/main" val="18765726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B07FFAF-005B-4075-88A0-122D0333F310}"/>
              </a:ext>
            </a:extLst>
          </p:cNvPr>
          <p:cNvSpPr>
            <a:spLocks xmlns:a="http://schemas.openxmlformats.org/drawingml/2006/main" noGrp="1"/>
          </p:cNvSpPr>
          <p:nvPr/>
        </p:nvSpPr>
        <p:spPr>
          <a:xfrm xmlns:a="http://schemas.openxmlformats.org/drawingml/2006/main">
            <a:off x="571500" y="342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Certification protected the mean but harmed most paths</a:t>
            </a:r>
          </a:p>
        </p:txBody>
      </p:sp>
      <p:sp>
        <p:nvSpPr>
          <p:cNvPr id="2" name="">
            <a:extLst xmlns:a="http://schemas.openxmlformats.org/drawingml/2006/main">
              <a:ext uri="{FF2B5EF4-FFF2-40B4-BE49-F238E27FC236}">
                <a16:creationId xmlns:a16="http://schemas.microsoft.com/office/drawing/2014/main" id="{7CA4D387-E834-47DB-B22A-FD7E31BB1B4A}"/>
              </a:ext>
            </a:extLst>
          </p:cNvPr>
          <p:cNvSpPr>
            <a:spLocks xmlns:a="http://schemas.openxmlformats.org/drawingml/2006/main" noGrp="1"/>
          </p:cNvSpPr>
          <p:nvPr/>
        </p:nvSpPr>
        <p:spPr>
          <a:xfrm xmlns:a="http://schemas.openxmlformats.org/drawingml/2006/main">
            <a:off x="590550" y="13144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Construction and sixteen certification queries now reduce the final-probe budget.</a:t>
            </a:r>
          </a:p>
        </p:txBody>
      </p:sp>
      <p:sp>
        <p:nvSpPr>
          <p:cNvPr id="3" name="">
            <a:extLst xmlns:a="http://schemas.openxmlformats.org/drawingml/2006/main">
              <a:ext uri="{FF2B5EF4-FFF2-40B4-BE49-F238E27FC236}">
                <a16:creationId xmlns:a16="http://schemas.microsoft.com/office/drawing/2014/main" id="{63B269CD-D43F-4FC9-A291-F633535FAC42}"/>
              </a:ext>
            </a:extLst>
          </p:cNvPr>
          <p:cNvSpPr>
            <a:spLocks xmlns:a="http://schemas.openxmlformats.org/drawingml/2006/main" noGrp="1"/>
          </p:cNvSpPr>
          <p:nvPr/>
        </p:nvSpPr>
        <p:spPr>
          <a:xfrm xmlns:a="http://schemas.openxmlformats.org/drawingml/2006/main">
            <a:off x="11049000" y="639127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9A39DCD2-88EF-41E2-B2D2-C82066E88327}"/>
              </a:ext>
            </a:extLst>
          </p:cNvPr>
          <p:cNvSpPr>
            <a:spLocks xmlns:a="http://schemas.openxmlformats.org/drawingml/2006/main" noGrp="1"/>
          </p:cNvSpPr>
          <p:nvPr/>
        </p:nvSpPr>
        <p:spPr>
          <a:xfrm xmlns:a="http://schemas.openxmlformats.org/drawingml/2006/main">
            <a:off x="685800" y="2190750"/>
            <a:ext cx="444817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250" b="1">
                <a:solidFill>
                  <a:srgbClr val="37847F"/>
                </a:solidFill>
                <a:latin typeface="Helvetica Neue"/>
                <a:ea typeface="Helvetica Neue"/>
                <a:cs typeface="Helvetica Neue"/>
              </a:defRPr>
            </a:pPr>
            <a:r>
              <a:rPr sz="5250" b="1">
                <a:solidFill>
                  <a:srgbClr val="37847F"/>
                </a:solidFill>
                <a:latin typeface="Helvetica Neue"/>
                <a:ea typeface="Helvetica Neue"/>
                <a:cs typeface="Helvetica Neue"/>
              </a:rPr>
              <a:t>0.036</a:t>
            </a:r>
          </a:p>
        </p:txBody>
      </p:sp>
      <p:sp>
        <p:nvSpPr>
          <p:cNvPr id="5" name="">
            <a:extLst xmlns:a="http://schemas.openxmlformats.org/drawingml/2006/main">
              <a:ext uri="{FF2B5EF4-FFF2-40B4-BE49-F238E27FC236}">
                <a16:creationId xmlns:a16="http://schemas.microsoft.com/office/drawing/2014/main" id="{C20A0A24-30A5-42D9-8BAE-165EA1E55090}"/>
              </a:ext>
            </a:extLst>
          </p:cNvPr>
          <p:cNvSpPr>
            <a:spLocks xmlns:a="http://schemas.openxmlformats.org/drawingml/2006/main" noGrp="1"/>
          </p:cNvSpPr>
          <p:nvPr/>
        </p:nvSpPr>
        <p:spPr>
          <a:xfrm xmlns:a="http://schemas.openxmlformats.org/drawingml/2006/main">
            <a:off x="685800" y="3248025"/>
            <a:ext cx="46005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92D3C"/>
                </a:solidFill>
                <a:latin typeface="Helvetica Neue"/>
                <a:ea typeface="Helvetica Neue"/>
                <a:cs typeface="Helvetica Neue"/>
              </a:defRPr>
            </a:pPr>
            <a:r>
              <a:rPr sz="2175" b="1">
                <a:solidFill>
                  <a:srgbClr val="192D3C"/>
                </a:solidFill>
                <a:latin typeface="Helvetica Neue"/>
                <a:ea typeface="Helvetica Neue"/>
                <a:cs typeface="Helvetica Neue"/>
              </a:rPr>
              <a:t>Aggregate mean-risk ratio</a:t>
            </a:r>
          </a:p>
        </p:txBody>
      </p:sp>
      <p:sp>
        <p:nvSpPr>
          <p:cNvPr id="6" name="">
            <a:extLst xmlns:a="http://schemas.openxmlformats.org/drawingml/2006/main">
              <a:ext uri="{FF2B5EF4-FFF2-40B4-BE49-F238E27FC236}">
                <a16:creationId xmlns:a16="http://schemas.microsoft.com/office/drawing/2014/main" id="{A9956F58-A132-4B2F-947A-5F5ABDE1F62A}"/>
              </a:ext>
            </a:extLst>
          </p:cNvPr>
          <p:cNvSpPr>
            <a:spLocks xmlns:a="http://schemas.openxmlformats.org/drawingml/2006/main" noGrp="1"/>
          </p:cNvSpPr>
          <p:nvPr/>
        </p:nvSpPr>
        <p:spPr>
          <a:xfrm xmlns:a="http://schemas.openxmlformats.org/drawingml/2006/main">
            <a:off x="685800" y="3838575"/>
            <a:ext cx="45339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586974"/>
                </a:solidFill>
                <a:latin typeface="Helvetica Neue"/>
                <a:ea typeface="Helvetica Neue"/>
                <a:cs typeface="Helvetica Neue"/>
              </a:defRPr>
            </a:pPr>
            <a:r>
              <a:rPr sz="1950" b="0">
                <a:solidFill>
                  <a:srgbClr val="586974"/>
                </a:solidFill>
                <a:latin typeface="Helvetica Neue"/>
                <a:ea typeface="Helvetica Neue"/>
                <a:cs typeface="Helvetica Neue"/>
              </a:rPr>
              <a:t>95% interval: 0.015–0.640</a:t>
            </a:r>
          </a:p>
          <a:p xmlns:a="http://schemas.openxmlformats.org/drawingml/2006/main">
            <a:pPr algn="l">
              <a:defRPr sz="1950" b="0">
                <a:solidFill>
                  <a:srgbClr val="586974"/>
                </a:solidFill>
                <a:latin typeface="Helvetica Neue"/>
                <a:ea typeface="Helvetica Neue"/>
                <a:cs typeface="Helvetica Neue"/>
              </a:defRPr>
            </a:pPr>
            <a:r>
              <a:rPr sz="1950" b="0">
                <a:solidFill>
                  <a:srgbClr val="586974"/>
                </a:solidFill>
                <a:latin typeface="Helvetica Neue"/>
                <a:ea typeface="Helvetica Neue"/>
                <a:cs typeface="Helvetica Neue"/>
              </a:rPr>
              <a:t>Original baseline = 1</a:t>
            </a:r>
          </a:p>
        </p:txBody>
      </p:sp>
      <p:sp>
        <p:nvSpPr>
          <p:cNvPr id="7" name="">
            <a:extLst xmlns:a="http://schemas.openxmlformats.org/drawingml/2006/main">
              <a:ext uri="{FF2B5EF4-FFF2-40B4-BE49-F238E27FC236}">
                <a16:creationId xmlns:a16="http://schemas.microsoft.com/office/drawing/2014/main" id="{C64FADCB-C030-4DED-83CF-4B11D3FAA96E}"/>
              </a:ext>
            </a:extLst>
          </p:cNvPr>
          <p:cNvSpPr>
            <a:spLocks xmlns:a="http://schemas.openxmlformats.org/drawingml/2006/main" noGrp="1"/>
          </p:cNvSpPr>
          <p:nvPr/>
        </p:nvSpPr>
        <p:spPr>
          <a:xfrm xmlns:a="http://schemas.openxmlformats.org/drawingml/2006/main">
            <a:off x="685800" y="5219700"/>
            <a:ext cx="4429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192D3C"/>
                </a:solidFill>
                <a:latin typeface="Helvetica Neue"/>
                <a:ea typeface="Helvetica Neue"/>
                <a:cs typeface="Helvetica Neue"/>
              </a:defRPr>
            </a:pPr>
            <a:r>
              <a:rPr sz="2100" b="0">
                <a:solidFill>
                  <a:srgbClr val="192D3C"/>
                </a:solidFill>
                <a:latin typeface="Helvetica Neue"/>
                <a:ea typeface="Helvetica Neue"/>
                <a:cs typeface="Helvetica Neue"/>
              </a:rPr>
              <a:t>Rare high-risk paths drive the mean.</a:t>
            </a:r>
          </a:p>
        </p:txBody>
      </p:sp>
      <p:graphicFrame>
        <p:nvGraphicFramePr>
          <p:cNvPr id="19" name="Chart"/>
          <p:cNvGraphicFramePr/>
          <p:nvPr/>
        </p:nvGraphicFramePr>
        <p:xfrm>
          <a:off xmlns:a="http://schemas.openxmlformats.org/drawingml/2006/main" x="5562600" y="2085975"/>
          <a:ext xmlns:a="http://schemas.openxmlformats.org/drawingml/2006/main" cx="5953125" cy="3495675"/>
        </p:xfrm>
        <a:graphic xmlns:a="http://schemas.openxmlformats.org/drawingml/2006/main">
          <a:graphicData uri="http://schemas.openxmlformats.org/drawingml/2006/chart">
            <c:chart xmlns:r="http://schemas.openxmlformats.org/officeDocument/2006/relationships" xmlns:c="http://schemas.openxmlformats.org/drawingml/2006/chart" r:id="R890082c5c1dd44dd"/>
          </a:graphicData>
        </a:graphic>
      </p:graphicFrame>
      <p:sp>
        <p:nvSpPr>
          <p:cNvPr id="9" name="">
            <a:extLst xmlns:a="http://schemas.openxmlformats.org/drawingml/2006/main">
              <a:ext uri="{FF2B5EF4-FFF2-40B4-BE49-F238E27FC236}">
                <a16:creationId xmlns:a16="http://schemas.microsoft.com/office/drawing/2014/main" id="{B67C7929-0C09-43D3-91B0-D4BEADB1AA8C}"/>
              </a:ext>
            </a:extLst>
          </p:cNvPr>
          <p:cNvSpPr>
            <a:spLocks xmlns:a="http://schemas.openxmlformats.org/drawingml/2006/main" noGrp="1"/>
          </p:cNvSpPr>
          <p:nvPr/>
        </p:nvSpPr>
        <p:spPr>
          <a:xfrm xmlns:a="http://schemas.openxmlformats.org/drawingml/2006/main">
            <a:off x="6286500" y="5543550"/>
            <a:ext cx="5191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586974"/>
                </a:solidFill>
                <a:latin typeface="Helvetica Neue"/>
                <a:ea typeface="Helvetica Neue"/>
                <a:cs typeface="Helvetica Neue"/>
              </a:defRPr>
            </a:pPr>
            <a:r>
              <a:rPr sz="1650" b="0">
                <a:solidFill>
                  <a:srgbClr val="586974"/>
                </a:solidFill>
                <a:latin typeface="Helvetica Neue"/>
                <a:ea typeface="Helvetica Neue"/>
                <a:cs typeface="Helvetica Neue"/>
              </a:rPr>
              <a:t>0 on the horizontal axis = equal risk</a:t>
            </a:r>
          </a:p>
        </p:txBody>
      </p:sp>
      <p:sp>
        <p:nvSpPr>
          <p:cNvPr id="10" name="">
            <a:extLst xmlns:a="http://schemas.openxmlformats.org/drawingml/2006/main">
              <a:ext uri="{FF2B5EF4-FFF2-40B4-BE49-F238E27FC236}">
                <a16:creationId xmlns:a16="http://schemas.microsoft.com/office/drawing/2014/main" id="{60EE6A17-C36F-48CE-AA75-401DFCF745A9}"/>
              </a:ext>
            </a:extLst>
          </p:cNvPr>
          <p:cNvSpPr>
            <a:spLocks xmlns:a="http://schemas.openxmlformats.org/drawingml/2006/main" noGrp="1"/>
          </p:cNvSpPr>
          <p:nvPr/>
        </p:nvSpPr>
        <p:spPr>
          <a:xfrm xmlns:a="http://schemas.openxmlformats.org/drawingml/2006/main">
            <a:off x="590550" y="6153150"/>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1755B9D-926B-46FC-AEB3-9B82C91421FC}"/>
              </a:ext>
            </a:extLst>
          </p:cNvPr>
          <p:cNvSpPr>
            <a:spLocks xmlns:a="http://schemas.openxmlformats.org/drawingml/2006/main" noGrp="1"/>
          </p:cNvSpPr>
          <p:nvPr/>
        </p:nvSpPr>
        <p:spPr>
          <a:xfrm xmlns:a="http://schemas.openxmlformats.org/drawingml/2006/main">
            <a:off x="590550" y="6267450"/>
            <a:ext cx="10239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575 / 600 paths had higher risk than their original baseline. Returning to that basis cannot refund queries.</a:t>
            </a:r>
          </a:p>
        </p:txBody>
      </p:sp>
    </p:spTree>
    <p:extLst>
      <p:ext uri="{BB962C8B-B14F-4D97-AF65-F5344CB8AC3E}">
        <p14:creationId xmlns:p14="http://schemas.microsoft.com/office/powerpoint/2010/main" val="105638646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D81F5B7-B401-496E-AC3C-8ABF056322FB}"/>
              </a:ext>
            </a:extLst>
          </p:cNvPr>
          <p:cNvSpPr>
            <a:spLocks xmlns:a="http://schemas.openxmlformats.org/drawingml/2006/main" noGrp="1"/>
          </p:cNvSpPr>
          <p:nvPr/>
        </p:nvSpPr>
        <p:spPr>
          <a:xfrm xmlns:a="http://schemas.openxmlformats.org/drawingml/2006/main">
            <a:off x="571500" y="342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Common probes helped least on catastrophic paths</a:t>
            </a:r>
          </a:p>
        </p:txBody>
      </p:sp>
      <p:sp>
        <p:nvSpPr>
          <p:cNvPr id="2" name="">
            <a:extLst xmlns:a="http://schemas.openxmlformats.org/drawingml/2006/main">
              <a:ext uri="{FF2B5EF4-FFF2-40B4-BE49-F238E27FC236}">
                <a16:creationId xmlns:a16="http://schemas.microsoft.com/office/drawing/2014/main" id="{D241935F-EC18-4CDB-BCFE-A7F4559815D8}"/>
              </a:ext>
            </a:extLst>
          </p:cNvPr>
          <p:cNvSpPr>
            <a:spLocks xmlns:a="http://schemas.openxmlformats.org/drawingml/2006/main" noGrp="1"/>
          </p:cNvSpPr>
          <p:nvPr/>
        </p:nvSpPr>
        <p:spPr>
          <a:xfrm xmlns:a="http://schemas.openxmlformats.org/drawingml/2006/main">
            <a:off x="590550" y="13144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Remaining variance (% of the independence benchmark). Lower is better.</a:t>
            </a:r>
          </a:p>
        </p:txBody>
      </p:sp>
      <p:sp>
        <p:nvSpPr>
          <p:cNvPr id="3" name="">
            <a:extLst xmlns:a="http://schemas.openxmlformats.org/drawingml/2006/main">
              <a:ext uri="{FF2B5EF4-FFF2-40B4-BE49-F238E27FC236}">
                <a16:creationId xmlns:a16="http://schemas.microsoft.com/office/drawing/2014/main" id="{DAAD64AC-E6CE-425E-B9AA-F67DCA287FA7}"/>
              </a:ext>
            </a:extLst>
          </p:cNvPr>
          <p:cNvSpPr>
            <a:spLocks xmlns:a="http://schemas.openxmlformats.org/drawingml/2006/main" noGrp="1"/>
          </p:cNvSpPr>
          <p:nvPr/>
        </p:nvSpPr>
        <p:spPr>
          <a:xfrm xmlns:a="http://schemas.openxmlformats.org/drawingml/2006/main">
            <a:off x="11049000" y="639127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10</a:t>
            </a:r>
          </a:p>
        </p:txBody>
      </p:sp>
      <p:graphicFrame>
        <p:nvGraphicFramePr>
          <p:cNvPr id="11" name="Chart"/>
          <p:cNvGraphicFramePr/>
          <p:nvPr/>
        </p:nvGraphicFramePr>
        <p:xfrm>
          <a:off xmlns:a="http://schemas.openxmlformats.org/drawingml/2006/main" x="704850" y="2038350"/>
          <a:ext xmlns:a="http://schemas.openxmlformats.org/drawingml/2006/main" cx="10620375" cy="3276600"/>
        </p:xfrm>
        <a:graphic xmlns:a="http://schemas.openxmlformats.org/drawingml/2006/main">
          <a:graphicData uri="http://schemas.openxmlformats.org/drawingml/2006/chart">
            <c:chart xmlns:r="http://schemas.openxmlformats.org/officeDocument/2006/relationships" xmlns:c="http://schemas.openxmlformats.org/drawingml/2006/chart" r:id="R9e46fdb743064c5d"/>
          </a:graphicData>
        </a:graphic>
      </p:graphicFrame>
      <p:sp>
        <p:nvSpPr>
          <p:cNvPr id="5" name="">
            <a:extLst xmlns:a="http://schemas.openxmlformats.org/drawingml/2006/main">
              <a:ext uri="{FF2B5EF4-FFF2-40B4-BE49-F238E27FC236}">
                <a16:creationId xmlns:a16="http://schemas.microsoft.com/office/drawing/2014/main" id="{A86146CF-DEB4-496A-9759-6CC114E100BA}"/>
              </a:ext>
            </a:extLst>
          </p:cNvPr>
          <p:cNvSpPr>
            <a:spLocks xmlns:a="http://schemas.openxmlformats.org/drawingml/2006/main" noGrp="1"/>
          </p:cNvSpPr>
          <p:nvPr/>
        </p:nvSpPr>
        <p:spPr>
          <a:xfrm xmlns:a="http://schemas.openxmlformats.org/drawingml/2006/main">
            <a:off x="752475" y="5467350"/>
            <a:ext cx="10477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192D3C"/>
                </a:solidFill>
                <a:latin typeface="Helvetica Neue"/>
                <a:ea typeface="Helvetica Neue"/>
                <a:cs typeface="Helvetica Neue"/>
              </a:defRPr>
            </a:pPr>
            <a:r>
              <a:rPr sz="2175" b="1">
                <a:solidFill>
                  <a:srgbClr val="192D3C"/>
                </a:solidFill>
                <a:latin typeface="Helvetica Neue"/>
                <a:ea typeface="Helvetica Neue"/>
                <a:cs typeface="Helvetica Neue"/>
              </a:rPr>
              <a:t>Overall: 15.1% remaining variance   [13.7%, 16.7%]</a:t>
            </a:r>
          </a:p>
        </p:txBody>
      </p:sp>
      <p:sp>
        <p:nvSpPr>
          <p:cNvPr id="6" name="">
            <a:extLst xmlns:a="http://schemas.openxmlformats.org/drawingml/2006/main">
              <a:ext uri="{FF2B5EF4-FFF2-40B4-BE49-F238E27FC236}">
                <a16:creationId xmlns:a16="http://schemas.microsoft.com/office/drawing/2014/main" id="{D429AB5D-5D9A-41BA-AF2E-6CD0258E2FFD}"/>
              </a:ext>
            </a:extLst>
          </p:cNvPr>
          <p:cNvSpPr>
            <a:spLocks xmlns:a="http://schemas.openxmlformats.org/drawingml/2006/main" noGrp="1"/>
          </p:cNvSpPr>
          <p:nvPr/>
        </p:nvSpPr>
        <p:spPr>
          <a:xfrm xmlns:a="http://schemas.openxmlformats.org/drawingml/2006/main">
            <a:off x="590550" y="6153150"/>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80CED68-397A-47BA-9DAA-E8199E6A6A0D}"/>
              </a:ext>
            </a:extLst>
          </p:cNvPr>
          <p:cNvSpPr>
            <a:spLocks xmlns:a="http://schemas.openxmlformats.org/drawingml/2006/main" noGrp="1"/>
          </p:cNvSpPr>
          <p:nvPr/>
        </p:nvSpPr>
        <p:spPr>
          <a:xfrm xmlns:a="http://schemas.openxmlformats.org/drawingml/2006/main">
            <a:off x="590550" y="6267450"/>
            <a:ext cx="10239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The benchmark is the sum of marginal variances. The shifted comparator is not an independent sample.</a:t>
            </a:r>
          </a:p>
        </p:txBody>
      </p:sp>
    </p:spTree>
    <p:extLst>
      <p:ext uri="{BB962C8B-B14F-4D97-AF65-F5344CB8AC3E}">
        <p14:creationId xmlns:p14="http://schemas.microsoft.com/office/powerpoint/2010/main" val="190140985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5A49850-8E87-4394-862A-076ED53B6A03}"/>
              </a:ext>
            </a:extLst>
          </p:cNvPr>
          <p:cNvSpPr>
            <a:spLocks xmlns:a="http://schemas.openxmlformats.org/drawingml/2006/main" noGrp="1"/>
          </p:cNvSpPr>
          <p:nvPr/>
        </p:nvSpPr>
        <p:spPr>
          <a:xfrm xmlns:a="http://schemas.openxmlformats.org/drawingml/2006/main">
            <a:off x="571500" y="342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Useful small-budget confidence remains open</a:t>
            </a:r>
          </a:p>
        </p:txBody>
      </p:sp>
      <p:sp>
        <p:nvSpPr>
          <p:cNvPr id="2" name="">
            <a:extLst xmlns:a="http://schemas.openxmlformats.org/drawingml/2006/main">
              <a:ext uri="{FF2B5EF4-FFF2-40B4-BE49-F238E27FC236}">
                <a16:creationId xmlns:a16="http://schemas.microsoft.com/office/drawing/2014/main" id="{741810FA-32B2-4C53-9FA2-7F922D52C3D3}"/>
              </a:ext>
            </a:extLst>
          </p:cNvPr>
          <p:cNvSpPr>
            <a:spLocks xmlns:a="http://schemas.openxmlformats.org/drawingml/2006/main" noGrp="1"/>
          </p:cNvSpPr>
          <p:nvPr/>
        </p:nvSpPr>
        <p:spPr>
          <a:xfrm xmlns:a="http://schemas.openxmlformats.org/drawingml/2006/main">
            <a:off x="11049000" y="639127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11</a:t>
            </a:r>
          </a:p>
        </p:txBody>
      </p:sp>
      <p:sp>
        <p:nvSpPr>
          <p:cNvPr id="3" name="">
            <a:extLst xmlns:a="http://schemas.openxmlformats.org/drawingml/2006/main">
              <a:ext uri="{FF2B5EF4-FFF2-40B4-BE49-F238E27FC236}">
                <a16:creationId xmlns:a16="http://schemas.microsoft.com/office/drawing/2014/main" id="{E0FF8DFC-1D95-4E34-9957-41EC52431F19}"/>
              </a:ext>
            </a:extLst>
          </p:cNvPr>
          <p:cNvSpPr>
            <a:spLocks xmlns:a="http://schemas.openxmlformats.org/drawingml/2006/main" noGrp="1"/>
          </p:cNvSpPr>
          <p:nvPr/>
        </p:nvSpPr>
        <p:spPr>
          <a:xfrm xmlns:a="http://schemas.openxmlformats.org/drawingml/2006/main">
            <a:off x="638175" y="1819275"/>
            <a:ext cx="5238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37847F"/>
                </a:solidFill>
                <a:latin typeface="Helvetica Neue"/>
                <a:ea typeface="Helvetica Neue"/>
                <a:cs typeface="Helvetica Neue"/>
              </a:defRPr>
            </a:pPr>
            <a:r>
              <a:rPr sz="2250" b="1">
                <a:solidFill>
                  <a:srgbClr val="37847F"/>
                </a:solidFill>
                <a:latin typeface="Helvetica Neue"/>
                <a:ea typeface="Helvetica Neue"/>
                <a:cs typeface="Helvetica Neue"/>
              </a:rPr>
              <a:t>Established</a:t>
            </a:r>
          </a:p>
        </p:txBody>
      </p:sp>
      <p:sp>
        <p:nvSpPr>
          <p:cNvPr id="4" name="">
            <a:extLst xmlns:a="http://schemas.openxmlformats.org/drawingml/2006/main">
              <a:ext uri="{FF2B5EF4-FFF2-40B4-BE49-F238E27FC236}">
                <a16:creationId xmlns:a16="http://schemas.microsoft.com/office/drawing/2014/main" id="{DEC2912B-41E0-4745-A601-B63177D5A34B}"/>
              </a:ext>
            </a:extLst>
          </p:cNvPr>
          <p:cNvSpPr>
            <a:spLocks xmlns:a="http://schemas.openxmlformats.org/drawingml/2006/main" noGrp="1"/>
          </p:cNvSpPr>
          <p:nvPr/>
        </p:nvSpPr>
        <p:spPr>
          <a:xfrm xmlns:a="http://schemas.openxmlformats.org/drawingml/2006/main">
            <a:off x="638175" y="2390775"/>
            <a:ext cx="52387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92D3C"/>
                </a:solidFill>
                <a:latin typeface="Helvetica Neue"/>
                <a:ea typeface="Helvetica Neue"/>
                <a:cs typeface="Helvetica Neue"/>
              </a:defRPr>
            </a:pPr>
            <a:r>
              <a:rPr sz="2325" b="0">
                <a:solidFill>
                  <a:srgbClr val="192D3C"/>
                </a:solidFill>
                <a:latin typeface="Helvetica Neue"/>
                <a:ea typeface="Helvetica Neue"/>
                <a:cs typeface="Helvetica Neue"/>
              </a:rPr>
              <a:t>Conditional unbiasedness</a:t>
            </a:r>
          </a:p>
          <a:p xmlns:a="http://schemas.openxmlformats.org/drawingml/2006/main">
            <a:pPr algn="l">
              <a:defRPr sz="2325" b="0">
                <a:solidFill>
                  <a:srgbClr val="192D3C"/>
                </a:solidFill>
                <a:latin typeface="Helvetica Neue"/>
                <a:ea typeface="Helvetica Neue"/>
                <a:cs typeface="Helvetica Neue"/>
              </a:defRPr>
            </a:pPr>
            <a:r>
              <a:rPr sz="2325" b="0">
                <a:solidFill>
                  <a:srgbClr val="192D3C"/>
                </a:solidFill>
                <a:latin typeface="Helvetica Neue"/>
                <a:ea typeface="Helvetica Neue"/>
                <a:cs typeface="Helvetica Neue"/>
              </a:rPr>
              <a:t>Exact probe-specific risk</a:t>
            </a:r>
          </a:p>
          <a:p xmlns:a="http://schemas.openxmlformats.org/drawingml/2006/main">
            <a:pPr algn="l">
              <a:defRPr sz="2325" b="0">
                <a:solidFill>
                  <a:srgbClr val="192D3C"/>
                </a:solidFill>
                <a:latin typeface="Helvetica Neue"/>
                <a:ea typeface="Helvetica Neue"/>
                <a:cs typeface="Helvetica Neue"/>
              </a:defRPr>
            </a:pPr>
            <a:r>
              <a:rPr sz="2325" b="0">
                <a:solidFill>
                  <a:srgbClr val="192D3C"/>
                </a:solidFill>
                <a:latin typeface="Helvetica Neue"/>
                <a:ea typeface="Helvetica Neue"/>
                <a:cs typeface="Helvetica Neue"/>
              </a:rPr>
              <a:t>Local query-value identities</a:t>
            </a:r>
          </a:p>
        </p:txBody>
      </p:sp>
      <p:sp>
        <p:nvSpPr>
          <p:cNvPr id="5" name="">
            <a:extLst xmlns:a="http://schemas.openxmlformats.org/drawingml/2006/main">
              <a:ext uri="{FF2B5EF4-FFF2-40B4-BE49-F238E27FC236}">
                <a16:creationId xmlns:a16="http://schemas.microsoft.com/office/drawing/2014/main" id="{2A077D15-2A3B-47FE-A849-B91C04F1D2F6}"/>
              </a:ext>
            </a:extLst>
          </p:cNvPr>
          <p:cNvSpPr>
            <a:spLocks xmlns:a="http://schemas.openxmlformats.org/drawingml/2006/main" noGrp="1"/>
          </p:cNvSpPr>
          <p:nvPr/>
        </p:nvSpPr>
        <p:spPr>
          <a:xfrm xmlns:a="http://schemas.openxmlformats.org/drawingml/2006/main">
            <a:off x="6772275" y="1819275"/>
            <a:ext cx="47720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31688E"/>
                </a:solidFill>
                <a:latin typeface="Helvetica Neue"/>
                <a:ea typeface="Helvetica Neue"/>
                <a:cs typeface="Helvetica Neue"/>
              </a:defRPr>
            </a:pPr>
            <a:r>
              <a:rPr sz="2250" b="1">
                <a:solidFill>
                  <a:srgbClr val="31688E"/>
                </a:solidFill>
                <a:latin typeface="Helvetica Neue"/>
                <a:ea typeface="Helvetica Neue"/>
                <a:cs typeface="Helvetica Neue"/>
              </a:rPr>
              <a:t>Confidence with assumptions</a:t>
            </a:r>
          </a:p>
        </p:txBody>
      </p:sp>
      <p:sp>
        <p:nvSpPr>
          <p:cNvPr id="6" name="">
            <a:extLst xmlns:a="http://schemas.openxmlformats.org/drawingml/2006/main">
              <a:ext uri="{FF2B5EF4-FFF2-40B4-BE49-F238E27FC236}">
                <a16:creationId xmlns:a16="http://schemas.microsoft.com/office/drawing/2014/main" id="{9133D689-D783-4D79-816D-FFEC32C309F9}"/>
              </a:ext>
            </a:extLst>
          </p:cNvPr>
          <p:cNvSpPr>
            <a:spLocks xmlns:a="http://schemas.openxmlformats.org/drawingml/2006/main" noGrp="1"/>
          </p:cNvSpPr>
          <p:nvPr/>
        </p:nvSpPr>
        <p:spPr>
          <a:xfrm xmlns:a="http://schemas.openxmlformats.org/drawingml/2006/main">
            <a:off x="6772275" y="2390775"/>
            <a:ext cx="47720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92D3C"/>
                </a:solidFill>
                <a:latin typeface="Helvetica Neue"/>
                <a:ea typeface="Helvetica Neue"/>
                <a:cs typeface="Helvetica Neue"/>
              </a:defRPr>
            </a:pPr>
            <a:r>
              <a:rPr sz="2250" b="0">
                <a:solidFill>
                  <a:srgbClr val="192D3C"/>
                </a:solidFill>
                <a:latin typeface="Helvetica Neue"/>
                <a:ea typeface="Helvetica Neue"/>
                <a:cs typeface="Helvetica Neue"/>
              </a:rPr>
              <a:t>A valid norm prior gives a finite</a:t>
            </a:r>
          </a:p>
          <a:p xmlns:a="http://schemas.openxmlformats.org/drawingml/2006/main">
            <a:pPr algn="l">
              <a:defRPr sz="2250" b="0">
                <a:solidFill>
                  <a:srgbClr val="192D3C"/>
                </a:solidFill>
                <a:latin typeface="Helvetica Neue"/>
                <a:ea typeface="Helvetica Neue"/>
                <a:cs typeface="Helvetica Neue"/>
              </a:defRPr>
            </a:pPr>
            <a:r>
              <a:rPr sz="2250" b="0">
                <a:solidFill>
                  <a:srgbClr val="192D3C"/>
                </a:solidFill>
                <a:latin typeface="Helvetica Neue"/>
                <a:ea typeface="Helvetica Neue"/>
                <a:cs typeface="Helvetica Neue"/>
              </a:rPr>
              <a:t>paired-difference radius.</a:t>
            </a:r>
          </a:p>
        </p:txBody>
      </p:sp>
      <p:sp>
        <p:nvSpPr>
          <p:cNvPr id="7" name="">
            <a:extLst xmlns:a="http://schemas.openxmlformats.org/drawingml/2006/main">
              <a:ext uri="{FF2B5EF4-FFF2-40B4-BE49-F238E27FC236}">
                <a16:creationId xmlns:a16="http://schemas.microsoft.com/office/drawing/2014/main" id="{05CD85C9-B7D4-4AE2-8703-8609E9864541}"/>
              </a:ext>
            </a:extLst>
          </p:cNvPr>
          <p:cNvSpPr>
            <a:spLocks xmlns:a="http://schemas.openxmlformats.org/drawingml/2006/main" noGrp="1"/>
          </p:cNvSpPr>
          <p:nvPr/>
        </p:nvSpPr>
        <p:spPr>
          <a:xfrm xmlns:a="http://schemas.openxmlformats.org/drawingml/2006/main">
            <a:off x="6772275" y="3619500"/>
            <a:ext cx="47720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BC702D"/>
                </a:solidFill>
                <a:latin typeface="Helvetica Neue"/>
                <a:ea typeface="Helvetica Neue"/>
                <a:cs typeface="Helvetica Neue"/>
              </a:defRPr>
            </a:pPr>
            <a:r>
              <a:rPr sz="2325" b="1">
                <a:solidFill>
                  <a:srgbClr val="BC702D"/>
                </a:solidFill>
                <a:latin typeface="Helvetica Neue"/>
                <a:ea typeface="Helvetica Neue"/>
                <a:cs typeface="Helvetica Neue"/>
              </a:rPr>
              <a:t>Is it observable, sharp enough,</a:t>
            </a:r>
          </a:p>
          <a:p xmlns:a="http://schemas.openxmlformats.org/drawingml/2006/main">
            <a:pPr algn="l">
              <a:defRPr sz="2325" b="1">
                <a:solidFill>
                  <a:srgbClr val="BC702D"/>
                </a:solidFill>
                <a:latin typeface="Helvetica Neue"/>
                <a:ea typeface="Helvetica Neue"/>
                <a:cs typeface="Helvetica Neue"/>
              </a:defRPr>
            </a:pPr>
            <a:r>
              <a:rPr sz="2325" b="1">
                <a:solidFill>
                  <a:srgbClr val="BC702D"/>
                </a:solidFill>
                <a:latin typeface="Helvetica Neue"/>
                <a:ea typeface="Helvetica Neue"/>
                <a:cs typeface="Helvetica Neue"/>
              </a:rPr>
              <a:t>and worth its query cost?</a:t>
            </a:r>
          </a:p>
        </p:txBody>
      </p:sp>
      <p:sp>
        <p:nvSpPr>
          <p:cNvPr id="8" name="">
            <a:extLst xmlns:a="http://schemas.openxmlformats.org/drawingml/2006/main">
              <a:ext uri="{FF2B5EF4-FFF2-40B4-BE49-F238E27FC236}">
                <a16:creationId xmlns:a16="http://schemas.microsoft.com/office/drawing/2014/main" id="{3316FEC6-3FBB-4FF7-8C47-2108DF035DC1}"/>
              </a:ext>
            </a:extLst>
          </p:cNvPr>
          <p:cNvSpPr>
            <a:spLocks xmlns:a="http://schemas.openxmlformats.org/drawingml/2006/main" noGrp="1"/>
          </p:cNvSpPr>
          <p:nvPr/>
        </p:nvSpPr>
        <p:spPr>
          <a:xfrm xmlns:a="http://schemas.openxmlformats.org/drawingml/2006/main">
            <a:off x="638175" y="4924425"/>
            <a:ext cx="10877550" cy="962025"/>
          </a:xfrm>
          <a:prstGeom xmlns:a="http://schemas.openxmlformats.org/drawingml/2006/main" prst="rect">
            <a:avLst/>
          </a:prstGeom>
          <a:solidFill xmlns:a="http://schemas.openxmlformats.org/drawingml/2006/main">
            <a:srgbClr val="FAF1E7"/>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7B872897-4E45-4CBC-9EA7-548A2DEE1A09}"/>
              </a:ext>
            </a:extLst>
          </p:cNvPr>
          <p:cNvSpPr>
            <a:spLocks xmlns:a="http://schemas.openxmlformats.org/drawingml/2006/main" noGrp="1"/>
          </p:cNvSpPr>
          <p:nvPr/>
        </p:nvSpPr>
        <p:spPr>
          <a:xfrm xmlns:a="http://schemas.openxmlformats.org/drawingml/2006/main">
            <a:off x="819150" y="5048250"/>
            <a:ext cx="10429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192D3C"/>
                </a:solidFill>
                <a:latin typeface="Helvetica Neue"/>
                <a:ea typeface="Helvetica Neue"/>
                <a:cs typeface="Helvetica Neue"/>
              </a:defRPr>
            </a:pPr>
            <a:r>
              <a:rPr sz="2100" b="0">
                <a:solidFill>
                  <a:srgbClr val="192D3C"/>
                </a:solidFill>
                <a:latin typeface="Helvetica Neue"/>
                <a:ea typeface="Helvetica Neue"/>
                <a:cs typeface="Helvetica Neue"/>
              </a:rPr>
              <a:t>At 32 probes, even the improved fourth-moment</a:t>
            </a:r>
          </a:p>
          <a:p xmlns:a="http://schemas.openxmlformats.org/drawingml/2006/main">
            <a:pPr algn="l">
              <a:defRPr sz="2100" b="0">
                <a:solidFill>
                  <a:srgbClr val="192D3C"/>
                </a:solidFill>
                <a:latin typeface="Helvetica Neue"/>
                <a:ea typeface="Helvetica Neue"/>
                <a:cs typeface="Helvetica Neue"/>
              </a:defRPr>
            </a:pPr>
            <a:r>
              <a:rPr sz="2100" b="0">
                <a:solidFill>
                  <a:srgbClr val="192D3C"/>
                </a:solidFill>
                <a:latin typeface="Helvetica Neue"/>
                <a:ea typeface="Helvetica Neue"/>
                <a:cs typeface="Helvetica Neue"/>
              </a:rPr>
              <a:t>Chebyshev radius is about 4.19, above the required 1.</a:t>
            </a:r>
          </a:p>
        </p:txBody>
      </p:sp>
      <p:sp>
        <p:nvSpPr>
          <p:cNvPr id="10" name="">
            <a:extLst xmlns:a="http://schemas.openxmlformats.org/drawingml/2006/main">
              <a:ext uri="{FF2B5EF4-FFF2-40B4-BE49-F238E27FC236}">
                <a16:creationId xmlns:a16="http://schemas.microsoft.com/office/drawing/2014/main" id="{AA8A3725-7790-42D2-8987-BA9D099A655B}"/>
              </a:ext>
            </a:extLst>
          </p:cNvPr>
          <p:cNvSpPr>
            <a:spLocks xmlns:a="http://schemas.openxmlformats.org/drawingml/2006/main" noGrp="1"/>
          </p:cNvSpPr>
          <p:nvPr/>
        </p:nvSpPr>
        <p:spPr>
          <a:xfrm xmlns:a="http://schemas.openxmlformats.org/drawingml/2006/main">
            <a:off x="590550" y="6153150"/>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4799645-0AF9-45A5-91D0-9AAD4CCA6D29}"/>
              </a:ext>
            </a:extLst>
          </p:cNvPr>
          <p:cNvSpPr>
            <a:spLocks xmlns:a="http://schemas.openxmlformats.org/drawingml/2006/main" noGrp="1"/>
          </p:cNvSpPr>
          <p:nvPr/>
        </p:nvSpPr>
        <p:spPr>
          <a:xfrm xmlns:a="http://schemas.openxmlformats.org/drawingml/2006/main">
            <a:off x="590550" y="6267450"/>
            <a:ext cx="10239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This is a limit of the audited confidence constructions, not an impossibility theorem for certification.</a:t>
            </a:r>
          </a:p>
        </p:txBody>
      </p:sp>
    </p:spTree>
    <p:extLst>
      <p:ext uri="{BB962C8B-B14F-4D97-AF65-F5344CB8AC3E}">
        <p14:creationId xmlns:p14="http://schemas.microsoft.com/office/powerpoint/2010/main" val="187372601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F5F3FBA-D0FA-4B71-A406-69B5C727DD29}"/>
              </a:ext>
            </a:extLst>
          </p:cNvPr>
          <p:cNvSpPr>
            <a:spLocks xmlns:a="http://schemas.openxmlformats.org/drawingml/2006/main" noGrp="1"/>
          </p:cNvSpPr>
          <p:nvPr/>
        </p:nvSpPr>
        <p:spPr>
          <a:xfrm xmlns:a="http://schemas.openxmlformats.org/drawingml/2006/main">
            <a:off x="571500" y="342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Decisions for this meeting</a:t>
            </a:r>
          </a:p>
        </p:txBody>
      </p:sp>
      <p:sp>
        <p:nvSpPr>
          <p:cNvPr id="2" name="">
            <a:extLst xmlns:a="http://schemas.openxmlformats.org/drawingml/2006/main">
              <a:ext uri="{FF2B5EF4-FFF2-40B4-BE49-F238E27FC236}">
                <a16:creationId xmlns:a16="http://schemas.microsoft.com/office/drawing/2014/main" id="{A667D6BE-CDAA-47C2-9441-B160DB7E70CD}"/>
              </a:ext>
            </a:extLst>
          </p:cNvPr>
          <p:cNvSpPr>
            <a:spLocks xmlns:a="http://schemas.openxmlformats.org/drawingml/2006/main" noGrp="1"/>
          </p:cNvSpPr>
          <p:nvPr/>
        </p:nvSpPr>
        <p:spPr>
          <a:xfrm xmlns:a="http://schemas.openxmlformats.org/drawingml/2006/main">
            <a:off x="11049000" y="639127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12</a:t>
            </a:r>
          </a:p>
        </p:txBody>
      </p:sp>
      <p:sp>
        <p:nvSpPr>
          <p:cNvPr id="3" name="">
            <a:extLst xmlns:a="http://schemas.openxmlformats.org/drawingml/2006/main">
              <a:ext uri="{FF2B5EF4-FFF2-40B4-BE49-F238E27FC236}">
                <a16:creationId xmlns:a16="http://schemas.microsoft.com/office/drawing/2014/main" id="{9D1CFE6C-1D21-4E25-9128-40AFF4A19546}"/>
              </a:ext>
            </a:extLst>
          </p:cNvPr>
          <p:cNvSpPr>
            <a:spLocks xmlns:a="http://schemas.openxmlformats.org/drawingml/2006/main" noGrp="1"/>
          </p:cNvSpPr>
          <p:nvPr/>
        </p:nvSpPr>
        <p:spPr>
          <a:xfrm xmlns:a="http://schemas.openxmlformats.org/drawingml/2006/main">
            <a:off x="666750" y="1743075"/>
            <a:ext cx="10382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92D3C"/>
                </a:solidFill>
                <a:latin typeface="Helvetica Neue"/>
                <a:ea typeface="Helvetica Neue"/>
                <a:cs typeface="Helvetica Neue"/>
              </a:defRPr>
            </a:pPr>
            <a:r>
              <a:rPr sz="2475" b="1">
                <a:solidFill>
                  <a:srgbClr val="192D3C"/>
                </a:solidFill>
                <a:latin typeface="Helvetica Neue"/>
                <a:ea typeface="Helvetica Neue"/>
                <a:cs typeface="Helvetica Neue"/>
              </a:rPr>
              <a:t>UROP report</a:t>
            </a:r>
          </a:p>
        </p:txBody>
      </p:sp>
      <p:sp>
        <p:nvSpPr>
          <p:cNvPr id="4" name="">
            <a:extLst xmlns:a="http://schemas.openxmlformats.org/drawingml/2006/main">
              <a:ext uri="{FF2B5EF4-FFF2-40B4-BE49-F238E27FC236}">
                <a16:creationId xmlns:a16="http://schemas.microsoft.com/office/drawing/2014/main" id="{1A68A083-E0E2-4F09-8699-7CAEC6EEDC53}"/>
              </a:ext>
            </a:extLst>
          </p:cNvPr>
          <p:cNvSpPr>
            <a:spLocks xmlns:a="http://schemas.openxmlformats.org/drawingml/2006/main" noGrp="1"/>
          </p:cNvSpPr>
          <p:nvPr/>
        </p:nvSpPr>
        <p:spPr>
          <a:xfrm xmlns:a="http://schemas.openxmlformats.org/drawingml/2006/main">
            <a:off x="666750" y="2324100"/>
            <a:ext cx="1047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92D3C"/>
                </a:solidFill>
                <a:latin typeface="Helvetica Neue"/>
                <a:ea typeface="Helvetica Neue"/>
                <a:cs typeface="Helvetica Neue"/>
              </a:defRPr>
            </a:pPr>
            <a:r>
              <a:rPr sz="2250" b="0">
                <a:solidFill>
                  <a:srgbClr val="192D3C"/>
                </a:solidFill>
                <a:latin typeface="Helvetica Neue"/>
                <a:ea typeface="Helvetica Neue"/>
                <a:cs typeface="Helvetica Neue"/>
              </a:rPr>
              <a:t>Use the verified failure mechanisms as the central contribution.</a:t>
            </a:r>
          </a:p>
        </p:txBody>
      </p:sp>
      <p:sp>
        <p:nvSpPr>
          <p:cNvPr id="5" name="">
            <a:extLst xmlns:a="http://schemas.openxmlformats.org/drawingml/2006/main">
              <a:ext uri="{FF2B5EF4-FFF2-40B4-BE49-F238E27FC236}">
                <a16:creationId xmlns:a16="http://schemas.microsoft.com/office/drawing/2014/main" id="{D4CADAA6-E36A-4C1A-845B-024572803D52}"/>
              </a:ext>
            </a:extLst>
          </p:cNvPr>
          <p:cNvSpPr>
            <a:spLocks xmlns:a="http://schemas.openxmlformats.org/drawingml/2006/main" noGrp="1"/>
          </p:cNvSpPr>
          <p:nvPr/>
        </p:nvSpPr>
        <p:spPr>
          <a:xfrm xmlns:a="http://schemas.openxmlformats.org/drawingml/2006/main">
            <a:off x="590550" y="3286125"/>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DDE80117-5E79-46AE-BFCA-156C400D0C59}"/>
              </a:ext>
            </a:extLst>
          </p:cNvPr>
          <p:cNvSpPr>
            <a:spLocks xmlns:a="http://schemas.openxmlformats.org/drawingml/2006/main" noGrp="1"/>
          </p:cNvSpPr>
          <p:nvPr/>
        </p:nvSpPr>
        <p:spPr>
          <a:xfrm xmlns:a="http://schemas.openxmlformats.org/drawingml/2006/main">
            <a:off x="666750" y="3476625"/>
            <a:ext cx="10287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92D3C"/>
                </a:solidFill>
                <a:latin typeface="Helvetica Neue"/>
                <a:ea typeface="Helvetica Neue"/>
                <a:cs typeface="Helvetica Neue"/>
              </a:defRPr>
            </a:pPr>
            <a:r>
              <a:rPr sz="2475" b="1">
                <a:solidFill>
                  <a:srgbClr val="192D3C"/>
                </a:solidFill>
                <a:latin typeface="Helvetica Neue"/>
                <a:ea typeface="Helvetica Neue"/>
                <a:cs typeface="Helvetica Neue"/>
              </a:rPr>
              <a:t>Continuation options</a:t>
            </a:r>
          </a:p>
        </p:txBody>
      </p:sp>
      <p:sp>
        <p:nvSpPr>
          <p:cNvPr id="7" name="">
            <a:extLst xmlns:a="http://schemas.openxmlformats.org/drawingml/2006/main">
              <a:ext uri="{FF2B5EF4-FFF2-40B4-BE49-F238E27FC236}">
                <a16:creationId xmlns:a16="http://schemas.microsoft.com/office/drawing/2014/main" id="{EF773009-B597-4A04-B264-29F0F3447DCB}"/>
              </a:ext>
            </a:extLst>
          </p:cNvPr>
          <p:cNvSpPr>
            <a:spLocks xmlns:a="http://schemas.openxmlformats.org/drawingml/2006/main" noGrp="1"/>
          </p:cNvSpPr>
          <p:nvPr/>
        </p:nvSpPr>
        <p:spPr>
          <a:xfrm xmlns:a="http://schemas.openxmlformats.org/drawingml/2006/main">
            <a:off x="666750" y="4257675"/>
            <a:ext cx="4981575" cy="1419225"/>
          </a:xfrm>
          <a:prstGeom xmlns:a="http://schemas.openxmlformats.org/drawingml/2006/main" prst="rect">
            <a:avLst/>
          </a:prstGeom>
          <a:solidFill xmlns:a="http://schemas.openxmlformats.org/drawingml/2006/main">
            <a:srgbClr val="EBF4F1"/>
          </a:solidFill>
          <a:ln xmlns:a="http://schemas.openxmlformats.org/drawingml/2006/main" w="12383">
            <a:solidFill>
              <a:srgbClr val="CCD8DE"/>
            </a:solidFill>
          </a:ln>
        </p:spPr>
      </p:sp>
      <p:sp>
        <p:nvSpPr>
          <p:cNvPr id="8" name="">
            <a:extLst xmlns:a="http://schemas.openxmlformats.org/drawingml/2006/main">
              <a:ext uri="{FF2B5EF4-FFF2-40B4-BE49-F238E27FC236}">
                <a16:creationId xmlns:a16="http://schemas.microsoft.com/office/drawing/2014/main" id="{DCEC2A96-8CB4-41BB-9638-3FCB462AD703}"/>
              </a:ext>
            </a:extLst>
          </p:cNvPr>
          <p:cNvSpPr>
            <a:spLocks xmlns:a="http://schemas.openxmlformats.org/drawingml/2006/main" noGrp="1"/>
          </p:cNvSpPr>
          <p:nvPr/>
        </p:nvSpPr>
        <p:spPr>
          <a:xfrm xmlns:a="http://schemas.openxmlformats.org/drawingml/2006/main">
            <a:off x="838200" y="4381500"/>
            <a:ext cx="46386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Direct risk comparison</a:t>
            </a:r>
          </a:p>
        </p:txBody>
      </p:sp>
      <p:sp>
        <p:nvSpPr>
          <p:cNvPr id="9" name="">
            <a:extLst xmlns:a="http://schemas.openxmlformats.org/drawingml/2006/main">
              <a:ext uri="{FF2B5EF4-FFF2-40B4-BE49-F238E27FC236}">
                <a16:creationId xmlns:a16="http://schemas.microsoft.com/office/drawing/2014/main" id="{9E553783-0116-4F79-BC26-F25FB23EDCD9}"/>
              </a:ext>
            </a:extLst>
          </p:cNvPr>
          <p:cNvSpPr>
            <a:spLocks xmlns:a="http://schemas.openxmlformats.org/drawingml/2006/main" noGrp="1"/>
          </p:cNvSpPr>
          <p:nvPr/>
        </p:nvSpPr>
        <p:spPr>
          <a:xfrm xmlns:a="http://schemas.openxmlformats.org/drawingml/2006/main">
            <a:off x="838200" y="4819650"/>
            <a:ext cx="4638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Can common probes give a useful</a:t>
            </a:r>
          </a:p>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one-sided confidence bound?</a:t>
            </a:r>
          </a:p>
        </p:txBody>
      </p:sp>
      <p:sp>
        <p:nvSpPr>
          <p:cNvPr id="10" name="">
            <a:extLst xmlns:a="http://schemas.openxmlformats.org/drawingml/2006/main">
              <a:ext uri="{FF2B5EF4-FFF2-40B4-BE49-F238E27FC236}">
                <a16:creationId xmlns:a16="http://schemas.microsoft.com/office/drawing/2014/main" id="{E0A9EF1F-31DC-4F77-8BDA-C6358061E359}"/>
              </a:ext>
            </a:extLst>
          </p:cNvPr>
          <p:cNvSpPr>
            <a:spLocks xmlns:a="http://schemas.openxmlformats.org/drawingml/2006/main" noGrp="1"/>
          </p:cNvSpPr>
          <p:nvPr/>
        </p:nvSpPr>
        <p:spPr>
          <a:xfrm xmlns:a="http://schemas.openxmlformats.org/drawingml/2006/main">
            <a:off x="6534150" y="4257675"/>
            <a:ext cx="4981575" cy="1419225"/>
          </a:xfrm>
          <a:prstGeom xmlns:a="http://schemas.openxmlformats.org/drawingml/2006/main" prst="rect">
            <a:avLst/>
          </a:prstGeom>
          <a:solidFill xmlns:a="http://schemas.openxmlformats.org/drawingml/2006/main">
            <a:srgbClr val="EDF4F6"/>
          </a:solidFill>
          <a:ln xmlns:a="http://schemas.openxmlformats.org/drawingml/2006/main" w="12383">
            <a:solidFill>
              <a:srgbClr val="CCD8DE"/>
            </a:solidFill>
          </a:ln>
        </p:spPr>
      </p:sp>
      <p:sp>
        <p:nvSpPr>
          <p:cNvPr id="11" name="">
            <a:extLst xmlns:a="http://schemas.openxmlformats.org/drawingml/2006/main">
              <a:ext uri="{FF2B5EF4-FFF2-40B4-BE49-F238E27FC236}">
                <a16:creationId xmlns:a16="http://schemas.microsoft.com/office/drawing/2014/main" id="{ADB97633-60D7-438F-8BAC-8341572D58C3}"/>
              </a:ext>
            </a:extLst>
          </p:cNvPr>
          <p:cNvSpPr>
            <a:spLocks xmlns:a="http://schemas.openxmlformats.org/drawingml/2006/main" noGrp="1"/>
          </p:cNvSpPr>
          <p:nvPr/>
        </p:nvSpPr>
        <p:spPr>
          <a:xfrm xmlns:a="http://schemas.openxmlformats.org/drawingml/2006/main">
            <a:off x="6705600" y="4381500"/>
            <a:ext cx="46386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Capture verification</a:t>
            </a:r>
          </a:p>
        </p:txBody>
      </p:sp>
      <p:sp>
        <p:nvSpPr>
          <p:cNvPr id="12" name="">
            <a:extLst xmlns:a="http://schemas.openxmlformats.org/drawingml/2006/main">
              <a:ext uri="{FF2B5EF4-FFF2-40B4-BE49-F238E27FC236}">
                <a16:creationId xmlns:a16="http://schemas.microsoft.com/office/drawing/2014/main" id="{137732B6-953E-4E3E-9DD1-C13F991ABED8}"/>
              </a:ext>
            </a:extLst>
          </p:cNvPr>
          <p:cNvSpPr>
            <a:spLocks xmlns:a="http://schemas.openxmlformats.org/drawingml/2006/main" noGrp="1"/>
          </p:cNvSpPr>
          <p:nvPr/>
        </p:nvSpPr>
        <p:spPr>
          <a:xfrm xmlns:a="http://schemas.openxmlformats.org/drawingml/2006/main">
            <a:off x="6705600" y="4819650"/>
            <a:ext cx="46386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Can a cheap test detect an</a:t>
            </a:r>
          </a:p>
          <a:p xmlns:a="http://schemas.openxmlformats.org/drawingml/2006/main">
            <a:pPr algn="l">
              <a:defRPr sz="1800" b="0">
                <a:solidFill>
                  <a:srgbClr val="192D3C"/>
                </a:solidFill>
                <a:latin typeface="Helvetica Neue"/>
                <a:ea typeface="Helvetica Neue"/>
                <a:cs typeface="Helvetica Neue"/>
              </a:defRPr>
            </a:pPr>
            <a:r>
              <a:rPr sz="1800" b="0">
                <a:solidFill>
                  <a:srgbClr val="192D3C"/>
                </a:solidFill>
                <a:latin typeface="Helvetica Neue"/>
                <a:ea typeface="Helvetica Neue"/>
                <a:cs typeface="Helvetica Neue"/>
              </a:rPr>
              <a:t>important missing direction?</a:t>
            </a:r>
          </a:p>
        </p:txBody>
      </p:sp>
      <p:sp>
        <p:nvSpPr>
          <p:cNvPr id="13" name="">
            <a:extLst xmlns:a="http://schemas.openxmlformats.org/drawingml/2006/main">
              <a:ext uri="{FF2B5EF4-FFF2-40B4-BE49-F238E27FC236}">
                <a16:creationId xmlns:a16="http://schemas.microsoft.com/office/drawing/2014/main" id="{C3F27DFC-C741-463F-A5D4-FD6C1F204A98}"/>
              </a:ext>
            </a:extLst>
          </p:cNvPr>
          <p:cNvSpPr>
            <a:spLocks xmlns:a="http://schemas.openxmlformats.org/drawingml/2006/main" noGrp="1"/>
          </p:cNvSpPr>
          <p:nvPr/>
        </p:nvSpPr>
        <p:spPr>
          <a:xfrm xmlns:a="http://schemas.openxmlformats.org/drawingml/2006/main">
            <a:off x="590550" y="6153150"/>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93638863-CBFC-446B-8561-CC21BE708852}"/>
              </a:ext>
            </a:extLst>
          </p:cNvPr>
          <p:cNvSpPr>
            <a:spLocks xmlns:a="http://schemas.openxmlformats.org/drawingml/2006/main" noGrp="1"/>
          </p:cNvSpPr>
          <p:nvPr/>
        </p:nvSpPr>
        <p:spPr>
          <a:xfrm xmlns:a="http://schemas.openxmlformats.org/drawingml/2006/main">
            <a:off x="590550" y="6267450"/>
            <a:ext cx="10239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Recommendation: finish the report first, then choose one question with an explicit query-cost and fallback contract.</a:t>
            </a:r>
          </a:p>
        </p:txBody>
      </p:sp>
    </p:spTree>
    <p:extLst>
      <p:ext uri="{BB962C8B-B14F-4D97-AF65-F5344CB8AC3E}">
        <p14:creationId xmlns:p14="http://schemas.microsoft.com/office/powerpoint/2010/main" val="155500045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CB49ABF-ADD3-4BAD-BFE6-E127017B23D0}"/>
              </a:ext>
            </a:extLst>
          </p:cNvPr>
          <p:cNvSpPr>
            <a:spLocks xmlns:a="http://schemas.openxmlformats.org/drawingml/2006/main" noGrp="1"/>
          </p:cNvSpPr>
          <p:nvPr/>
        </p:nvSpPr>
        <p:spPr>
          <a:xfrm xmlns:a="http://schemas.openxmlformats.org/drawingml/2006/main">
            <a:off x="571500" y="342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exact risk and one-step comparisons</a:t>
            </a:r>
          </a:p>
        </p:txBody>
      </p:sp>
      <p:sp>
        <p:nvSpPr>
          <p:cNvPr id="2" name="">
            <a:extLst xmlns:a="http://schemas.openxmlformats.org/drawingml/2006/main">
              <a:ext uri="{FF2B5EF4-FFF2-40B4-BE49-F238E27FC236}">
                <a16:creationId xmlns:a16="http://schemas.microsoft.com/office/drawing/2014/main" id="{DD7D770B-DB92-4C2D-B4F1-933BB2FCCFDB}"/>
              </a:ext>
            </a:extLst>
          </p:cNvPr>
          <p:cNvSpPr>
            <a:spLocks xmlns:a="http://schemas.openxmlformats.org/drawingml/2006/main" noGrp="1"/>
          </p:cNvSpPr>
          <p:nvPr/>
        </p:nvSpPr>
        <p:spPr>
          <a:xfrm xmlns:a="http://schemas.openxmlformats.org/drawingml/2006/main">
            <a:off x="11049000" y="639127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13</a:t>
            </a:r>
          </a:p>
        </p:txBody>
      </p:sp>
      <p:sp>
        <p:nvSpPr>
          <p:cNvPr id="3" name="">
            <a:extLst xmlns:a="http://schemas.openxmlformats.org/drawingml/2006/main">
              <a:ext uri="{FF2B5EF4-FFF2-40B4-BE49-F238E27FC236}">
                <a16:creationId xmlns:a16="http://schemas.microsoft.com/office/drawing/2014/main" id="{0DEB067F-5AF6-4A0A-AC2F-A10791A18484}"/>
              </a:ext>
            </a:extLst>
          </p:cNvPr>
          <p:cNvSpPr>
            <a:spLocks xmlns:a="http://schemas.openxmlformats.org/drawingml/2006/main" noGrp="1"/>
          </p:cNvSpPr>
          <p:nvPr/>
        </p:nvSpPr>
        <p:spPr>
          <a:xfrm xmlns:a="http://schemas.openxmlformats.org/drawingml/2006/main">
            <a:off x="609600" y="15049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H = (I − QQᵀ) A (I − QQᵀ),     D = m − q − r &gt; 0</a:t>
            </a:r>
          </a:p>
        </p:txBody>
      </p:sp>
      <p:sp>
        <p:nvSpPr>
          <p:cNvPr id="4" name="">
            <a:extLst xmlns:a="http://schemas.openxmlformats.org/drawingml/2006/main">
              <a:ext uri="{FF2B5EF4-FFF2-40B4-BE49-F238E27FC236}">
                <a16:creationId xmlns:a16="http://schemas.microsoft.com/office/drawing/2014/main" id="{751ABA93-EF5C-40E7-8F9C-A25341ED1890}"/>
              </a:ext>
            </a:extLst>
          </p:cNvPr>
          <p:cNvSpPr>
            <a:spLocks xmlns:a="http://schemas.openxmlformats.org/drawingml/2006/main" noGrp="1"/>
          </p:cNvSpPr>
          <p:nvPr/>
        </p:nvSpPr>
        <p:spPr>
          <a:xfrm xmlns:a="http://schemas.openxmlformats.org/drawingml/2006/main">
            <a:off x="638175" y="242887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31688E"/>
                </a:solidFill>
                <a:latin typeface="Helvetica Neue"/>
                <a:ea typeface="Helvetica Neue"/>
                <a:cs typeface="Helvetica Neue"/>
              </a:defRPr>
            </a:pPr>
            <a:r>
              <a:rPr sz="2175" b="1">
                <a:solidFill>
                  <a:srgbClr val="31688E"/>
                </a:solidFill>
                <a:latin typeface="Helvetica Neue"/>
                <a:ea typeface="Helvetica Neue"/>
                <a:cs typeface="Helvetica Neue"/>
              </a:rPr>
              <a:t>Gaussian</a:t>
            </a:r>
          </a:p>
        </p:txBody>
      </p:sp>
      <p:sp>
        <p:nvSpPr>
          <p:cNvPr id="5" name="">
            <a:extLst xmlns:a="http://schemas.openxmlformats.org/drawingml/2006/main">
              <a:ext uri="{FF2B5EF4-FFF2-40B4-BE49-F238E27FC236}">
                <a16:creationId xmlns:a16="http://schemas.microsoft.com/office/drawing/2014/main" id="{F63C2D64-C47B-421A-BE28-F947B3E36261}"/>
              </a:ext>
            </a:extLst>
          </p:cNvPr>
          <p:cNvSpPr>
            <a:spLocks xmlns:a="http://schemas.openxmlformats.org/drawingml/2006/main" noGrp="1"/>
          </p:cNvSpPr>
          <p:nvPr/>
        </p:nvSpPr>
        <p:spPr>
          <a:xfrm xmlns:a="http://schemas.openxmlformats.org/drawingml/2006/main">
            <a:off x="638175" y="28575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0">
                <a:solidFill>
                  <a:srgbClr val="192D3C"/>
                </a:solidFill>
                <a:latin typeface="Helvetica Neue"/>
                <a:ea typeface="Helvetica Neue"/>
                <a:cs typeface="Helvetica Neue"/>
              </a:defRPr>
            </a:pPr>
            <a:r>
              <a:rPr sz="2625" b="0">
                <a:solidFill>
                  <a:srgbClr val="192D3C"/>
                </a:solidFill>
                <a:latin typeface="Helvetica Neue"/>
                <a:ea typeface="Helvetica Neue"/>
                <a:cs typeface="Helvetica Neue"/>
              </a:rPr>
              <a:t>Risk = 2 E / D</a:t>
            </a:r>
          </a:p>
        </p:txBody>
      </p:sp>
      <p:sp>
        <p:nvSpPr>
          <p:cNvPr id="6" name="">
            <a:extLst xmlns:a="http://schemas.openxmlformats.org/drawingml/2006/main">
              <a:ext uri="{FF2B5EF4-FFF2-40B4-BE49-F238E27FC236}">
                <a16:creationId xmlns:a16="http://schemas.microsoft.com/office/drawing/2014/main" id="{CC4E0482-0CDA-474E-B354-68E83EADB1B3}"/>
              </a:ext>
            </a:extLst>
          </p:cNvPr>
          <p:cNvSpPr>
            <a:spLocks xmlns:a="http://schemas.openxmlformats.org/drawingml/2006/main" noGrp="1"/>
          </p:cNvSpPr>
          <p:nvPr/>
        </p:nvSpPr>
        <p:spPr>
          <a:xfrm xmlns:a="http://schemas.openxmlformats.org/drawingml/2006/main">
            <a:off x="638175" y="33909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E: sum of all squared entries of H</a:t>
            </a:r>
          </a:p>
        </p:txBody>
      </p:sp>
      <p:sp>
        <p:nvSpPr>
          <p:cNvPr id="7" name="">
            <a:extLst xmlns:a="http://schemas.openxmlformats.org/drawingml/2006/main">
              <a:ext uri="{FF2B5EF4-FFF2-40B4-BE49-F238E27FC236}">
                <a16:creationId xmlns:a16="http://schemas.microsoft.com/office/drawing/2014/main" id="{854C45F8-4066-4A8B-A7B3-6EC0C03450E6}"/>
              </a:ext>
            </a:extLst>
          </p:cNvPr>
          <p:cNvSpPr>
            <a:spLocks xmlns:a="http://schemas.openxmlformats.org/drawingml/2006/main" noGrp="1"/>
          </p:cNvSpPr>
          <p:nvPr/>
        </p:nvSpPr>
        <p:spPr>
          <a:xfrm xmlns:a="http://schemas.openxmlformats.org/drawingml/2006/main">
            <a:off x="6619875" y="2428875"/>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37847F"/>
                </a:solidFill>
                <a:latin typeface="Helvetica Neue"/>
                <a:ea typeface="Helvetica Neue"/>
                <a:cs typeface="Helvetica Neue"/>
              </a:defRPr>
            </a:pPr>
            <a:r>
              <a:rPr sz="2175" b="1">
                <a:solidFill>
                  <a:srgbClr val="37847F"/>
                </a:solidFill>
                <a:latin typeface="Helvetica Neue"/>
                <a:ea typeface="Helvetica Neue"/>
                <a:cs typeface="Helvetica Neue"/>
              </a:rPr>
              <a:t>Rademacher</a:t>
            </a:r>
          </a:p>
        </p:txBody>
      </p:sp>
      <p:sp>
        <p:nvSpPr>
          <p:cNvPr id="8" name="">
            <a:extLst xmlns:a="http://schemas.openxmlformats.org/drawingml/2006/main">
              <a:ext uri="{FF2B5EF4-FFF2-40B4-BE49-F238E27FC236}">
                <a16:creationId xmlns:a16="http://schemas.microsoft.com/office/drawing/2014/main" id="{DE4F5D67-3562-41AC-B4D1-2278D46B20A4}"/>
              </a:ext>
            </a:extLst>
          </p:cNvPr>
          <p:cNvSpPr>
            <a:spLocks xmlns:a="http://schemas.openxmlformats.org/drawingml/2006/main" noGrp="1"/>
          </p:cNvSpPr>
          <p:nvPr/>
        </p:nvSpPr>
        <p:spPr>
          <a:xfrm xmlns:a="http://schemas.openxmlformats.org/drawingml/2006/main">
            <a:off x="6619875" y="2857500"/>
            <a:ext cx="485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0">
                <a:solidFill>
                  <a:srgbClr val="192D3C"/>
                </a:solidFill>
                <a:latin typeface="Helvetica Neue"/>
                <a:ea typeface="Helvetica Neue"/>
                <a:cs typeface="Helvetica Neue"/>
              </a:defRPr>
            </a:pPr>
            <a:r>
              <a:rPr sz="2625" b="0">
                <a:solidFill>
                  <a:srgbClr val="192D3C"/>
                </a:solidFill>
                <a:latin typeface="Helvetica Neue"/>
                <a:ea typeface="Helvetica Neue"/>
                <a:cs typeface="Helvetica Neue"/>
              </a:rPr>
              <a:t>Risk = 2 E / D</a:t>
            </a:r>
          </a:p>
        </p:txBody>
      </p:sp>
      <p:sp>
        <p:nvSpPr>
          <p:cNvPr id="9" name="">
            <a:extLst xmlns:a="http://schemas.openxmlformats.org/drawingml/2006/main">
              <a:ext uri="{FF2B5EF4-FFF2-40B4-BE49-F238E27FC236}">
                <a16:creationId xmlns:a16="http://schemas.microsoft.com/office/drawing/2014/main" id="{7E2BC771-9C72-4E58-94A4-C3F2FC264266}"/>
              </a:ext>
            </a:extLst>
          </p:cNvPr>
          <p:cNvSpPr>
            <a:spLocks xmlns:a="http://schemas.openxmlformats.org/drawingml/2006/main" noGrp="1"/>
          </p:cNvSpPr>
          <p:nvPr/>
        </p:nvSpPr>
        <p:spPr>
          <a:xfrm xmlns:a="http://schemas.openxmlformats.org/drawingml/2006/main">
            <a:off x="6619875" y="3390900"/>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586974"/>
                </a:solidFill>
                <a:latin typeface="Helvetica Neue"/>
                <a:ea typeface="Helvetica Neue"/>
                <a:cs typeface="Helvetica Neue"/>
              </a:defRPr>
            </a:pPr>
            <a:r>
              <a:rPr sz="1800" b="0">
                <a:solidFill>
                  <a:srgbClr val="586974"/>
                </a:solidFill>
                <a:latin typeface="Helvetica Neue"/>
                <a:ea typeface="Helvetica Neue"/>
                <a:cs typeface="Helvetica Neue"/>
              </a:rPr>
              <a:t>E: sum of squares, off-diagonal only</a:t>
            </a:r>
          </a:p>
        </p:txBody>
      </p:sp>
      <p:sp>
        <p:nvSpPr>
          <p:cNvPr id="10" name="">
            <a:extLst xmlns:a="http://schemas.openxmlformats.org/drawingml/2006/main">
              <a:ext uri="{FF2B5EF4-FFF2-40B4-BE49-F238E27FC236}">
                <a16:creationId xmlns:a16="http://schemas.microsoft.com/office/drawing/2014/main" id="{466CC481-AF2B-4EE6-93E8-51B3D46819CC}"/>
              </a:ext>
            </a:extLst>
          </p:cNvPr>
          <p:cNvSpPr>
            <a:spLocks xmlns:a="http://schemas.openxmlformats.org/drawingml/2006/main" noGrp="1"/>
          </p:cNvSpPr>
          <p:nvPr/>
        </p:nvSpPr>
        <p:spPr>
          <a:xfrm xmlns:a="http://schemas.openxmlformats.org/drawingml/2006/main">
            <a:off x="590550" y="3886200"/>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A69DF68-4E40-4A33-903E-5A57B515927D}"/>
              </a:ext>
            </a:extLst>
          </p:cNvPr>
          <p:cNvSpPr>
            <a:spLocks xmlns:a="http://schemas.openxmlformats.org/drawingml/2006/main" noGrp="1"/>
          </p:cNvSpPr>
          <p:nvPr/>
        </p:nvSpPr>
        <p:spPr>
          <a:xfrm xmlns:a="http://schemas.openxmlformats.org/drawingml/2006/main">
            <a:off x="638175" y="4171950"/>
            <a:ext cx="5048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92D3C"/>
                </a:solidFill>
                <a:latin typeface="Helvetica Neue"/>
                <a:ea typeface="Helvetica Neue"/>
                <a:cs typeface="Helvetica Neue"/>
              </a:defRPr>
            </a:pPr>
            <a:r>
              <a:rPr sz="2025" b="1">
                <a:solidFill>
                  <a:srgbClr val="192D3C"/>
                </a:solidFill>
                <a:latin typeface="Helvetica Neue"/>
                <a:ea typeface="Helvetica Neue"/>
                <a:cs typeface="Helvetica Neue"/>
              </a:rPr>
              <a:t>Accepted direction</a:t>
            </a:r>
          </a:p>
        </p:txBody>
      </p:sp>
      <p:sp>
        <p:nvSpPr>
          <p:cNvPr id="12" name="">
            <a:extLst xmlns:a="http://schemas.openxmlformats.org/drawingml/2006/main">
              <a:ext uri="{FF2B5EF4-FFF2-40B4-BE49-F238E27FC236}">
                <a16:creationId xmlns:a16="http://schemas.microsoft.com/office/drawing/2014/main" id="{2B392D31-9BED-4FFD-96A5-29DFA781CFE5}"/>
              </a:ext>
            </a:extLst>
          </p:cNvPr>
          <p:cNvSpPr>
            <a:spLocks xmlns:a="http://schemas.openxmlformats.org/drawingml/2006/main" noGrp="1"/>
          </p:cNvSpPr>
          <p:nvPr/>
        </p:nvSpPr>
        <p:spPr>
          <a:xfrm xmlns:a="http://schemas.openxmlformats.org/drawingml/2006/main">
            <a:off x="638175" y="4724400"/>
            <a:ext cx="52197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92D3C"/>
                </a:solidFill>
                <a:latin typeface="Helvetica Neue"/>
                <a:ea typeface="Helvetica Neue"/>
                <a:cs typeface="Helvetica Neue"/>
              </a:defRPr>
            </a:pPr>
            <a:r>
              <a:rPr sz="2250" b="0">
                <a:solidFill>
                  <a:srgbClr val="192D3C"/>
                </a:solidFill>
                <a:latin typeface="Helvetica Neue"/>
                <a:ea typeface="Helvetica Neue"/>
                <a:cs typeface="Helvetica Neue"/>
              </a:rPr>
              <a:t>Risk falls iff D(E − E′) &gt; 2E</a:t>
            </a:r>
          </a:p>
        </p:txBody>
      </p:sp>
      <p:sp>
        <p:nvSpPr>
          <p:cNvPr id="13" name="">
            <a:extLst xmlns:a="http://schemas.openxmlformats.org/drawingml/2006/main">
              <a:ext uri="{FF2B5EF4-FFF2-40B4-BE49-F238E27FC236}">
                <a16:creationId xmlns:a16="http://schemas.microsoft.com/office/drawing/2014/main" id="{AF07BA26-D184-4BE0-BB55-301833E6D78A}"/>
              </a:ext>
            </a:extLst>
          </p:cNvPr>
          <p:cNvSpPr>
            <a:spLocks xmlns:a="http://schemas.openxmlformats.org/drawingml/2006/main" noGrp="1"/>
          </p:cNvSpPr>
          <p:nvPr/>
        </p:nvSpPr>
        <p:spPr>
          <a:xfrm xmlns:a="http://schemas.openxmlformats.org/drawingml/2006/main">
            <a:off x="6619875" y="4171950"/>
            <a:ext cx="4972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92D3C"/>
                </a:solidFill>
                <a:latin typeface="Helvetica Neue"/>
                <a:ea typeface="Helvetica Neue"/>
                <a:cs typeface="Helvetica Neue"/>
              </a:defRPr>
            </a:pPr>
            <a:r>
              <a:rPr sz="2025" b="1">
                <a:solidFill>
                  <a:srgbClr val="192D3C"/>
                </a:solidFill>
                <a:latin typeface="Helvetica Neue"/>
                <a:ea typeface="Helvetica Neue"/>
                <a:cs typeface="Helvetica Neue"/>
              </a:rPr>
              <a:t>Rejected direction, same Q</a:t>
            </a:r>
          </a:p>
        </p:txBody>
      </p:sp>
      <p:sp>
        <p:nvSpPr>
          <p:cNvPr id="14" name="">
            <a:extLst xmlns:a="http://schemas.openxmlformats.org/drawingml/2006/main">
              <a:ext uri="{FF2B5EF4-FFF2-40B4-BE49-F238E27FC236}">
                <a16:creationId xmlns:a16="http://schemas.microsoft.com/office/drawing/2014/main" id="{A20D9AB4-082B-4BA4-B74A-3E307543D0EA}"/>
              </a:ext>
            </a:extLst>
          </p:cNvPr>
          <p:cNvSpPr>
            <a:spLocks xmlns:a="http://schemas.openxmlformats.org/drawingml/2006/main" noGrp="1"/>
          </p:cNvSpPr>
          <p:nvPr/>
        </p:nvSpPr>
        <p:spPr>
          <a:xfrm xmlns:a="http://schemas.openxmlformats.org/drawingml/2006/main">
            <a:off x="6619875" y="4724400"/>
            <a:ext cx="49149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92D3C"/>
                </a:solidFill>
                <a:latin typeface="Helvetica Neue"/>
                <a:ea typeface="Helvetica Neue"/>
                <a:cs typeface="Helvetica Neue"/>
              </a:defRPr>
            </a:pPr>
            <a:r>
              <a:rPr sz="2175" b="0">
                <a:solidFill>
                  <a:srgbClr val="192D3C"/>
                </a:solidFill>
                <a:latin typeface="Helvetica Neue"/>
                <a:ea typeface="Helvetica Neue"/>
                <a:cs typeface="Helvetica Neue"/>
              </a:rPr>
              <a:t>Risk increases by 2E / [D(D − 1)]</a:t>
            </a:r>
          </a:p>
        </p:txBody>
      </p:sp>
      <p:sp>
        <p:nvSpPr>
          <p:cNvPr id="15" name="">
            <a:extLst xmlns:a="http://schemas.openxmlformats.org/drawingml/2006/main">
              <a:ext uri="{FF2B5EF4-FFF2-40B4-BE49-F238E27FC236}">
                <a16:creationId xmlns:a16="http://schemas.microsoft.com/office/drawing/2014/main" id="{B74882B7-189C-4A6E-8CC4-DA4FC6C8A410}"/>
              </a:ext>
            </a:extLst>
          </p:cNvPr>
          <p:cNvSpPr>
            <a:spLocks xmlns:a="http://schemas.openxmlformats.org/drawingml/2006/main" noGrp="1"/>
          </p:cNvSpPr>
          <p:nvPr/>
        </p:nvSpPr>
        <p:spPr>
          <a:xfrm xmlns:a="http://schemas.openxmlformats.org/drawingml/2006/main">
            <a:off x="590550" y="6153150"/>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753F62A8-33A0-4D2A-BF0A-19DDC6A1056C}"/>
              </a:ext>
            </a:extLst>
          </p:cNvPr>
          <p:cNvSpPr>
            <a:spLocks xmlns:a="http://schemas.openxmlformats.org/drawingml/2006/main" noGrp="1"/>
          </p:cNvSpPr>
          <p:nvPr/>
        </p:nvSpPr>
        <p:spPr>
          <a:xfrm xmlns:a="http://schemas.openxmlformats.org/drawingml/2006/main">
            <a:off x="590550" y="6267450"/>
            <a:ext cx="10239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Fixed symmetric A, orthonormal Q and fresh independent probes. Successful comparison requires D &gt; 2.</a:t>
            </a:r>
          </a:p>
        </p:txBody>
      </p:sp>
    </p:spTree>
    <p:extLst>
      <p:ext uri="{BB962C8B-B14F-4D97-AF65-F5344CB8AC3E}">
        <p14:creationId xmlns:p14="http://schemas.microsoft.com/office/powerpoint/2010/main" val="209231452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7D5D4AE-0AD0-4C5A-846E-AAAA83DD510C}"/>
              </a:ext>
            </a:extLst>
          </p:cNvPr>
          <p:cNvSpPr>
            <a:spLocks xmlns:a="http://schemas.openxmlformats.org/drawingml/2006/main" noGrp="1"/>
          </p:cNvSpPr>
          <p:nvPr/>
        </p:nvSpPr>
        <p:spPr>
          <a:xfrm xmlns:a="http://schemas.openxmlformats.org/drawingml/2006/main">
            <a:off x="571500" y="342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sample variance and confidence limits</a:t>
            </a:r>
          </a:p>
        </p:txBody>
      </p:sp>
      <p:sp>
        <p:nvSpPr>
          <p:cNvPr id="2" name="">
            <a:extLst xmlns:a="http://schemas.openxmlformats.org/drawingml/2006/main">
              <a:ext uri="{FF2B5EF4-FFF2-40B4-BE49-F238E27FC236}">
                <a16:creationId xmlns:a16="http://schemas.microsoft.com/office/drawing/2014/main" id="{8A0FE43D-597B-4396-9BD8-9257BE18D1A3}"/>
              </a:ext>
            </a:extLst>
          </p:cNvPr>
          <p:cNvSpPr>
            <a:spLocks xmlns:a="http://schemas.openxmlformats.org/drawingml/2006/main" noGrp="1"/>
          </p:cNvSpPr>
          <p:nvPr/>
        </p:nvSpPr>
        <p:spPr>
          <a:xfrm xmlns:a="http://schemas.openxmlformats.org/drawingml/2006/main">
            <a:off x="11049000" y="639127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14</a:t>
            </a:r>
          </a:p>
        </p:txBody>
      </p:sp>
      <p:sp>
        <p:nvSpPr>
          <p:cNvPr id="3" name="">
            <a:extLst xmlns:a="http://schemas.openxmlformats.org/drawingml/2006/main">
              <a:ext uri="{FF2B5EF4-FFF2-40B4-BE49-F238E27FC236}">
                <a16:creationId xmlns:a16="http://schemas.microsoft.com/office/drawing/2014/main" id="{514737DA-951C-4A50-B05A-FB6C65950B2A}"/>
              </a:ext>
            </a:extLst>
          </p:cNvPr>
          <p:cNvSpPr>
            <a:spLocks xmlns:a="http://schemas.openxmlformats.org/drawingml/2006/main" noGrp="1"/>
          </p:cNvSpPr>
          <p:nvPr/>
        </p:nvSpPr>
        <p:spPr>
          <a:xfrm xmlns:a="http://schemas.openxmlformats.org/drawingml/2006/main">
            <a:off x="619125" y="147637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Unbiased sample variance estimates σ² = Var(X)</a:t>
            </a:r>
          </a:p>
        </p:txBody>
      </p:sp>
      <p:sp>
        <p:nvSpPr>
          <p:cNvPr id="4" name="">
            <a:extLst xmlns:a="http://schemas.openxmlformats.org/drawingml/2006/main">
              <a:ext uri="{FF2B5EF4-FFF2-40B4-BE49-F238E27FC236}">
                <a16:creationId xmlns:a16="http://schemas.microsoft.com/office/drawing/2014/main" id="{610D09C2-2930-4E1D-9366-6399BA32FAAE}"/>
              </a:ext>
            </a:extLst>
          </p:cNvPr>
          <p:cNvSpPr>
            <a:spLocks xmlns:a="http://schemas.openxmlformats.org/drawingml/2006/main" noGrp="1"/>
          </p:cNvSpPr>
          <p:nvPr/>
        </p:nvSpPr>
        <p:spPr>
          <a:xfrm xmlns:a="http://schemas.openxmlformats.org/drawingml/2006/main">
            <a:off x="619125" y="2085975"/>
            <a:ext cx="10906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550" b="0">
                <a:solidFill>
                  <a:srgbClr val="31688E"/>
                </a:solidFill>
                <a:latin typeface="Helvetica Neue"/>
                <a:ea typeface="Helvetica Neue"/>
                <a:cs typeface="Helvetica Neue"/>
              </a:defRPr>
            </a:pPr>
            <a:r>
              <a:rPr sz="2550" b="0">
                <a:solidFill>
                  <a:srgbClr val="31688E"/>
                </a:solidFill>
                <a:latin typeface="Helvetica Neue"/>
                <a:ea typeface="Helvetica Neue"/>
                <a:cs typeface="Helvetica Neue"/>
              </a:rPr>
              <a:t>Var(S²) = [μ₄ − ((s − 3)/(s − 1)) σ⁴] / s</a:t>
            </a:r>
          </a:p>
        </p:txBody>
      </p:sp>
      <p:sp>
        <p:nvSpPr>
          <p:cNvPr id="5" name="">
            <a:extLst xmlns:a="http://schemas.openxmlformats.org/drawingml/2006/main">
              <a:ext uri="{FF2B5EF4-FFF2-40B4-BE49-F238E27FC236}">
                <a16:creationId xmlns:a16="http://schemas.microsoft.com/office/drawing/2014/main" id="{F2A6B076-755A-475D-B2D8-E42024A9045D}"/>
              </a:ext>
            </a:extLst>
          </p:cNvPr>
          <p:cNvSpPr>
            <a:spLocks xmlns:a="http://schemas.openxmlformats.org/drawingml/2006/main" noGrp="1"/>
          </p:cNvSpPr>
          <p:nvPr/>
        </p:nvSpPr>
        <p:spPr>
          <a:xfrm xmlns:a="http://schemas.openxmlformats.org/drawingml/2006/main">
            <a:off x="590550" y="3009900"/>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09601D8-F9A8-49D4-97E0-26C761D774FB}"/>
              </a:ext>
            </a:extLst>
          </p:cNvPr>
          <p:cNvSpPr>
            <a:spLocks xmlns:a="http://schemas.openxmlformats.org/drawingml/2006/main" noGrp="1"/>
          </p:cNvSpPr>
          <p:nvPr/>
        </p:nvSpPr>
        <p:spPr>
          <a:xfrm xmlns:a="http://schemas.openxmlformats.org/drawingml/2006/main">
            <a:off x="619125" y="3248025"/>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192D3C"/>
                </a:solidFill>
                <a:latin typeface="Helvetica Neue"/>
                <a:ea typeface="Helvetica Neue"/>
                <a:cs typeface="Helvetica Neue"/>
              </a:defRPr>
            </a:pPr>
            <a:r>
              <a:rPr sz="2250" b="1">
                <a:solidFill>
                  <a:srgbClr val="192D3C"/>
                </a:solidFill>
                <a:latin typeface="Helvetica Neue"/>
                <a:ea typeface="Helvetica Neue"/>
                <a:cs typeface="Helvetica Neue"/>
              </a:rPr>
              <a:t>Hoeffding decomposition</a:t>
            </a:r>
          </a:p>
        </p:txBody>
      </p:sp>
      <p:sp>
        <p:nvSpPr>
          <p:cNvPr id="7" name="">
            <a:extLst xmlns:a="http://schemas.openxmlformats.org/drawingml/2006/main">
              <a:ext uri="{FF2B5EF4-FFF2-40B4-BE49-F238E27FC236}">
                <a16:creationId xmlns:a16="http://schemas.microsoft.com/office/drawing/2014/main" id="{E75D829F-B059-4D8A-B4B0-837D2067B4CA}"/>
              </a:ext>
            </a:extLst>
          </p:cNvPr>
          <p:cNvSpPr>
            <a:spLocks xmlns:a="http://schemas.openxmlformats.org/drawingml/2006/main" noGrp="1"/>
          </p:cNvSpPr>
          <p:nvPr/>
        </p:nvSpPr>
        <p:spPr>
          <a:xfrm xmlns:a="http://schemas.openxmlformats.org/drawingml/2006/main">
            <a:off x="619125" y="3857625"/>
            <a:ext cx="1090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92D3C"/>
                </a:solidFill>
                <a:latin typeface="Helvetica Neue"/>
                <a:ea typeface="Helvetica Neue"/>
                <a:cs typeface="Helvetica Neue"/>
              </a:defRPr>
            </a:pPr>
            <a:r>
              <a:rPr sz="2250" b="0">
                <a:solidFill>
                  <a:srgbClr val="192D3C"/>
                </a:solidFill>
                <a:latin typeface="Helvetica Neue"/>
                <a:ea typeface="Helvetica Neue"/>
                <a:cs typeface="Helvetica Neue"/>
              </a:rPr>
              <a:t>Linear term: h₁(x) = ((x − μ)² − σ²) / 2</a:t>
            </a:r>
          </a:p>
        </p:txBody>
      </p:sp>
      <p:sp>
        <p:nvSpPr>
          <p:cNvPr id="8" name="">
            <a:extLst xmlns:a="http://schemas.openxmlformats.org/drawingml/2006/main">
              <a:ext uri="{FF2B5EF4-FFF2-40B4-BE49-F238E27FC236}">
                <a16:creationId xmlns:a16="http://schemas.microsoft.com/office/drawing/2014/main" id="{C1B614B0-676A-486E-8376-98A45CBD4461}"/>
              </a:ext>
            </a:extLst>
          </p:cNvPr>
          <p:cNvSpPr>
            <a:spLocks xmlns:a="http://schemas.openxmlformats.org/drawingml/2006/main" noGrp="1"/>
          </p:cNvSpPr>
          <p:nvPr/>
        </p:nvSpPr>
        <p:spPr>
          <a:xfrm xmlns:a="http://schemas.openxmlformats.org/drawingml/2006/main">
            <a:off x="619125" y="4533900"/>
            <a:ext cx="10906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92D3C"/>
                </a:solidFill>
                <a:latin typeface="Helvetica Neue"/>
                <a:ea typeface="Helvetica Neue"/>
                <a:cs typeface="Helvetica Neue"/>
              </a:defRPr>
            </a:pPr>
            <a:r>
              <a:rPr sz="2250" b="0">
                <a:solidFill>
                  <a:srgbClr val="192D3C"/>
                </a:solidFill>
                <a:latin typeface="Helvetica Neue"/>
                <a:ea typeface="Helvetica Neue"/>
                <a:cs typeface="Helvetica Neue"/>
              </a:rPr>
              <a:t>Degenerate term: h₂(x,y) = −(x − μ)(y − μ)</a:t>
            </a:r>
          </a:p>
        </p:txBody>
      </p:sp>
      <p:sp>
        <p:nvSpPr>
          <p:cNvPr id="9" name="">
            <a:extLst xmlns:a="http://schemas.openxmlformats.org/drawingml/2006/main">
              <a:ext uri="{FF2B5EF4-FFF2-40B4-BE49-F238E27FC236}">
                <a16:creationId xmlns:a16="http://schemas.microsoft.com/office/drawing/2014/main" id="{201D4BCD-815C-4538-A3BE-E69BB30575A5}"/>
              </a:ext>
            </a:extLst>
          </p:cNvPr>
          <p:cNvSpPr>
            <a:spLocks xmlns:a="http://schemas.openxmlformats.org/drawingml/2006/main" noGrp="1"/>
          </p:cNvSpPr>
          <p:nvPr/>
        </p:nvSpPr>
        <p:spPr>
          <a:xfrm xmlns:a="http://schemas.openxmlformats.org/drawingml/2006/main">
            <a:off x="619125" y="5362575"/>
            <a:ext cx="10810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BC702D"/>
                </a:solidFill>
                <a:latin typeface="Helvetica Neue"/>
                <a:ea typeface="Helvetica Neue"/>
                <a:cs typeface="Helvetica Neue"/>
              </a:defRPr>
            </a:pPr>
            <a:r>
              <a:rPr sz="2175" b="1">
                <a:solidFill>
                  <a:srgbClr val="BC702D"/>
                </a:solidFill>
                <a:latin typeface="Helvetica Neue"/>
                <a:ea typeface="Helvetica Neue"/>
                <a:cs typeface="Helvetica Neue"/>
              </a:rPr>
              <a:t>A degenerate-kernel theorem controls h₂ only.</a:t>
            </a:r>
          </a:p>
        </p:txBody>
      </p:sp>
      <p:sp>
        <p:nvSpPr>
          <p:cNvPr id="10" name="">
            <a:extLst xmlns:a="http://schemas.openxmlformats.org/drawingml/2006/main">
              <a:ext uri="{FF2B5EF4-FFF2-40B4-BE49-F238E27FC236}">
                <a16:creationId xmlns:a16="http://schemas.microsoft.com/office/drawing/2014/main" id="{D609AD46-7064-4F61-B910-2BBD1AF7D826}"/>
              </a:ext>
            </a:extLst>
          </p:cNvPr>
          <p:cNvSpPr>
            <a:spLocks xmlns:a="http://schemas.openxmlformats.org/drawingml/2006/main" noGrp="1"/>
          </p:cNvSpPr>
          <p:nvPr/>
        </p:nvSpPr>
        <p:spPr>
          <a:xfrm xmlns:a="http://schemas.openxmlformats.org/drawingml/2006/main">
            <a:off x="590550" y="6153150"/>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AD1E31F5-8287-4DE3-92F3-DDC9C82188AB}"/>
              </a:ext>
            </a:extLst>
          </p:cNvPr>
          <p:cNvSpPr>
            <a:spLocks xmlns:a="http://schemas.openxmlformats.org/drawingml/2006/main" noGrp="1"/>
          </p:cNvSpPr>
          <p:nvPr/>
        </p:nvSpPr>
        <p:spPr>
          <a:xfrm xmlns:a="http://schemas.openxmlformats.org/drawingml/2006/main">
            <a:off x="590550" y="6267450"/>
            <a:ext cx="10239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Zero variance is deterministic. Joint confidence must cover both actions with an explicit failure-probability split.</a:t>
            </a:r>
          </a:p>
        </p:txBody>
      </p:sp>
    </p:spTree>
    <p:extLst>
      <p:ext uri="{BB962C8B-B14F-4D97-AF65-F5344CB8AC3E}">
        <p14:creationId xmlns:p14="http://schemas.microsoft.com/office/powerpoint/2010/main" val="111884589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662CF8-D81E-4DBD-818F-079268484928}"/>
              </a:ext>
            </a:extLst>
          </p:cNvPr>
          <p:cNvSpPr>
            <a:spLocks xmlns:a="http://schemas.openxmlformats.org/drawingml/2006/main" noGrp="1"/>
          </p:cNvSpPr>
          <p:nvPr/>
        </p:nvSpPr>
        <p:spPr>
          <a:xfrm xmlns:a="http://schemas.openxmlformats.org/drawingml/2006/main">
            <a:off x="571500" y="342900"/>
            <a:ext cx="11049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92D3C"/>
                </a:solidFill>
                <a:latin typeface="Helvetica Neue"/>
                <a:ea typeface="Helvetica Neue"/>
                <a:cs typeface="Helvetica Neue"/>
              </a:defRPr>
            </a:pPr>
            <a:r>
              <a:rPr sz="3150" b="1">
                <a:solidFill>
                  <a:srgbClr val="192D3C"/>
                </a:solidFill>
                <a:latin typeface="Helvetica Neue"/>
                <a:ea typeface="Helvetica Neue"/>
                <a:cs typeface="Helvetica Neue"/>
              </a:rPr>
              <a:t>Backup: populations and interpretation limits</a:t>
            </a:r>
          </a:p>
        </p:txBody>
      </p:sp>
      <p:sp>
        <p:nvSpPr>
          <p:cNvPr id="2" name="">
            <a:extLst xmlns:a="http://schemas.openxmlformats.org/drawingml/2006/main">
              <a:ext uri="{FF2B5EF4-FFF2-40B4-BE49-F238E27FC236}">
                <a16:creationId xmlns:a16="http://schemas.microsoft.com/office/drawing/2014/main" id="{D31ADA7F-0910-4D7B-9FDF-DD51FB9720C3}"/>
              </a:ext>
            </a:extLst>
          </p:cNvPr>
          <p:cNvSpPr>
            <a:spLocks xmlns:a="http://schemas.openxmlformats.org/drawingml/2006/main" noGrp="1"/>
          </p:cNvSpPr>
          <p:nvPr/>
        </p:nvSpPr>
        <p:spPr>
          <a:xfrm xmlns:a="http://schemas.openxmlformats.org/drawingml/2006/main">
            <a:off x="11049000" y="6391275"/>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350" b="0">
                <a:solidFill>
                  <a:srgbClr val="586974"/>
                </a:solidFill>
                <a:latin typeface="Helvetica Neue"/>
                <a:ea typeface="Helvetica Neue"/>
                <a:cs typeface="Helvetica Neue"/>
              </a:defRPr>
            </a:pPr>
            <a:r>
              <a:rPr sz="1350" b="0">
                <a:solidFill>
                  <a:srgbClr val="586974"/>
                </a:solidFill>
                <a:latin typeface="Helvetica Neue"/>
                <a:ea typeface="Helvetica Neue"/>
                <a:cs typeface="Helvetica Neue"/>
              </a:rPr>
              <a:t>15</a:t>
            </a:r>
          </a:p>
        </p:txBody>
      </p:sp>
      <p:graphicFrame>
        <p:nvGraphicFramePr>
          <p:cNvPr id="9" name=""/>
          <p:cNvGraphicFramePr/>
          <p:nvPr/>
        </p:nvGraphicFramePr>
        <p:xfrm>
          <a:off xmlns:a="http://schemas.openxmlformats.org/drawingml/2006/main" x="619125" y="1676400"/>
          <a:ext xmlns:a="http://schemas.openxmlformats.org/drawingml/2006/main" cx="10906125" cy="3352800"/>
        </p:xfrm>
        <a:graphic xmlns:a="http://schemas.openxmlformats.org/drawingml/2006/main">
          <a:graphicData uri="http://schemas.openxmlformats.org/drawingml/2006/table">
            <a:tbl>
              <a:tblPr/>
              <a:tblGrid>
                <a:gridCol w="2428875"/>
                <a:gridCol w="3505200"/>
                <a:gridCol w="4972050"/>
              </a:tblGrid>
              <a:tr h="670560">
                <a:tc>
                  <a:txBody>
                    <a:bodyPr/>
                    <a:lstStyle/>
                    <a:p>
                      <a:r>
                        <a:rPr sz="1950" b="1">
                          <a:solidFill>
                            <a:srgbClr val="FFFFFF"/>
                          </a:solidFill>
                          <a:latin typeface="Helvetica Neue"/>
                          <a:ea typeface="Helvetica Neue"/>
                          <a:cs typeface="Helvetica Neue"/>
                        </a:rPr>
                        <a:t>Study</a:t>
                      </a:r>
                    </a:p>
                  </a:txBody>
                  <a:tcPr marL="91440" marR="91440" marT="45720" marB="45720">
                    <a:solidFill>
                      <a:srgbClr val="31688E"/>
                    </a:solidFill>
                  </a:tcPr>
                </a:tc>
                <a:tc>
                  <a:txBody>
                    <a:bodyPr/>
                    <a:lstStyle/>
                    <a:p>
                      <a:r>
                        <a:rPr sz="1950" b="1">
                          <a:solidFill>
                            <a:srgbClr val="FFFFFF"/>
                          </a:solidFill>
                          <a:latin typeface="Helvetica Neue"/>
                          <a:ea typeface="Helvetica Neue"/>
                          <a:cs typeface="Helvetica Neue"/>
                        </a:rPr>
                        <a:t>Frozen population</a:t>
                      </a:r>
                    </a:p>
                  </a:txBody>
                  <a:tcPr marL="91440" marR="91440" marT="45720" marB="45720">
                    <a:solidFill>
                      <a:srgbClr val="31688E"/>
                    </a:solidFill>
                  </a:tcPr>
                </a:tc>
                <a:tc>
                  <a:txBody>
                    <a:bodyPr/>
                    <a:lstStyle/>
                    <a:p>
                      <a:r>
                        <a:rPr sz="1950" b="1">
                          <a:solidFill>
                            <a:srgbClr val="FFFFFF"/>
                          </a:solidFill>
                          <a:latin typeface="Helvetica Neue"/>
                          <a:ea typeface="Helvetica Neue"/>
                          <a:cs typeface="Helvetica Neue"/>
                        </a:rPr>
                        <a:t>What the comparison means</a:t>
                      </a:r>
                    </a:p>
                  </a:txBody>
                  <a:tcPr marL="91440" marR="91440" marT="45720" marB="45720">
                    <a:solidFill>
                      <a:srgbClr val="31688E"/>
                    </a:solidFill>
                  </a:tcPr>
                </a:tc>
              </a:tr>
              <a:tr h="670560">
                <a:tc>
                  <a:txBody>
                    <a:bodyPr/>
                    <a:lstStyle/>
                    <a:p>
                      <a:r>
                        <a:rPr sz="1800" b="0">
                          <a:solidFill>
                            <a:srgbClr val="192D3C"/>
                          </a:solidFill>
                          <a:latin typeface="Helvetica Neue"/>
                          <a:ea typeface="Helvetica Neue"/>
                          <a:cs typeface="Helvetica Neue"/>
                        </a:rPr>
                        <a:t>Risk bridge</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d = 500; 200 paths / setup</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Finite mean optimum on tested grid</a:t>
                      </a:r>
                    </a:p>
                  </a:txBody>
                  <a:tcPr marL="91440" marR="91440" marT="45720" marB="45720">
                    <a:solidFill>
                      <a:srgbClr val="FFFFFF"/>
                    </a:solidFill>
                  </a:tcPr>
                </a:tc>
              </a:tr>
              <a:tr h="670560">
                <a:tc>
                  <a:txBody>
                    <a:bodyPr/>
                    <a:lstStyle/>
                    <a:p>
                      <a:r>
                        <a:rPr sz="1800" b="0">
                          <a:solidFill>
                            <a:srgbClr val="192D3C"/>
                          </a:solidFill>
                          <a:latin typeface="Helvetica Neue"/>
                          <a:ea typeface="Helvetica Neue"/>
                          <a:cs typeface="Helvetica Neue"/>
                        </a:rPr>
                        <a:t>Direct-risk signal</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600 paths; 200 repetitions / path</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Conditional decision rates</a:t>
                      </a:r>
                    </a:p>
                  </a:txBody>
                  <a:tcPr marL="91440" marR="91440" marT="45720" marB="45720">
                    <a:solidFill>
                      <a:srgbClr val="FFFFFF"/>
                    </a:solidFill>
                  </a:tcPr>
                </a:tc>
              </a:tr>
              <a:tr h="670560">
                <a:tc>
                  <a:txBody>
                    <a:bodyPr/>
                    <a:lstStyle/>
                    <a:p>
                      <a:r>
                        <a:rPr sz="1800" b="0">
                          <a:solidFill>
                            <a:srgbClr val="192D3C"/>
                          </a:solidFill>
                          <a:latin typeface="Helvetica Neue"/>
                          <a:ea typeface="Helvetica Neue"/>
                          <a:cs typeface="Helvetica Neue"/>
                        </a:rPr>
                        <a:t>Paid-policy emulation</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Same 600 paths; m = 160, s = 16</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Risk versus unstarted adjacent baseline</a:t>
                      </a:r>
                    </a:p>
                  </a:txBody>
                  <a:tcPr marL="91440" marR="91440" marT="45720" marB="45720">
                    <a:solidFill>
                      <a:srgbClr val="FFFFFF"/>
                    </a:solidFill>
                  </a:tcPr>
                </a:tc>
              </a:tr>
              <a:tr h="670560">
                <a:tc>
                  <a:txBody>
                    <a:bodyPr/>
                    <a:lstStyle/>
                    <a:p>
                      <a:r>
                        <a:rPr sz="1800" b="0">
                          <a:solidFill>
                            <a:srgbClr val="192D3C"/>
                          </a:solidFill>
                          <a:latin typeface="Helvetica Neue"/>
                          <a:ea typeface="Helvetica Neue"/>
                          <a:cs typeface="Helvetica Neue"/>
                        </a:rPr>
                        <a:t>Coordinate failure</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d = 100; 10 coordinate paths</a:t>
                      </a:r>
                    </a:p>
                  </a:txBody>
                  <a:tcPr marL="91440" marR="91440" marT="45720" marB="45720">
                    <a:solidFill>
                      <a:srgbClr val="FFFFFF"/>
                    </a:solidFill>
                  </a:tcPr>
                </a:tc>
                <a:tc>
                  <a:txBody>
                    <a:bodyPr/>
                    <a:lstStyle/>
                    <a:p>
                      <a:r>
                        <a:rPr sz="1800" b="0">
                          <a:solidFill>
                            <a:srgbClr val="192D3C"/>
                          </a:solidFill>
                          <a:latin typeface="Helvetica Neue"/>
                          <a:ea typeface="Helvetica Neue"/>
                          <a:cs typeface="Helvetica Neue"/>
                        </a:rPr>
                        <a:t>Exact missing-direction witness</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19AAE26-250D-4A33-A821-956E049D705F}"/>
              </a:ext>
            </a:extLst>
          </p:cNvPr>
          <p:cNvSpPr>
            <a:spLocks xmlns:a="http://schemas.openxmlformats.org/drawingml/2006/main" noGrp="1"/>
          </p:cNvSpPr>
          <p:nvPr/>
        </p:nvSpPr>
        <p:spPr>
          <a:xfrm xmlns:a="http://schemas.openxmlformats.org/drawingml/2006/main">
            <a:off x="619125" y="5276850"/>
            <a:ext cx="106680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No universal +1 rule. No uniform adaptive gain.</a:t>
            </a:r>
          </a:p>
          <a:p xmlns:a="http://schemas.openxmlformats.org/drawingml/2006/main">
            <a:pPr algn="l">
              <a:defRPr sz="2100" b="1">
                <a:solidFill>
                  <a:srgbClr val="192D3C"/>
                </a:solidFill>
                <a:latin typeface="Helvetica Neue"/>
                <a:ea typeface="Helvetica Neue"/>
                <a:cs typeface="Helvetica Neue"/>
              </a:defRPr>
            </a:pPr>
            <a:r>
              <a:rPr sz="2100" b="1">
                <a:solidFill>
                  <a:srgbClr val="192D3C"/>
                </a:solidFill>
                <a:latin typeface="Helvetica Neue"/>
                <a:ea typeface="Helvetica Neue"/>
                <a:cs typeface="Helvetica Neue"/>
              </a:rPr>
              <a:t>No claim that abstention refunds construction or certification.</a:t>
            </a:r>
          </a:p>
        </p:txBody>
      </p:sp>
      <p:sp>
        <p:nvSpPr>
          <p:cNvPr id="5" name="">
            <a:extLst xmlns:a="http://schemas.openxmlformats.org/drawingml/2006/main">
              <a:ext uri="{FF2B5EF4-FFF2-40B4-BE49-F238E27FC236}">
                <a16:creationId xmlns:a16="http://schemas.microsoft.com/office/drawing/2014/main" id="{8D16CC36-AC48-4F5B-BA6E-0B9D63EE11BD}"/>
              </a:ext>
            </a:extLst>
          </p:cNvPr>
          <p:cNvSpPr>
            <a:spLocks xmlns:a="http://schemas.openxmlformats.org/drawingml/2006/main" noGrp="1"/>
          </p:cNvSpPr>
          <p:nvPr/>
        </p:nvSpPr>
        <p:spPr>
          <a:xfrm xmlns:a="http://schemas.openxmlformats.org/drawingml/2006/main">
            <a:off x="590550" y="6153150"/>
            <a:ext cx="11010900" cy="9525"/>
          </a:xfrm>
          <a:prstGeom xmlns:a="http://schemas.openxmlformats.org/drawingml/2006/main" prst="rect">
            <a:avLst/>
          </a:prstGeom>
          <a:solidFill xmlns:a="http://schemas.openxmlformats.org/drawingml/2006/main">
            <a:srgbClr val="CCD8DE"/>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2DD9DA1-DAB2-47BF-9C04-AF916974197F}"/>
              </a:ext>
            </a:extLst>
          </p:cNvPr>
          <p:cNvSpPr>
            <a:spLocks xmlns:a="http://schemas.openxmlformats.org/drawingml/2006/main" noGrp="1"/>
          </p:cNvSpPr>
          <p:nvPr/>
        </p:nvSpPr>
        <p:spPr>
          <a:xfrm xmlns:a="http://schemas.openxmlformats.org/drawingml/2006/main">
            <a:off x="590550" y="6267450"/>
            <a:ext cx="10239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86974"/>
                </a:solidFill>
                <a:latin typeface="Helvetica Neue"/>
                <a:ea typeface="Helvetica Neue"/>
                <a:cs typeface="Helvetica Neue"/>
              </a:defRPr>
            </a:pPr>
            <a:r>
              <a:rPr sz="1425" b="0">
                <a:solidFill>
                  <a:srgbClr val="586974"/>
                </a:solidFill>
                <a:latin typeface="Helvetica Neue"/>
                <a:ea typeface="Helvetica Neue"/>
                <a:cs typeface="Helvetica Neue"/>
              </a:rPr>
              <a:t>Sources and numerical definitions are in each slide’s notes. Current manuscript edition: September 20, 2026.</a:t>
            </a:r>
          </a:p>
        </p:txBody>
      </p:sp>
    </p:spTree>
    <p:extLst>
      <p:ext uri="{BB962C8B-B14F-4D97-AF65-F5344CB8AC3E}">
        <p14:creationId xmlns:p14="http://schemas.microsoft.com/office/powerpoint/2010/main" val="3449749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2026-09-23T00:43:51.4780000Z</dcterms:created>
  <dcterms:modified xsi:type="dcterms:W3CDTF">2026-09-23T00:43:51.4780000Z</dcterms:modified>
</coreProperties>
</file>