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7.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8.xml" ContentType="application/vnd.openxmlformats-officedocument.drawingml.chart+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68ad23ce504421" /><Relationship Type="http://schemas.openxmlformats.org/officeDocument/2006/relationships/extended-properties" Target="/docProps/app.xml" Id="R9fc1ac5569674163" /><Relationship Type="http://schemas.openxmlformats.org/officeDocument/2006/relationships/officeDocument" Target="/ppt/presentation.xml" Id="R8102699d4aa344b6" /></Relationships>
</file>

<file path=ppt/presentation.xml><?xml version="1.0" encoding="utf-8"?>
<p:presentation xmlns:p="http://schemas.openxmlformats.org/presentationml/2006/main">
  <p:sldMasterIdLst>
    <p:sldMasterId xmlns:r="http://schemas.openxmlformats.org/officeDocument/2006/relationships" id="2147483648" r:id="R93b6571bea454131"/>
  </p:sldMasterIdLst>
  <p:notesMasterIdLst>
    <p:notesMasterId xmlns:r="http://schemas.openxmlformats.org/officeDocument/2006/relationships" r:id="R6bc028b8dceb42fb"/>
  </p:notesMasterIdLst>
  <p:sldIdLst>
    <p:sldId xmlns:r="http://schemas.openxmlformats.org/officeDocument/2006/relationships" id="256" r:id="R40d6acba922b4034"/>
    <p:sldId xmlns:r="http://schemas.openxmlformats.org/officeDocument/2006/relationships" id="257" r:id="R25d522041f864698"/>
    <p:sldId xmlns:r="http://schemas.openxmlformats.org/officeDocument/2006/relationships" id="258" r:id="R854f28f5b25f46a0"/>
    <p:sldId xmlns:r="http://schemas.openxmlformats.org/officeDocument/2006/relationships" id="259" r:id="R71d6fa239ab14849"/>
    <p:sldId xmlns:r="http://schemas.openxmlformats.org/officeDocument/2006/relationships" id="260" r:id="Ree5c8bf811b742fc"/>
    <p:sldId xmlns:r="http://schemas.openxmlformats.org/officeDocument/2006/relationships" id="261" r:id="Rc088dc36fe644aa2"/>
    <p:sldId xmlns:r="http://schemas.openxmlformats.org/officeDocument/2006/relationships" id="262" r:id="Rbcf6a1e27d8c488b"/>
    <p:sldId xmlns:r="http://schemas.openxmlformats.org/officeDocument/2006/relationships" id="263" r:id="Rc722306a67af4ce9"/>
    <p:sldId xmlns:r="http://schemas.openxmlformats.org/officeDocument/2006/relationships" id="264" r:id="R7aed3b943860423f"/>
    <p:sldId xmlns:r="http://schemas.openxmlformats.org/officeDocument/2006/relationships" id="265" r:id="Raca42a37ed1a46c3"/>
    <p:sldId xmlns:r="http://schemas.openxmlformats.org/officeDocument/2006/relationships" id="266" r:id="R7020c72c6bfe45f8"/>
    <p:sldId xmlns:r="http://schemas.openxmlformats.org/officeDocument/2006/relationships" id="267" r:id="R49a12e3347e4444e"/>
    <p:sldId xmlns:r="http://schemas.openxmlformats.org/officeDocument/2006/relationships" id="268" r:id="Rc79dae2ce8a44843"/>
    <p:sldId xmlns:r="http://schemas.openxmlformats.org/officeDocument/2006/relationships" id="269" r:id="R84c0df2037844f76"/>
    <p:sldId xmlns:r="http://schemas.openxmlformats.org/officeDocument/2006/relationships" id="270" r:id="Rae7339951d0148eb"/>
    <p:sldId xmlns:r="http://schemas.openxmlformats.org/officeDocument/2006/relationships" id="271" r:id="R123765e86b694ef7"/>
    <p:sldId xmlns:r="http://schemas.openxmlformats.org/officeDocument/2006/relationships" id="272" r:id="R673e3dd44e1d4fe2"/>
    <p:sldId xmlns:r="http://schemas.openxmlformats.org/officeDocument/2006/relationships" id="273" r:id="Rcd7bf02b3a75498d"/>
    <p:sldId xmlns:r="http://schemas.openxmlformats.org/officeDocument/2006/relationships" id="274" r:id="R8f0721d1f2f04d04"/>
    <p:sldId xmlns:r="http://schemas.openxmlformats.org/officeDocument/2006/relationships" id="275" r:id="Rc01e3db094b74cdb"/>
    <p:sldId xmlns:r="http://schemas.openxmlformats.org/officeDocument/2006/relationships" id="276" r:id="Rf3e9a9064f534716"/>
    <p:sldId xmlns:r="http://schemas.openxmlformats.org/officeDocument/2006/relationships" id="277" r:id="Rd0d0478f0a964d2b"/>
    <p:sldId xmlns:r="http://schemas.openxmlformats.org/officeDocument/2006/relationships" id="278" r:id="Re3aaf71023c149ae"/>
    <p:sldId xmlns:r="http://schemas.openxmlformats.org/officeDocument/2006/relationships" id="279" r:id="R878d446c0f334947"/>
    <p:sldId xmlns:r="http://schemas.openxmlformats.org/officeDocument/2006/relationships" id="280" r:id="R01ba10e49b9a468e"/>
    <p:sldId xmlns:r="http://schemas.openxmlformats.org/officeDocument/2006/relationships" id="281" r:id="R45bcfa7c53544e5f"/>
    <p:sldId xmlns:r="http://schemas.openxmlformats.org/officeDocument/2006/relationships" id="282" r:id="R043e8dcc5c3d40b6"/>
    <p:sldId xmlns:r="http://schemas.openxmlformats.org/officeDocument/2006/relationships" id="283" r:id="Ra8798afb60d3415e"/>
    <p:sldId xmlns:r="http://schemas.openxmlformats.org/officeDocument/2006/relationships" id="284" r:id="R42212a3808ec4c11"/>
    <p:sldId xmlns:r="http://schemas.openxmlformats.org/officeDocument/2006/relationships" id="285" r:id="Rb34a666f8e7242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f8480f748f429e" /><Relationship Type="http://schemas.openxmlformats.org/officeDocument/2006/relationships/slideMaster" Target="/ppt/slideMasters/slideMaster1.xml" Id="R93b6571bea454131" /><Relationship Type="http://schemas.openxmlformats.org/officeDocument/2006/relationships/notesMaster" Target="/ppt/notesMasters/notesMaster1.xml" Id="R6bc028b8dceb42fb" /><Relationship Type="http://schemas.openxmlformats.org/officeDocument/2006/relationships/presProps" Target="/ppt/presProps.xml" Id="Reed7fe21d0c64e2b" /><Relationship Type="http://schemas.openxmlformats.org/officeDocument/2006/relationships/tableStyles" Target="/ppt/tableStyles.xml" Id="R44939ffa6af2417b" /><Relationship Type="http://schemas.openxmlformats.org/officeDocument/2006/relationships/slide" Target="/ppt/slides/slide1.xml" Id="R40d6acba922b4034" /><Relationship Type="http://schemas.openxmlformats.org/officeDocument/2006/relationships/slide" Target="/ppt/slides/slide2.xml" Id="R25d522041f864698" /><Relationship Type="http://schemas.openxmlformats.org/officeDocument/2006/relationships/slide" Target="/ppt/slides/slide3.xml" Id="R854f28f5b25f46a0" /><Relationship Type="http://schemas.openxmlformats.org/officeDocument/2006/relationships/slide" Target="/ppt/slides/slide4.xml" Id="R71d6fa239ab14849" /><Relationship Type="http://schemas.openxmlformats.org/officeDocument/2006/relationships/slide" Target="/ppt/slides/slide5.xml" Id="Ree5c8bf811b742fc" /><Relationship Type="http://schemas.openxmlformats.org/officeDocument/2006/relationships/slide" Target="/ppt/slides/slide6.xml" Id="Rc088dc36fe644aa2" /><Relationship Type="http://schemas.openxmlformats.org/officeDocument/2006/relationships/slide" Target="/ppt/slides/slide7.xml" Id="Rbcf6a1e27d8c488b" /><Relationship Type="http://schemas.openxmlformats.org/officeDocument/2006/relationships/slide" Target="/ppt/slides/slide8.xml" Id="Rc722306a67af4ce9" /><Relationship Type="http://schemas.openxmlformats.org/officeDocument/2006/relationships/slide" Target="/ppt/slides/slide9.xml" Id="R7aed3b943860423f" /><Relationship Type="http://schemas.openxmlformats.org/officeDocument/2006/relationships/slide" Target="/ppt/slides/slide10.xml" Id="Raca42a37ed1a46c3" /><Relationship Type="http://schemas.openxmlformats.org/officeDocument/2006/relationships/slide" Target="/ppt/slides/slide11.xml" Id="R7020c72c6bfe45f8" /><Relationship Type="http://schemas.openxmlformats.org/officeDocument/2006/relationships/slide" Target="/ppt/slides/slide12.xml" Id="R49a12e3347e4444e" /><Relationship Type="http://schemas.openxmlformats.org/officeDocument/2006/relationships/slide" Target="/ppt/slides/slide13.xml" Id="Rc79dae2ce8a44843" /><Relationship Type="http://schemas.openxmlformats.org/officeDocument/2006/relationships/slide" Target="/ppt/slides/slide14.xml" Id="R84c0df2037844f76" /><Relationship Type="http://schemas.openxmlformats.org/officeDocument/2006/relationships/slide" Target="/ppt/slides/slide15.xml" Id="Rae7339951d0148eb" /><Relationship Type="http://schemas.openxmlformats.org/officeDocument/2006/relationships/slide" Target="/ppt/slides/slide16.xml" Id="R123765e86b694ef7" /><Relationship Type="http://schemas.openxmlformats.org/officeDocument/2006/relationships/slide" Target="/ppt/slides/slide17.xml" Id="R673e3dd44e1d4fe2" /><Relationship Type="http://schemas.openxmlformats.org/officeDocument/2006/relationships/slide" Target="/ppt/slides/slide18.xml" Id="Rcd7bf02b3a75498d" /><Relationship Type="http://schemas.openxmlformats.org/officeDocument/2006/relationships/slide" Target="/ppt/slides/slide19.xml" Id="R8f0721d1f2f04d04" /><Relationship Type="http://schemas.openxmlformats.org/officeDocument/2006/relationships/slide" Target="/ppt/slides/slide20.xml" Id="Rc01e3db094b74cdb" /><Relationship Type="http://schemas.openxmlformats.org/officeDocument/2006/relationships/slide" Target="/ppt/slides/slide21.xml" Id="Rf3e9a9064f534716" /><Relationship Type="http://schemas.openxmlformats.org/officeDocument/2006/relationships/slide" Target="/ppt/slides/slide22.xml" Id="Rd0d0478f0a964d2b" /><Relationship Type="http://schemas.openxmlformats.org/officeDocument/2006/relationships/slide" Target="/ppt/slides/slide23.xml" Id="Re3aaf71023c149ae" /><Relationship Type="http://schemas.openxmlformats.org/officeDocument/2006/relationships/slide" Target="/ppt/slides/slide24.xml" Id="R878d446c0f334947" /><Relationship Type="http://schemas.openxmlformats.org/officeDocument/2006/relationships/slide" Target="/ppt/slides/slide25.xml" Id="R01ba10e49b9a468e" /><Relationship Type="http://schemas.openxmlformats.org/officeDocument/2006/relationships/slide" Target="/ppt/slides/slide26.xml" Id="R45bcfa7c53544e5f" /><Relationship Type="http://schemas.openxmlformats.org/officeDocument/2006/relationships/slide" Target="/ppt/slides/slide27.xml" Id="R043e8dcc5c3d40b6" /><Relationship Type="http://schemas.openxmlformats.org/officeDocument/2006/relationships/slide" Target="/ppt/slides/slide28.xml" Id="Ra8798afb60d3415e" /><Relationship Type="http://schemas.openxmlformats.org/officeDocument/2006/relationships/slide" Target="/ppt/slides/slide29.xml" Id="R42212a3808ec4c11" /><Relationship Type="http://schemas.openxmlformats.org/officeDocument/2006/relationships/slide" Target="/ppt/slides/slide30.xml" Id="Rb34a666f8e7242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379988b6c648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0e29be5f6a4903" /><Relationship Type="http://schemas.openxmlformats.org/officeDocument/2006/relationships/notesMaster" Target="/ppt/notesMasters/notesMaster1.xml" Id="R4acb766ea56b44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ca35bbd8594fb2" /><Relationship Type="http://schemas.openxmlformats.org/officeDocument/2006/relationships/notesMaster" Target="/ppt/notesMasters/notesMaster1.xml" Id="R5ca5fe20ed6541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fce4186e64cd0" /><Relationship Type="http://schemas.openxmlformats.org/officeDocument/2006/relationships/notesMaster" Target="/ppt/notesMasters/notesMaster1.xml" Id="R82430a46259244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b4b09afceb4bde" /><Relationship Type="http://schemas.openxmlformats.org/officeDocument/2006/relationships/notesMaster" Target="/ppt/notesMasters/notesMaster1.xml" Id="R4136eae0fb1d43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c5043cb7fa4332" /><Relationship Type="http://schemas.openxmlformats.org/officeDocument/2006/relationships/notesMaster" Target="/ppt/notesMasters/notesMaster1.xml" Id="R29eb43f5ef4444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077e140dec4bff" /><Relationship Type="http://schemas.openxmlformats.org/officeDocument/2006/relationships/notesMaster" Target="/ppt/notesMasters/notesMaster1.xml" Id="R15fa04c8c8f54b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53125155e44562" /><Relationship Type="http://schemas.openxmlformats.org/officeDocument/2006/relationships/notesMaster" Target="/ppt/notesMasters/notesMaster1.xml" Id="R67f1283c117342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5341e65f254514" /><Relationship Type="http://schemas.openxmlformats.org/officeDocument/2006/relationships/notesMaster" Target="/ppt/notesMasters/notesMaster1.xml" Id="Rd9d32162033d42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29c767026c4d21" /><Relationship Type="http://schemas.openxmlformats.org/officeDocument/2006/relationships/notesMaster" Target="/ppt/notesMasters/notesMaster1.xml" Id="Rea09f902b7f741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8ee9aebcb8249d5" /><Relationship Type="http://schemas.openxmlformats.org/officeDocument/2006/relationships/notesMaster" Target="/ppt/notesMasters/notesMaster1.xml" Id="R0c29b1be34934e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352c76311a447e" /><Relationship Type="http://schemas.openxmlformats.org/officeDocument/2006/relationships/notesMaster" Target="/ppt/notesMasters/notesMaster1.xml" Id="R9e21c1b28f5642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87321f963e49c4" /><Relationship Type="http://schemas.openxmlformats.org/officeDocument/2006/relationships/notesMaster" Target="/ppt/notesMasters/notesMaster1.xml" Id="Rae4d550dae4747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2b733ba5e446e4" /><Relationship Type="http://schemas.openxmlformats.org/officeDocument/2006/relationships/notesMaster" Target="/ppt/notesMasters/notesMaster1.xml" Id="R080ce1b59b3b4e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caa9c3f4474ac1" /><Relationship Type="http://schemas.openxmlformats.org/officeDocument/2006/relationships/notesMaster" Target="/ppt/notesMasters/notesMaster1.xml" Id="R5761e623d5bd4f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dbf34a6a824a03" /><Relationship Type="http://schemas.openxmlformats.org/officeDocument/2006/relationships/notesMaster" Target="/ppt/notesMasters/notesMaster1.xml" Id="R7171e9fed7914e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293a8551344b64" /><Relationship Type="http://schemas.openxmlformats.org/officeDocument/2006/relationships/notesMaster" Target="/ppt/notesMasters/notesMaster1.xml" Id="Rc9ce7f77c4b64a8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bd22e760b24381" /><Relationship Type="http://schemas.openxmlformats.org/officeDocument/2006/relationships/notesMaster" Target="/ppt/notesMasters/notesMaster1.xml" Id="Rf87c0fb6f05242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4f1a4a7dc64d93" /><Relationship Type="http://schemas.openxmlformats.org/officeDocument/2006/relationships/notesMaster" Target="/ppt/notesMasters/notesMaster1.xml" Id="Ra4829c0fe5bc43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13c1bf48094efd" /><Relationship Type="http://schemas.openxmlformats.org/officeDocument/2006/relationships/notesMaster" Target="/ppt/notesMasters/notesMaster1.xml" Id="Rb9bc2bcaf6044d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c5b5fb91714b41" /><Relationship Type="http://schemas.openxmlformats.org/officeDocument/2006/relationships/notesMaster" Target="/ppt/notesMasters/notesMaster1.xml" Id="Rc33407c4b4804c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aebb8d7eda4a9d" /><Relationship Type="http://schemas.openxmlformats.org/officeDocument/2006/relationships/notesMaster" Target="/ppt/notesMasters/notesMaster1.xml" Id="R542dba092ebe48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6614e67ff9420a" /><Relationship Type="http://schemas.openxmlformats.org/officeDocument/2006/relationships/notesMaster" Target="/ppt/notesMasters/notesMaster1.xml" Id="R704cac23ac1742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a7375ac47d4d8c" /><Relationship Type="http://schemas.openxmlformats.org/officeDocument/2006/relationships/notesMaster" Target="/ppt/notesMasters/notesMaster1.xml" Id="R60aea7ddde534a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25b2456e154f54" /><Relationship Type="http://schemas.openxmlformats.org/officeDocument/2006/relationships/notesMaster" Target="/ppt/notesMasters/notesMaster1.xml" Id="R5c922303867c45c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b34e1ebddda4dc9" /><Relationship Type="http://schemas.openxmlformats.org/officeDocument/2006/relationships/notesMaster" Target="/ppt/notesMasters/notesMaster1.xml" Id="R1b9e32a2226645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6aa22b47bc4e52" /><Relationship Type="http://schemas.openxmlformats.org/officeDocument/2006/relationships/notesMaster" Target="/ppt/notesMasters/notesMaster1.xml" Id="R161ebe18595a49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210537fcbb247c8" /><Relationship Type="http://schemas.openxmlformats.org/officeDocument/2006/relationships/notesMaster" Target="/ppt/notesMasters/notesMaster1.xml" Id="R5a57919ee9bc47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e7924d86f0646d6" /><Relationship Type="http://schemas.openxmlformats.org/officeDocument/2006/relationships/notesMaster" Target="/ppt/notesMasters/notesMaster1.xml" Id="Rd30da50a3b9c414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cda4b34ec124b0c" /><Relationship Type="http://schemas.openxmlformats.org/officeDocument/2006/relationships/notesMaster" Target="/ppt/notesMasters/notesMaster1.xml" Id="R15c78a71453c49c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0141f1ef074e1a" /><Relationship Type="http://schemas.openxmlformats.org/officeDocument/2006/relationships/notesMaster" Target="/ppt/notesMasters/notesMaster1.xml" Id="R8bb55b1805324c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research concerns allocation of a fixed number of matrix-vector products. We are not presenting a universally better estimator.</a:t>
            </a:r>
          </a:p>
          <a:p xmlns:a="http://schemas.openxmlformats.org/drawingml/2006/main">
            <a:r>
              <a:t/>
            </a:r>
          </a:p>
          <a:p xmlns:a="http://schemas.openxmlformats.org/drawingml/2006/main">
            <a:r>
              <a:t>SAY</a:t>
            </a:r>
          </a:p>
          <a:p xmlns:a="http://schemas.openxmlformats.org/drawingml/2006/main">
            <a:r>
              <a:t>I started with a simple question: if I can afford only a fixed number of matrix-vector products, how many should I spend learning important directions, and how many should I spend averaging random observations? Hutch++ gives us both tools. My project asks how to choose the split. I will explain the original idea first, then the assumption that experiments challenged, and finally why we began measuring the risk of the basis directly. My goal today is to explain what is established and ask which remaining question is worth pursuing.</a:t>
            </a:r>
          </a:p>
          <a:p xmlns:a="http://schemas.openxmlformats.org/drawingml/2006/main">
            <a:r>
              <a:t/>
            </a:r>
          </a:p>
          <a:p xmlns:a="http://schemas.openxmlformats.org/drawingml/2006/main">
            <a:r>
              <a:t>REASON / SHORT PROOF</a:t>
            </a:r>
          </a:p>
          <a:p xmlns:a="http://schemas.openxmlformats.org/drawingml/2006/main">
            <a:r>
              <a:t>This is an organizing question, not a theorem. A query means applying A to one vector. A matrix containing several input vectors counts as several queries, even if the implementation processes them together.</a:t>
            </a:r>
          </a:p>
          <a:p xmlns:a="http://schemas.openxmlformats.org/drawingml/2006/main">
            <a:r>
              <a:t/>
            </a:r>
          </a:p>
          <a:p xmlns:a="http://schemas.openxmlformats.org/drawingml/2006/main">
            <a:r>
              <a:t>IF ASKED</a:t>
            </a:r>
          </a:p>
          <a:p xmlns:a="http://schemas.openxmlformats.org/drawingml/2006/main">
            <a:r>
              <a:t>What is the main contribution? The current contribution is exact accounting and a diagnosis of allocation failures, supported by proofs and controlled experiments. We do not claim uniform improvement over Standard Hutch++.</a:t>
            </a:r>
          </a:p>
          <a:p xmlns:a="http://schemas.openxmlformats.org/drawingml/2006/main">
            <a:r>
              <a:t/>
            </a:r>
          </a:p>
          <a:p xmlns:a="http://schemas.openxmlformats.org/drawingml/2006/main">
            <a:r>
              <a:t>NEXT</a:t>
            </a:r>
          </a:p>
          <a:p xmlns:a="http://schemas.openxmlformats.org/drawingml/2006/main">
            <a:r>
              <a:t>First, what quantity are we trying to estimate, and what information does one query provide?</a:t>
            </a:r>
          </a:p>
          <a:p xmlns:a="http://schemas.openxmlformats.org/drawingml/2006/main">
            <a:r>
              <a:t/>
            </a:r>
          </a:p>
          <a:p xmlns:a="http://schemas.openxmlformats.org/drawingml/2006/main">
            <a:r>
              <a:t>Sources: reports/latex/adaptive_hutchpp_20260919/sections/introduction.tex; discussion.tex.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trace is the sum of diagonal entries. If A is available only as an operator, reading all diagonal entries can require one product per coordinate. Random probes supply unbiased observations without reconstructing the matrix.</a:t>
            </a:r>
          </a:p>
          <a:p xmlns:a="http://schemas.openxmlformats.org/drawingml/2006/main">
            <a:r>
              <a:t/>
            </a:r>
          </a:p>
          <a:p xmlns:a="http://schemas.openxmlformats.org/drawingml/2006/main">
            <a:r>
              <a:t>SAY</a:t>
            </a:r>
          </a:p>
          <a:p xmlns:a="http://schemas.openxmlformats.org/drawingml/2006/main">
            <a:r>
              <a:t>For this small illustration, the trace is simply four plus two plus one. In a large problem, we may not have a stored matrix that we can inspect. We may only be able to submit a vector v and receive Av. A random vector g gives the scalar g transpose A g. One such number fluctuates, but its expectation is the trace. Averaging several probes reduces that fluctuation. The central resource is the number of products, not the number of arithmetic operations drawn on this slide.</a:t>
            </a:r>
          </a:p>
          <a:p xmlns:a="http://schemas.openxmlformats.org/drawingml/2006/main">
            <a:r>
              <a:t/>
            </a:r>
          </a:p>
          <a:p xmlns:a="http://schemas.openxmlformats.org/drawingml/2006/main">
            <a:r>
              <a:t>REASON / SHORT PROOF</a:t>
            </a:r>
          </a:p>
          <a:p xmlns:a="http://schemas.openxmlformats.org/drawingml/2006/main">
            <a:r>
              <a:t>Assume E[ggᵀ]=I and the required expectation exists. The scalar gᵀAg equals tr(Aggᵀ). Taking expectations and using linearity gives E[gᵀAg]=tr(A E[ggᵀ])=tr(A). Averaging independent observations divides their variance by the number of observations. Unbiasedness alone does not say an individual observation is close.</a:t>
            </a:r>
          </a:p>
          <a:p xmlns:a="http://schemas.openxmlformats.org/drawingml/2006/main">
            <a:r>
              <a:t/>
            </a:r>
          </a:p>
          <a:p xmlns:a="http://schemas.openxmlformats.org/drawingml/2006/main">
            <a:r>
              <a:t>IF ASKED</a:t>
            </a:r>
          </a:p>
          <a:p xmlns:a="http://schemas.openxmlformats.org/drawingml/2006/main">
            <a:r>
              <a:t>Why not read the diagonal exactly? With operator access, A e_i gives its ith column, so obtaining all diagonal entries this way costs d queries. A randomized approximation can use much fewer. If explicit diagonal entries are already cheaply available, this motivation changes.</a:t>
            </a:r>
          </a:p>
          <a:p xmlns:a="http://schemas.openxmlformats.org/drawingml/2006/main">
            <a:r>
              <a:t/>
            </a:r>
          </a:p>
          <a:p xmlns:a="http://schemas.openxmlformats.org/drawingml/2006/main">
            <a:r>
              <a:t>NEXT</a:t>
            </a:r>
          </a:p>
          <a:p xmlns:a="http://schemas.openxmlformats.org/drawingml/2006/main">
            <a:r>
              <a:t>Hutch++ tries to make the random part easier before averaging it.</a:t>
            </a:r>
          </a:p>
          <a:p xmlns:a="http://schemas.openxmlformats.org/drawingml/2006/main">
            <a:r>
              <a:t/>
            </a:r>
          </a:p>
          <a:p xmlns:a="http://schemas.openxmlformats.org/drawingml/2006/main">
            <a:r>
              <a:t>Sources: reports/latex/adaptive_hutchpp_20260919/sections/preliminaries.tex, trace estimator and isotropy assumptions. The 3-by-3 matrix is an illustrative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basis Q is a set of orthonormal directions extracted from the sampled range AS. R=I−QQᵀ removes the component in that basis. H=RAR is the residual operator relevant to the random estimator.</a:t>
            </a:r>
          </a:p>
          <a:p xmlns:a="http://schemas.openxmlformats.org/drawingml/2006/main">
            <a:r>
              <a:t/>
            </a:r>
          </a:p>
          <a:p xmlns:a="http://schemas.openxmlformats.org/drawingml/2006/main">
            <a:r>
              <a:t>SAY</a:t>
            </a:r>
          </a:p>
          <a:p xmlns:a="http://schemas.openxmlformats.org/drawingml/2006/main">
            <a:r>
              <a:t>Hutch++ first uses some queries to find useful directions. Those directions form Q. We evaluate the captured contribution accurately using Q transpose A Q. We then project fresh random probes away from Q and average their remaining quadratic forms. If Q captures important directions well, the remaining random problem can be easier. This is why construction may be worth paying for. But finding directions consumes queries that otherwise could have gone into averaging.</a:t>
            </a:r>
          </a:p>
          <a:p xmlns:a="http://schemas.openxmlformats.org/drawingml/2006/main">
            <a:r>
              <a:t/>
            </a:r>
          </a:p>
          <a:p xmlns:a="http://schemas.openxmlformats.org/drawingml/2006/main">
            <a:r>
              <a:t>REASON / SHORT PROOF</a:t>
            </a:r>
          </a:p>
          <a:p xmlns:a="http://schemas.openxmlformats.org/drawingml/2006/main">
            <a:r>
              <a:t>The estimator is tr(QᵀAQ)+(1/ell) sum_j g_jᵀRAR g_j. Conditional on information before the final probes, Q and positive ell are fixed. Isotropy gives expected residual tr(RAR). Since R²=R, tr(RAR)=tr(AR)=tr(A)−tr(QᵀAQ). The two trace contributions therefore sum to tr(A). This is a trace identity, not the generally false matrix identity A=QQᵀAQQᵀ+RAR. Cross blocks can remain.</a:t>
            </a:r>
          </a:p>
          <a:p xmlns:a="http://schemas.openxmlformats.org/drawingml/2006/main">
            <a:r>
              <a:t/>
            </a:r>
          </a:p>
          <a:p xmlns:a="http://schemas.openxmlformats.org/drawingml/2006/main">
            <a:r>
              <a:t>IF ASKED</a:t>
            </a:r>
          </a:p>
          <a:p xmlns:a="http://schemas.openxmlformats.org/drawingml/2006/main">
            <a:r>
              <a:t>Does adaptive construction introduce bias? Not under the stated conditional setup: fix all choices before drawing fresh final isotropic probes. Independence among final probes is additionally needed for the usual variance-of-an-average formula.</a:t>
            </a:r>
          </a:p>
          <a:p xmlns:a="http://schemas.openxmlformats.org/drawingml/2006/main">
            <a:r>
              <a:t/>
            </a:r>
          </a:p>
          <a:p xmlns:a="http://schemas.openxmlformats.org/drawingml/2006/main">
            <a:r>
              <a:t>NEXT</a:t>
            </a:r>
          </a:p>
          <a:p xmlns:a="http://schemas.openxmlformats.org/drawingml/2006/main">
            <a:r>
              <a:t>Before optimizing anything, we need to count every product correctly.</a:t>
            </a:r>
          </a:p>
          <a:p xmlns:a="http://schemas.openxmlformats.org/drawingml/2006/main">
            <a:r>
              <a:t/>
            </a:r>
          </a:p>
          <a:p xmlns:a="http://schemas.openxmlformats.org/drawingml/2006/main">
            <a:r>
              <a:t>Sources: reports/latex/adaptive_hutchpp_20260919/sections/preliminaries.tex, T1–T2.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q counts attempted sketch columns, r counts directions accepted into Q, and ell counts final residual probes. All three costs are real.</a:t>
            </a:r>
          </a:p>
          <a:p xmlns:a="http://schemas.openxmlformats.org/drawingml/2006/main">
            <a:r>
              <a:t/>
            </a:r>
          </a:p>
          <a:p xmlns:a="http://schemas.openxmlformats.org/drawingml/2006/main">
            <a:r>
              <a:t>SAY</a:t>
            </a:r>
          </a:p>
          <a:p xmlns:a="http://schemas.openxmlformats.org/drawingml/2006/main">
            <a:r>
              <a:t>The first q products form AS. Orthogonalization may accept only r directions. We then evaluate A on those r basis vectors and cache AQ. Everything left becomes final residual probes. That gives q plus r plus ell equals m. Our running example has 160 queries: 15 sketch products, 15 basis products, and 130 residual probes. The familiar denominator m minus two q assumes r equals q. A rejected sampled direction still consumed its sketch product.</a:t>
            </a:r>
          </a:p>
          <a:p xmlns:a="http://schemas.openxmlformats.org/drawingml/2006/main">
            <a:r>
              <a:t/>
            </a:r>
          </a:p>
          <a:p xmlns:a="http://schemas.openxmlformats.org/drawingml/2006/main">
            <a:r>
              <a:t>REASON / SHORT PROOF</a:t>
            </a:r>
          </a:p>
          <a:p xmlns:a="http://schemas.openxmlformats.org/drawingml/2006/main">
            <a:r>
              <a:t>The stages use disjoint accounting: q sketch products, r cached basis products, ell final products. Reusing a pilot of width B means B+(q−B)=q sketch queries, not B+q. A rejected direction increments q without necessarily incrementing r. CHECKPOINT: explain why m−2q is a special case. Answer: it follows only when all q attempted directions are accepted, giving r=q.</a:t>
            </a:r>
          </a:p>
          <a:p xmlns:a="http://schemas.openxmlformats.org/drawingml/2006/main">
            <a:r>
              <a:t/>
            </a:r>
          </a:p>
          <a:p xmlns:a="http://schemas.openxmlformats.org/drawingml/2006/main">
            <a:r>
              <a:t>IF ASKED</a:t>
            </a:r>
          </a:p>
          <a:p xmlns:a="http://schemas.openxmlformats.org/drawingml/2006/main">
            <a:r>
              <a:t>Can the algorithm get all of this for free from QR? QR is arithmetic on queried vectors, but applying A to the accepted basis vectors is a separate oracle operation unless those products are genuinely already available.</a:t>
            </a:r>
          </a:p>
          <a:p xmlns:a="http://schemas.openxmlformats.org/drawingml/2006/main">
            <a:r>
              <a:t/>
            </a:r>
          </a:p>
          <a:p xmlns:a="http://schemas.openxmlformats.org/drawingml/2006/main">
            <a:r>
              <a:t>NEXT</a:t>
            </a:r>
          </a:p>
          <a:p xmlns:a="http://schemas.openxmlformats.org/drawingml/2006/main">
            <a:r>
              <a:t>Now we can explain our original way of choosing q.</a:t>
            </a:r>
          </a:p>
          <a:p xmlns:a="http://schemas.openxmlformats.org/drawingml/2006/main">
            <a:r>
              <a:t/>
            </a:r>
          </a:p>
          <a:p xmlns:a="http://schemas.openxmlformats.org/drawingml/2006/main">
            <a:r>
              <a:t>Sources: reports/latex/adaptive_hutchpp_20260919/sections/preliminaries.tex, T1. The budget example is arithmetic, not a new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 PSD A, ordered eigenvalues measure strength along eigenvectors. T(q) sums squared eigenvalues after the first q. It is the residual Frobenius energy only under ideal leading-eigenspace capture.</a:t>
            </a:r>
          </a:p>
          <a:p xmlns:a="http://schemas.openxmlformats.org/drawingml/2006/main">
            <a:r>
              <a:t/>
            </a:r>
          </a:p>
          <a:p xmlns:a="http://schemas.openxmlformats.org/drawingml/2006/main">
            <a:r>
              <a:t>SAY</a:t>
            </a:r>
          </a:p>
          <a:p xmlns:a="http://schemas.openxmlformats.org/drawingml/2006/main">
            <a:r>
              <a:t>Our original idea was to predict what would remain after capturing q important directions. The bars show squared eigenvalues. The blue bars are the directions we imagine capturing perfectly; the teal bars are the tail. If the basis really consisted of the leading eigenvectors, that tail would describe the Gaussian residual variance, apart from the factor two. A pilot could estimate spectral decay or a knee, giving an estimated tail and an allocation proposal.</a:t>
            </a:r>
          </a:p>
          <a:p xmlns:a="http://schemas.openxmlformats.org/drawingml/2006/main">
            <a:r>
              <a:t/>
            </a:r>
          </a:p>
          <a:p xmlns:a="http://schemas.openxmlformats.org/drawingml/2006/main">
            <a:r>
              <a:t>REASON / SHORT PROOF</a:t>
            </a:r>
          </a:p>
          <a:p xmlns:a="http://schemas.openxmlformats.org/drawingml/2006/main">
            <a:r>
              <a:t>Let A=U diag(lambda_i) Uᵀ with lambda_1≥...≥lambda_d≥0. If Q contains the first q eigenvectors, RAR contains only the remaining eigenvalues. Orthogonal invariance of the Frobenius norm gives ||RAR||_F²=sum_{i&gt;q}lambda_i²=T(q). Thus Gaussian conditional variance of one probe is 2T(q). This argument assumes ideal capture. It does not identify exact Rademacher energy with T(q).</a:t>
            </a:r>
          </a:p>
          <a:p xmlns:a="http://schemas.openxmlformats.org/drawingml/2006/main">
            <a:r>
              <a:t/>
            </a:r>
          </a:p>
          <a:p xmlns:a="http://schemas.openxmlformats.org/drawingml/2006/main">
            <a:r>
              <a:t>IF ASKED</a:t>
            </a:r>
          </a:p>
          <a:p xmlns:a="http://schemas.openxmlformats.org/drawingml/2006/main">
            <a:r>
              <a:t>Why squared eigenvalues? They arise from the Frobenius-squared expression in the Gaussian quadratic-form variance. The trace itself sums unsquared eigenvalues; the allocation objective is about variance, not the trace magnitude.</a:t>
            </a:r>
          </a:p>
          <a:p xmlns:a="http://schemas.openxmlformats.org/drawingml/2006/main">
            <a:r>
              <a:t/>
            </a:r>
          </a:p>
          <a:p xmlns:a="http://schemas.openxmlformats.org/drawingml/2006/main">
            <a:r>
              <a:t>NEXT</a:t>
            </a:r>
          </a:p>
          <a:p xmlns:a="http://schemas.openxmlformats.org/drawingml/2006/main">
            <a:r>
              <a:t>But reducing the tail alone cannot be our objective, because it spends the same limited budget.</a:t>
            </a:r>
          </a:p>
          <a:p xmlns:a="http://schemas.openxmlformats.org/drawingml/2006/main">
            <a:r>
              <a:t/>
            </a:r>
          </a:p>
          <a:p xmlns:a="http://schemas.openxmlformats.org/drawingml/2006/main">
            <a:r>
              <a:t>Sources: reports/latex/adaptive_hutchpp_20260919/sections/allocation.tex, ideal spectral model and corollary. The plotted eigenvalues are an explicitly illustrative spectrum.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original allocator minimized an estimated risk proxy, not tail energy alone. More capture reduces the tail numerator and also the residual-sample denominator.</a:t>
            </a:r>
          </a:p>
          <a:p xmlns:a="http://schemas.openxmlformats.org/drawingml/2006/main">
            <a:r>
              <a:t/>
            </a:r>
          </a:p>
          <a:p xmlns:a="http://schemas.openxmlformats.org/drawingml/2006/main">
            <a:r>
              <a:t>SAY</a:t>
            </a:r>
          </a:p>
          <a:p xmlns:a="http://schemas.openxmlformats.org/drawingml/2006/main">
            <a:r>
              <a:t>If I increase q, I hope to reduce the energy left behind. At the same time, I lose residual samples. These plots show those competing effects in a simple analytical example. The objective is twice the estimated tail divided by m minus two q. Its minimum can occur before we spend all feasible queries on capture. Originally we estimated the tail from pilot spectral information and minimized this proxy over feasible integer allocations.</a:t>
            </a:r>
          </a:p>
          <a:p xmlns:a="http://schemas.openxmlformats.org/drawingml/2006/main">
            <a:r>
              <a:t/>
            </a:r>
          </a:p>
          <a:p xmlns:a="http://schemas.openxmlformats.org/drawingml/2006/main">
            <a:r>
              <a:t>REASON / SHORT PROOF</a:t>
            </a:r>
          </a:p>
          <a:p xmlns:a="http://schemas.openxmlformats.org/drawingml/2006/main">
            <a:r>
              <a:t>Under ideal capture and r=q, Gaussian risk is 2T(q)/(m−2q). Our proposal has q_hat in argmin 2 T_hat(q)/(m−2q), with m−2q&gt;0 and q≤d. A committed reusable pilot also imposes q≥B. The curves use lambda_i=1/i, d=500, m=160, and q=0,5,...,75. The plotted right axis is log10(risk/grid minimum), so zero is the minimum on that illustrative grid. This is analytical illustration, not a measured research result or the exact integer optimum.</a:t>
            </a:r>
          </a:p>
          <a:p xmlns:a="http://schemas.openxmlformats.org/drawingml/2006/main">
            <a:r>
              <a:t/>
            </a:r>
          </a:p>
          <a:p xmlns:a="http://schemas.openxmlformats.org/drawingml/2006/main">
            <a:r>
              <a:t>IF ASKED</a:t>
            </a:r>
          </a:p>
          <a:p xmlns:a="http://schemas.openxmlformats.org/drawingml/2006/main">
            <a:r>
              <a:t>Why not minimize just T(q)? T(q) is nonincreasing. Ignoring the denominator would keep favoring more capture even as the number of final samples becomes too small.</a:t>
            </a:r>
          </a:p>
          <a:p xmlns:a="http://schemas.openxmlformats.org/drawingml/2006/main">
            <a:r>
              <a:t/>
            </a:r>
          </a:p>
          <a:p xmlns:a="http://schemas.openxmlformats.org/drawingml/2006/main">
            <a:r>
              <a:t>NEXT</a:t>
            </a:r>
          </a:p>
          <a:p xmlns:a="http://schemas.openxmlformats.org/drawingml/2006/main">
            <a:r>
              <a:t>We can make this tradeoff precise by comparing q with q+1.</a:t>
            </a:r>
          </a:p>
          <a:p xmlns:a="http://schemas.openxmlformats.org/drawingml/2006/main">
            <a:r>
              <a:t/>
            </a:r>
          </a:p>
          <a:p xmlns:a="http://schemas.openxmlformats.org/drawingml/2006/main">
            <a:r>
              <a:t>Sources: reports/latex/adaptive_hutchpp_20260919/sections/allocation.tex, full ideal objective and ideal marginal corollary.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successful extra direction costs two products: its sketch product and its AQ product. The required energy reduction follows by comparing the old and new risks.</a:t>
            </a:r>
          </a:p>
          <a:p xmlns:a="http://schemas.openxmlformats.org/drawingml/2006/main">
            <a:r>
              <a:t/>
            </a:r>
          </a:p>
          <a:p xmlns:a="http://schemas.openxmlformats.org/drawingml/2006/main">
            <a:r>
              <a:t>SAY</a:t>
            </a:r>
          </a:p>
          <a:p xmlns:a="http://schemas.openxmlformats.org/drawingml/2006/main">
            <a:r>
              <a:t>Here the residual budget falls from 130 to 128. That is the price of one more accepted direction. Is it worth paying? Only if the direction removes enough residual energy. In this example the threshold is about 1.54 percent. This is a useful way to explain the allocation problem: the direction has to earn back the two final samples we give up.</a:t>
            </a:r>
          </a:p>
          <a:p xmlns:a="http://schemas.openxmlformats.org/drawingml/2006/main">
            <a:r>
              <a:t/>
            </a:r>
          </a:p>
          <a:p xmlns:a="http://schemas.openxmlformats.org/drawingml/2006/main">
            <a:r>
              <a:t>REASON / SHORT PROOF</a:t>
            </a:r>
          </a:p>
          <a:p xmlns:a="http://schemas.openxmlformats.org/drawingml/2006/main">
            <a:r>
              <a:t>For current relevant energy E&gt;0 and D=130, old risk is 2E/D. After a successful extension, new risk is 2E_prime/(D−2). Multiplying the strict improvement inequality by positive denominators gives D(E−E_prime)&gt;2E. Therefore the fractional reduction must exceed 2/D=2/130=0.0153846. In the ideal spectral model, E=T(q) and E−E_prime=lambda_{q+1}², giving (m−2q)lambda_{q+1}²&gt;2T(q). Later we will use the same algebra for the actual probe-specific energy. CHECKPOINT: what if the column is rejected? Then only one query is lost, with no improvement when the projector is unchanged.</a:t>
            </a:r>
          </a:p>
          <a:p xmlns:a="http://schemas.openxmlformats.org/drawingml/2006/main">
            <a:r>
              <a:t/>
            </a:r>
          </a:p>
          <a:p xmlns:a="http://schemas.openxmlformats.org/drawingml/2006/main">
            <a:r>
              <a:t>IF ASKED</a:t>
            </a:r>
          </a:p>
          <a:p xmlns:a="http://schemas.openxmlformats.org/drawingml/2006/main">
            <a:r>
              <a:t>What if the energy is already zero? Strict improvement is impossible because risk is nonnegative. Do not divide by zero or add an artificial numerical floor.</a:t>
            </a:r>
          </a:p>
          <a:p xmlns:a="http://schemas.openxmlformats.org/drawingml/2006/main">
            <a:r>
              <a:t/>
            </a:r>
          </a:p>
          <a:p xmlns:a="http://schemas.openxmlformats.org/drawingml/2006/main">
            <a:r>
              <a:t>NEXT</a:t>
            </a:r>
          </a:p>
          <a:p xmlns:a="http://schemas.openxmlformats.org/drawingml/2006/main">
            <a:r>
              <a:t>This rule looks clean, but it relies on knowing what the extra direction actually captures.</a:t>
            </a:r>
          </a:p>
          <a:p xmlns:a="http://schemas.openxmlformats.org/drawingml/2006/main">
            <a:r>
              <a:t/>
            </a:r>
          </a:p>
          <a:p xmlns:a="http://schemas.openxmlformats.org/drawingml/2006/main">
            <a:r>
              <a:t>Sources: reports/latex/adaptive_hutchpp_20260919/sections/allocation.tex, T4 and ideal corollary.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spectrum describes available directions. Q describes the directions the randomized procedure actually found. Equal dimension does not imply equal subspace.</a:t>
            </a:r>
          </a:p>
          <a:p xmlns:a="http://schemas.openxmlformats.org/drawingml/2006/main">
            <a:r>
              <a:t/>
            </a:r>
          </a:p>
          <a:p xmlns:a="http://schemas.openxmlformats.org/drawingml/2006/main">
            <a:r>
              <a:t>SAY</a:t>
            </a:r>
          </a:p>
          <a:p xmlns:a="http://schemas.openxmlformats.org/drawingml/2006/main">
            <a:r>
              <a:t>The left picture shows the ideal situation: the captured directions lie in the desired plane. On the right, the captured space has the same dimension but a different orientation. Some important signal remains outside it. This is the assumption our original tail objective misses. It behaves as if obtaining q directions means obtaining the best q directions. A randomized range finder may not achieve that, especially when its signal sketch is poorly conditioned.</a:t>
            </a:r>
          </a:p>
          <a:p xmlns:a="http://schemas.openxmlformats.org/drawingml/2006/main">
            <a:r>
              <a:t/>
            </a:r>
          </a:p>
          <a:p xmlns:a="http://schemas.openxmlformats.org/drawingml/2006/main">
            <a:r>
              <a:t>REASON / SHORT PROOF</a:t>
            </a:r>
          </a:p>
          <a:p xmlns:a="http://schemas.openxmlformats.org/drawingml/2006/main">
            <a:r>
              <a:t>For the step matrix A=eta I+(1−eta)U_1U_1ᵀ, decompose the range sketch in the eigenbasis into S_1=U_1ᵀS and S_2=U_2ᵀS. At q=k with invertible S_1, range(AS) is the graph of F=eta S_2 S_1^{-1}. The largest sine of the principal angles equals ||F||_2/sqrt(1+||F||_2²). A full-rank S_1 may still have a large inverse. The geometry is schematic; do not read the illustrated angle or gap as a measured quantity or exact projection construction.</a:t>
            </a:r>
          </a:p>
          <a:p xmlns:a="http://schemas.openxmlformats.org/drawingml/2006/main">
            <a:r>
              <a:t/>
            </a:r>
          </a:p>
          <a:p xmlns:a="http://schemas.openxmlformats.org/drawingml/2006/main">
            <a:r>
              <a:t>IF ASKED</a:t>
            </a:r>
          </a:p>
          <a:p xmlns:a="http://schemas.openxmlformats.org/drawingml/2006/main">
            <a:r>
              <a:t>Does a large inverse always imply large error? No. The actual product S_2 S_1^{-1} determines the graph error. Conditioning identifies a mechanism to test, not a complete diagnosis by itself.</a:t>
            </a:r>
          </a:p>
          <a:p xmlns:a="http://schemas.openxmlformats.org/drawingml/2006/main">
            <a:r>
              <a:t/>
            </a:r>
          </a:p>
          <a:p xmlns:a="http://schemas.openxmlformats.org/drawingml/2006/main">
            <a:r>
              <a:t>NEXT</a:t>
            </a:r>
          </a:p>
          <a:p xmlns:a="http://schemas.openxmlformats.org/drawingml/2006/main">
            <a:r>
              <a:t>The bridge experiment compared this actual capture with the ideal tail prediction.</a:t>
            </a:r>
          </a:p>
          <a:p xmlns:a="http://schemas.openxmlformats.org/drawingml/2006/main">
            <a:r>
              <a:t/>
            </a:r>
          </a:p>
          <a:p xmlns:a="http://schemas.openxmlformats.org/drawingml/2006/main">
            <a:r>
              <a:t>Sources: reports/latex/adaptive_hutchpp_20260919/sections/capture.tex, T5–T5b. Illustration generated for this presentation using the built-in image tool; no experimental data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This slide uses Gaussian final-probe risk first to isolate capture quality before introducing the Rademacher-specific risk formula. The range sketch in the experiment was coordinate-Rademacher throughout.</a:t>
            </a:r>
          </a:p>
          <a:p xmlns:a="http://schemas.openxmlformats.org/drawingml/2006/main">
            <a:r>
              <a:t/>
            </a:r>
          </a:p>
          <a:p xmlns:a="http://schemas.openxmlformats.org/drawingml/2006/main">
            <a:r>
              <a:t>SAY</a:t>
            </a:r>
          </a:p>
          <a:p xmlns:a="http://schemas.openxmlformats.org/drawingml/2006/main">
            <a:r>
              <a:t>For 15 dominant directions, the ideal model preferred 15 columns. The realized mean risk in this tested example preferred 16. Every tested allocation here had full accepted rank, so numerical rank loss does not explain it. Near the square boundary, a few poorly conditioned sketches leave much more signal in the residual. An extra column often repairs those bad paths. Its benefit can overwhelm the small cost of losing two residual samples.</a:t>
            </a:r>
          </a:p>
          <a:p xmlns:a="http://schemas.openxmlformats.org/drawingml/2006/main">
            <a:r>
              <a:t/>
            </a:r>
          </a:p>
          <a:p xmlns:a="http://schemas.openxmlformats.org/drawingml/2006/main">
            <a:r>
              <a:t>REASON / SHORT PROOF</a:t>
            </a:r>
          </a:p>
          <a:p xmlns:a="http://schemas.openxmlformats.org/drawingml/2006/main">
            <a:r>
              <a:t>For d=500, k=15, eta=10^{-6}, m=160 and 200 frozen nested paths, Gaussian mean risk at q=15 is 1.2123e−8 and at q=16 is 7.5641e−12. The denominator moves from 130 to 128, so the ratio of mean energies equals the mean-risk ratio times 128/130. The denominator penalizes the extra direction; it cannot explain the reduction. Across the nine tested rank-budget combinations at this tail, the finite mean minima were q_rank*=k and q_G*=q_R*=k+1. Here an optimum means the frozen finite mean curve on its grid, not a population optimum.</a:t>
            </a:r>
          </a:p>
          <a:p xmlns:a="http://schemas.openxmlformats.org/drawingml/2006/main">
            <a:r>
              <a:t/>
            </a:r>
          </a:p>
          <a:p xmlns:a="http://schemas.openxmlformats.org/drawingml/2006/main">
            <a:r>
              <a:t>IF ASKED</a:t>
            </a:r>
          </a:p>
          <a:p xmlns:a="http://schemas.openxmlformats.org/drawingml/2006/main">
            <a:r>
              <a:t>Does this prove +1 is always best? No. Medians often favored k, Gaussian bootstrap intervals for the mean difference at m=160 included zero, and nearby regimes produced shifts of zero, one, two or more. Full-rank robustness is not guaranteed by one extra column.</a:t>
            </a:r>
          </a:p>
          <a:p xmlns:a="http://schemas.openxmlformats.org/drawingml/2006/main">
            <a:r>
              <a:t/>
            </a:r>
          </a:p>
          <a:p xmlns:a="http://schemas.openxmlformats.org/drawingml/2006/main">
            <a:r>
              <a:t>NEXT</a:t>
            </a:r>
          </a:p>
          <a:p xmlns:a="http://schemas.openxmlformats.org/drawingml/2006/main">
            <a:r>
              <a:t>That establishes why actual capture matters. We next ask whether the Gaussian energy is the exact risk our practical probes experience.</a:t>
            </a:r>
          </a:p>
          <a:p xmlns:a="http://schemas.openxmlformats.org/drawingml/2006/main">
            <a:r>
              <a:t/>
            </a:r>
          </a:p>
          <a:p xmlns:a="http://schemas.openxmlformats.org/drawingml/2006/main">
            <a:r>
              <a:t>Sources: reports/latex/adaptive_hutchpp_20260919/sections/experiments.tex, E1 and mean-risk table; reports/q_rank_vs_realized_risk_mechanism.md.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We are changing the analysis target, not introducing random signs for the first time. The implementation already used Rademacher probes. This example explains why their exact variance deserves separate treatment.</a:t>
            </a:r>
          </a:p>
          <a:p xmlns:a="http://schemas.openxmlformats.org/drawingml/2006/main">
            <a:r>
              <a:t/>
            </a:r>
          </a:p>
          <a:p xmlns:a="http://schemas.openxmlformats.org/drawingml/2006/main">
            <a:r>
              <a:t>SAY</a:t>
            </a:r>
          </a:p>
          <a:p xmlns:a="http://schemas.openxmlformats.org/drawingml/2006/main">
            <a:r>
              <a:t>Rademacher probes have independent entries equal to plus or minus one. Look at this diagonal residual. Every squared probe coordinate is one, so the quadratic form is always three. There is no sampling noise at all. Gaussian probes do not have fixed squared coordinates and their quadratic form fluctuates. If our estimator uses random signs, a formula that counts all Gaussian residual energy can be conservative and can guide allocation incorrectly. We therefore want its actual probe-specific risk.</a:t>
            </a:r>
          </a:p>
          <a:p xmlns:a="http://schemas.openxmlformats.org/drawingml/2006/main">
            <a:r>
              <a:t/>
            </a:r>
          </a:p>
          <a:p xmlns:a="http://schemas.openxmlformats.org/drawingml/2006/main">
            <a:r>
              <a:t>REASON / SHORT PROOF</a:t>
            </a:r>
          </a:p>
          <a:p xmlns:a="http://schemas.openxmlformats.org/drawingml/2006/main">
            <a:r>
              <a:t>For H=diag(2,1), gᵀHg=2g_1²+g_2²=3 for every sign vector, hence variance zero. For standard independent Gaussian entries, variance is 2(2²+1²)=10. This example keeps H fixed, so the only change is probe law. The example is not a claim that an arbitrary projected residual is diagonal.</a:t>
            </a:r>
          </a:p>
          <a:p xmlns:a="http://schemas.openxmlformats.org/drawingml/2006/main">
            <a:r>
              <a:t/>
            </a:r>
          </a:p>
          <a:p xmlns:a="http://schemas.openxmlformats.org/drawingml/2006/main">
            <a:r>
              <a:t>IF ASKED</a:t>
            </a:r>
          </a:p>
          <a:p xmlns:a="http://schemas.openxmlformats.org/drawingml/2006/main">
            <a:r>
              <a:t>Are random signs universally necessary? No. We analyze them because they are the practical final probes in our implementation. If we deliberately chose Gaussian final probes, the Gaussian risk would be the exact target.</a:t>
            </a:r>
          </a:p>
          <a:p xmlns:a="http://schemas.openxmlformats.org/drawingml/2006/main">
            <a:r>
              <a:t/>
            </a:r>
          </a:p>
          <a:p xmlns:a="http://schemas.openxmlformats.org/drawingml/2006/main">
            <a:r>
              <a:t>NEXT</a:t>
            </a:r>
          </a:p>
          <a:p xmlns:a="http://schemas.openxmlformats.org/drawingml/2006/main">
            <a:r>
              <a:t>The same cancellation in the diagonal example gives the general Rademacher formula.</a:t>
            </a:r>
          </a:p>
          <a:p xmlns:a="http://schemas.openxmlformats.org/drawingml/2006/main">
            <a:r>
              <a:t/>
            </a:r>
          </a:p>
          <a:p xmlns:a="http://schemas.openxmlformats.org/drawingml/2006/main">
            <a:r>
              <a:t>Sources: reports/latex/adaptive_hutchpp_20260919/sections/preliminaries.tex, T3; allocation.tex, diagonal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A diagonal entry contributes a constant because g_i²=1. Off-diagonal terms contain products of different signs and create the fluctuation. Conditional risk is expected squared error with the basis fixed.</a:t>
            </a:r>
          </a:p>
          <a:p xmlns:a="http://schemas.openxmlformats.org/drawingml/2006/main">
            <a:r>
              <a:t/>
            </a:r>
          </a:p>
          <a:p xmlns:a="http://schemas.openxmlformats.org/drawingml/2006/main">
            <a:r>
              <a:t>SAY</a:t>
            </a:r>
          </a:p>
          <a:p xmlns:a="http://schemas.openxmlformats.org/drawingml/2006/main">
            <a:r>
              <a:t>Expand the residual quadratic form. Its diagonal part is exactly the residual trace. The off-diagonal part changes with the signs. That is why the exact random-sign risk uses the squared off-diagonal entries, divided by the number of fresh final probes. Notice that the diagonal is still part of the trace; it simply does not create variance. This gives the quantity our allocation decision really needs.</a:t>
            </a:r>
          </a:p>
          <a:p xmlns:a="http://schemas.openxmlformats.org/drawingml/2006/main">
            <a:r>
              <a:t/>
            </a:r>
          </a:p>
          <a:p xmlns:a="http://schemas.openxmlformats.org/drawingml/2006/main">
            <a:r>
              <a:t>REASON / SHORT PROOF</a:t>
            </a:r>
          </a:p>
          <a:p xmlns:a="http://schemas.openxmlformats.org/drawingml/2006/main">
            <a:r>
              <a:t>For symmetric H, gᵀHg=tr(H)+2 sum_{i&lt;j} H_ij g_i g_j. Each product has mean zero. Distinct unordered pairs have zero cross expectation because at least one independent sign occurs to an odd power. Therefore Var(gᵀHg)=4 sum_{i&lt;j}H_ij²=2 sum_{i!=j}H_ij². Independent averaging divides by ell. With conditional unbiasedness, this is conditional MSE. CHECKPOINT: what should replace T(q) for this estimator? The actual off-diagonal energy of H_Q, not just the eigenvalue tail. The same-basis Rademacher risk is at most Gaussian risk, but that does not compare different bases.</a:t>
            </a:r>
          </a:p>
          <a:p xmlns:a="http://schemas.openxmlformats.org/drawingml/2006/main">
            <a:r>
              <a:t/>
            </a:r>
          </a:p>
          <a:p xmlns:a="http://schemas.openxmlformats.org/drawingml/2006/main">
            <a:r>
              <a:t>IF ASKED</a:t>
            </a:r>
          </a:p>
          <a:p xmlns:a="http://schemas.openxmlformats.org/drawingml/2006/main">
            <a:r>
              <a:t>Does adding a direction always reduce off-diagonal energy? No. A=I_2 has zero Rademacher variance before projection. Projecting out (1,1)/sqrt(2) creates off-diagonal residual entries. The local risk test remains valid without assuming energy decreases.</a:t>
            </a:r>
          </a:p>
          <a:p xmlns:a="http://schemas.openxmlformats.org/drawingml/2006/main">
            <a:r>
              <a:t/>
            </a:r>
          </a:p>
          <a:p xmlns:a="http://schemas.openxmlformats.org/drawingml/2006/main">
            <a:r>
              <a:t>NEXT</a:t>
            </a:r>
          </a:p>
          <a:p xmlns:a="http://schemas.openxmlformats.org/drawingml/2006/main">
            <a:r>
              <a:t>The exact risk is now identified. Can a small number of fresh observations estimate it?</a:t>
            </a:r>
          </a:p>
          <a:p xmlns:a="http://schemas.openxmlformats.org/drawingml/2006/main">
            <a:r>
              <a:t/>
            </a:r>
          </a:p>
          <a:p xmlns:a="http://schemas.openxmlformats.org/drawingml/2006/main">
            <a:r>
              <a:t>Sources: reports/latex/adaptive_hutchpp_20260919/sections/preliminaries.tex, T3; allocation.tex, nested Rademacher-energy counterexample.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risk numerator is the variance of a scalar quadratic form. Sample variance estimates it without reconstructing a dense residual matrix or fitting a spectral decay law.</a:t>
            </a:r>
          </a:p>
          <a:p xmlns:a="http://schemas.openxmlformats.org/drawingml/2006/main">
            <a:r>
              <a:t/>
            </a:r>
          </a:p>
          <a:p xmlns:a="http://schemas.openxmlformats.org/drawingml/2006/main">
            <a:r>
              <a:t>SAY</a:t>
            </a:r>
          </a:p>
          <a:p xmlns:a="http://schemas.openxmlformats.org/drawingml/2006/main">
            <a:r>
              <a:t>Once the basis is fixed, draw fresh certification probes and record their residual quadratic forms. A narrow spread suggests low variance; a wide spread suggests high variance. The ordinary sample variance is unbiased for that variance. Dividing by the final residual count gives an unbiased estimate of the action’s conditional risk. The illustration shows the idea of spread, not research data. We are estimating how noisy a future trace estimator would be, rather than using these same observations as its final trace estimate.</a:t>
            </a:r>
          </a:p>
          <a:p xmlns:a="http://schemas.openxmlformats.org/drawingml/2006/main">
            <a:r>
              <a:t/>
            </a:r>
          </a:p>
          <a:p xmlns:a="http://schemas.openxmlformats.org/drawingml/2006/main">
            <a:r>
              <a:t>REASON / SHORT PROOF</a:t>
            </a:r>
          </a:p>
          <a:p xmlns:a="http://schemas.openxmlformats.org/drawingml/2006/main">
            <a:r>
              <a:t>For s≥2 conditionally iid X_j with mean mu and variance sigma², sum(X_j−Xbar)²=sum(X_j−mu)²−s(Xbar−mu)². Expectations are s sigma² and sigma², respectively. Dividing by s−1 gives E[sigma_hat²]=sigma². The exact risk is sigma²/ell for fixed positive ell. Certification sample size s and final probe count ell are different quantities. In the first offline study, certification was external and did not reduce ell.</a:t>
            </a:r>
          </a:p>
          <a:p xmlns:a="http://schemas.openxmlformats.org/drawingml/2006/main">
            <a:r>
              <a:t/>
            </a:r>
          </a:p>
          <a:p xmlns:a="http://schemas.openxmlformats.org/drawingml/2006/main">
            <a:r>
              <a:t>IF ASKED</a:t>
            </a:r>
          </a:p>
          <a:p xmlns:a="http://schemas.openxmlformats.org/drawingml/2006/main">
            <a:r>
              <a:t>Does unbiased mean reliable with sixteen observations? No. It states an average over repeated certification experiments. The distribution and its tails determine decision reliability, which is the next question.</a:t>
            </a:r>
          </a:p>
          <a:p xmlns:a="http://schemas.openxmlformats.org/drawingml/2006/main">
            <a:r>
              <a:t/>
            </a:r>
          </a:p>
          <a:p xmlns:a="http://schemas.openxmlformats.org/drawingml/2006/main">
            <a:r>
              <a:t>NEXT</a:t>
            </a:r>
          </a:p>
          <a:p xmlns:a="http://schemas.openxmlformats.org/drawingml/2006/main">
            <a:r>
              <a:t>A decision compares two actions, so we can share the same observations across candidate and baseline.</a:t>
            </a:r>
          </a:p>
          <a:p xmlns:a="http://schemas.openxmlformats.org/drawingml/2006/main">
            <a:r>
              <a:t/>
            </a:r>
          </a:p>
          <a:p xmlns:a="http://schemas.openxmlformats.org/drawingml/2006/main">
            <a:r>
              <a:t>Sources: reports/latex/adaptive_hutchpp_20260919/sections/certification.tex, T7 and the common-probe diagnostic algorithm. The plotted observations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Candidate and baseline are fixed before certification. Sharing g and Ag induces dependence between their risk estimates. That dependence may reduce comparison noise.</a:t>
            </a:r>
          </a:p>
          <a:p xmlns:a="http://schemas.openxmlformats.org/drawingml/2006/main">
            <a:r>
              <a:t/>
            </a:r>
          </a:p>
          <a:p xmlns:a="http://schemas.openxmlformats.org/drawingml/2006/main">
            <a:r>
              <a:t>SAY</a:t>
            </a:r>
          </a:p>
          <a:p xmlns:a="http://schemas.openxmlformats.org/drawingml/2006/main">
            <a:r>
              <a:t>For each fresh vector, we query Ag once and evaluate its residual quadratic form for both already-constructed bases. Cached AQ makes this possible without a second oracle call per action. We estimate each variance, divide by its residual denominator, and subtract. The target is the actual risk difference. Sharing probes is computationally efficient and can also cancel common fluctuations. Whether it cancels enough is a mathematical and empirical question.</a:t>
            </a:r>
          </a:p>
          <a:p xmlns:a="http://schemas.openxmlformats.org/drawingml/2006/main">
            <a:r>
              <a:t/>
            </a:r>
          </a:p>
          <a:p xmlns:a="http://schemas.openxmlformats.org/drawingml/2006/main">
            <a:r>
              <a:t>REASON / SHORT PROOF</a:t>
            </a:r>
          </a:p>
          <a:p xmlns:a="http://schemas.openxmlformats.org/drawingml/2006/main">
            <a:r>
              <a:t>For action x, h_x=g−Q_x(Q_xᵀg), and A h_x=Ag−AQ_x(Q_xᵀg). Then X_x=h_xᵀA h_x. AQ_x was paid during construction. Thus s new shared probes cost s oracle products regardless of action count. Linearity gives E[sigma_hat_a²/ell_a−sigma_hat_0²/ell_0]=Delta without needing independence between actions. Its variance is Var(Y_a)+Var(Y_0)−2Cov(Y_a,Y_0). Pairing improves on independent observations with the same marginals precisely when covariance is positive.</a:t>
            </a:r>
          </a:p>
          <a:p xmlns:a="http://schemas.openxmlformats.org/drawingml/2006/main">
            <a:r>
              <a:t/>
            </a:r>
          </a:p>
          <a:p xmlns:a="http://schemas.openxmlformats.org/drawingml/2006/main">
            <a:r>
              <a:t>IF ASKED</a:t>
            </a:r>
          </a:p>
          <a:p xmlns:a="http://schemas.openxmlformats.org/drawingml/2006/main">
            <a:r>
              <a:t>Can we reuse certification probes in the final estimator? Not under our existing conditional-unbiasedness argument, because selection would depend on those observations. We use fresh separate final probes unless a new proof justifies reuse.</a:t>
            </a:r>
          </a:p>
          <a:p xmlns:a="http://schemas.openxmlformats.org/drawingml/2006/main">
            <a:r>
              <a:t/>
            </a:r>
          </a:p>
          <a:p xmlns:a="http://schemas.openxmlformats.org/drawingml/2006/main">
            <a:r>
              <a:t>NEXT</a:t>
            </a:r>
          </a:p>
          <a:p xmlns:a="http://schemas.openxmlformats.org/drawingml/2006/main">
            <a:r>
              <a:t>An estimated negative difference is encouraging. To certify improvement, we still need uncertainty control.</a:t>
            </a:r>
          </a:p>
          <a:p xmlns:a="http://schemas.openxmlformats.org/drawingml/2006/main">
            <a:r>
              <a:t/>
            </a:r>
          </a:p>
          <a:p xmlns:a="http://schemas.openxmlformats.org/drawingml/2006/main">
            <a:r>
              <a:t>Sources: reports/latex/adaptive_hutchpp_20260919/sections/certification.tex, cached-product identity and T8.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diagram shows the deterministic final step of a confidence argument. The difficult part is constructing valid, sufficiently narrow simultaneous intervals from a small batch.</a:t>
            </a:r>
          </a:p>
          <a:p xmlns:a="http://schemas.openxmlformats.org/drawingml/2006/main">
            <a:r>
              <a:t/>
            </a:r>
          </a:p>
          <a:p xmlns:a="http://schemas.openxmlformats.org/drawingml/2006/main">
            <a:r>
              <a:t>SAY</a:t>
            </a:r>
          </a:p>
          <a:p xmlns:a="http://schemas.openxmlformats.org/drawingml/2006/main">
            <a:r>
              <a:t>Suppose we have valid lower and upper risk bounds for both actions. If the candidate’s upper bound is below the baseline’s lower bound, we can accept it on that confidence event. That is the simple logic. The hard part is obtaining those bounds with the queries available. Our empirical factor-two rule asked for a large estimated separation, but that rule by itself did not prove an interval or a probability guarantee.</a:t>
            </a:r>
          </a:p>
          <a:p xmlns:a="http://schemas.openxmlformats.org/drawingml/2006/main">
            <a:r>
              <a:t/>
            </a:r>
          </a:p>
          <a:p xmlns:a="http://schemas.openxmlformats.org/drawingml/2006/main">
            <a:r>
              <a:t>REASON / SHORT PROOF</a:t>
            </a:r>
          </a:p>
          <a:p xmlns:a="http://schemas.openxmlformats.org/drawingml/2006/main">
            <a:r>
              <a:t>On one simultaneous event E, R_a≤U_a and L_0≤R_0. If U_a≤L_0, transitivity yields R_a≤R_0. Because selection depends on observed data, bounds must hold simultaneously for all eligible selected actions or stages. A union bound can provide this event when failure budgets sum to delta_joint. A guarantee P(E)≥1−delta_joint does not automatically imply P(safe | accepted)≥1−delta_joint. The diagram has no numerical confidence endpoints; it illustrates the acceptance logic only.</a:t>
            </a:r>
          </a:p>
          <a:p xmlns:a="http://schemas.openxmlformats.org/drawingml/2006/main">
            <a:r>
              <a:t/>
            </a:r>
          </a:p>
          <a:p xmlns:a="http://schemas.openxmlformats.org/drawingml/2006/main">
            <a:r>
              <a:t>IF ASKED</a:t>
            </a:r>
          </a:p>
          <a:p xmlns:a="http://schemas.openxmlformats.org/drawingml/2006/main">
            <a:r>
              <a:t>Can we fall back to the baseline if intervals overlap? We can choose that basis if feasible, but its available final-probe budget may have shrunk. The bounds must refer to the actual paid risk, or the comparison is wrong.</a:t>
            </a:r>
          </a:p>
          <a:p xmlns:a="http://schemas.openxmlformats.org/drawingml/2006/main">
            <a:r>
              <a:t/>
            </a:r>
          </a:p>
          <a:p xmlns:a="http://schemas.openxmlformats.org/drawingml/2006/main">
            <a:r>
              <a:t>NEXT</a:t>
            </a:r>
          </a:p>
          <a:p xmlns:a="http://schemas.openxmlformats.org/drawingml/2006/main">
            <a:r>
              <a:t>That budget distinction changes how we interpret a successful risk estimate.</a:t>
            </a:r>
          </a:p>
          <a:p xmlns:a="http://schemas.openxmlformats.org/drawingml/2006/main">
            <a:r>
              <a:t/>
            </a:r>
          </a:p>
          <a:p xmlns:a="http://schemas.openxmlformats.org/drawingml/2006/main">
            <a:r>
              <a:t>Sources: reports/latex/adaptive_hutchpp_20260919/sections/certification.tex, T9–T10 and directed variance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unstarted baseline and fallback after checking are different estimators, even if they use the same basis. The second has fewer final probes.</a:t>
            </a:r>
          </a:p>
          <a:p xmlns:a="http://schemas.openxmlformats.org/drawingml/2006/main">
            <a:r>
              <a:t/>
            </a:r>
          </a:p>
          <a:p xmlns:a="http://schemas.openxmlformats.org/drawingml/2006/main">
            <a:r>
              <a:t>SAY</a:t>
            </a:r>
          </a:p>
          <a:p xmlns:a="http://schemas.openxmlformats.org/drawingml/2006/main">
            <a:r>
              <a:t>Our original baseline uses 30 construction products and 130 final probes. If we build the nested candidate at q=r=16, shared construction costs 32. Sixteen certification probes leave 112 final probes. If we reject the candidate and return to the old basis, those spent products do not come back. This is why detecting a good action offline does not automatically produce an overall baseline-safe policy.</a:t>
            </a:r>
          </a:p>
          <a:p xmlns:a="http://schemas.openxmlformats.org/drawingml/2006/main">
            <a:r>
              <a:t/>
            </a:r>
          </a:p>
          <a:p xmlns:a="http://schemas.openxmlformats.org/drawingml/2006/main">
            <a:r>
              <a:t>REASON / SHORT PROOF</a:t>
            </a:r>
          </a:p>
          <a:p xmlns:a="http://schemas.openxmlformats.org/drawingml/2006/main">
            <a:r>
              <a:t>For this nested shared-prefix pair, committed construction c_pre=max(30,32)=32. The paid residual budget is 160−32−16=112. Original baseline risk is sigma_0²/130, whereas paid fallback risk is sigma_0²/112. For positive sigma_0², the ratio is 130/112≈1.160714. At zero risk both remain zero. In other architectures, c_pre must be the actual committed count, not automatically the maximum. CHECKPOINT: why does abstention not restore original performance? Answer: it restores the basis, not the lost residual probes.</a:t>
            </a:r>
          </a:p>
          <a:p xmlns:a="http://schemas.openxmlformats.org/drawingml/2006/main">
            <a:r>
              <a:t/>
            </a:r>
          </a:p>
          <a:p xmlns:a="http://schemas.openxmlformats.org/drawingml/2006/main">
            <a:r>
              <a:t>IF ASKED</a:t>
            </a:r>
          </a:p>
          <a:p xmlns:a="http://schemas.openxmlformats.org/drawingml/2006/main">
            <a:r>
              <a:t>What would a net-safe candidate certificate compare? Candidate sigma_a²/112 against the original sigma_0²/130. Comparing both actions at denominator 112 only establishes which paid action is better, not whether checking was worth doing.</a:t>
            </a:r>
          </a:p>
          <a:p xmlns:a="http://schemas.openxmlformats.org/drawingml/2006/main">
            <a:r>
              <a:t/>
            </a:r>
          </a:p>
          <a:p xmlns:a="http://schemas.openxmlformats.org/drawingml/2006/main">
            <a:r>
              <a:t>NEXT</a:t>
            </a:r>
          </a:p>
          <a:p xmlns:a="http://schemas.openxmlformats.org/drawingml/2006/main">
            <a:r>
              <a:t>The numerical studies separated these two questions: is the signal useful, and does it remain useful after paying for it?</a:t>
            </a:r>
          </a:p>
          <a:p xmlns:a="http://schemas.openxmlformats.org/drawingml/2006/main">
            <a:r>
              <a:t/>
            </a:r>
          </a:p>
          <a:p xmlns:a="http://schemas.openxmlformats.org/drawingml/2006/main">
            <a:r>
              <a:t>Sources: reports/latex/adaptive_hutchpp_20260919/sections/certification.tex, T10; experiments.tex, E3. Numbers here are the explicit k=15 primary-pair accounting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left study measures decision signal with external certification. The right charges construction and certification. They answer different questions. Rates are conditional on frozen orientations and basis paths.</a:t>
            </a:r>
          </a:p>
          <a:p xmlns:a="http://schemas.openxmlformats.org/drawingml/2006/main">
            <a:r>
              <a:t/>
            </a:r>
          </a:p>
          <a:p xmlns:a="http://schemas.openxmlformats.org/drawingml/2006/main">
            <a:r>
              <a:t>SAY</a:t>
            </a:r>
          </a:p>
          <a:p xmlns:a="http://schemas.openxmlformats.org/drawingml/2006/main">
            <a:r>
              <a:t>With sixteen probes, sample variance could often recognize genuinely better catastrophic cases: acceptance was about 79.7 percent. It very rarely accepted a genuinely worse candidate in that frozen experiment. But paying for the checking changed the story. Most individual paths, 575 out of 600, had higher risk than their original baseline. The aggregate mean nevertheless improved because preventing a few extremely costly cases dominated the mean. Both statements are true. The method is not a uniform win.</a:t>
            </a:r>
          </a:p>
          <a:p xmlns:a="http://schemas.openxmlformats.org/drawingml/2006/main">
            <a:r>
              <a:t/>
            </a:r>
          </a:p>
          <a:p xmlns:a="http://schemas.openxmlformats.org/drawingml/2006/main">
            <a:r>
              <a:t>REASON / SHORT PROOF</a:t>
            </a:r>
          </a:p>
          <a:p xmlns:a="http://schemas.openxmlformats.org/drawingml/2006/main">
            <a:r>
              <a:t>Primary setting: d=500, k in {5,15,30}, eta=10^{-6}, m=160, candidate q=k+1 versus baseline q=k, s=16. The empirical rule accepted when estimated candidate risk was at most half baseline risk. False-safe rate among truly worse paths was 0.0134%, with 95% conditional bootstrap interval [0.0028%,0.0305%]. Top-5% truly-better detection was 79.6667%, interval [69.0662%,89.2833%]. Overall truly-better acceptance was 52.0991%, interval [40.3055%,63.5069%]. Rates average repetitions within path, eligible paths within rank, then ranks equally. The paid aggregate ratio is an equal-rank average of within-rank ratios of mean risks: 0.036329, interval [0.014628,0.639830]. It is not the average pathwise ratio. All 600 paid paths are in backup 12.</a:t>
            </a:r>
          </a:p>
          <a:p xmlns:a="http://schemas.openxmlformats.org/drawingml/2006/main">
            <a:r>
              <a:t/>
            </a:r>
          </a:p>
          <a:p xmlns:a="http://schemas.openxmlformats.org/drawingml/2006/main">
            <a:r>
              <a:t>IF ASKED</a:t>
            </a:r>
          </a:p>
          <a:p xmlns:a="http://schemas.openxmlformats.org/drawingml/2006/main">
            <a:r>
              <a:t>Does the tiny false-safe rate prove safety? No. These are measured operating rates under a frozen population and an empirical guard. They do not establish a finite-sample theorem or orientation-universal guarantee.</a:t>
            </a:r>
          </a:p>
          <a:p xmlns:a="http://schemas.openxmlformats.org/drawingml/2006/main">
            <a:r>
              <a:t/>
            </a:r>
          </a:p>
          <a:p xmlns:a="http://schemas.openxmlformats.org/drawingml/2006/main">
            <a:r>
              <a:t>NEXT</a:t>
            </a:r>
          </a:p>
          <a:p xmlns:a="http://schemas.openxmlformats.org/drawingml/2006/main">
            <a:r>
              <a:t>That motivates the confidence work: can we turn this useful empirical signal into a rigorous and affordable decision?</a:t>
            </a:r>
          </a:p>
          <a:p xmlns:a="http://schemas.openxmlformats.org/drawingml/2006/main">
            <a:r>
              <a:t/>
            </a:r>
          </a:p>
          <a:p xmlns:a="http://schemas.openxmlformats.org/drawingml/2006/main">
            <a:r>
              <a:t>Sources: reports/latex/adaptive_hutchpp_20260919/sections/experiments.tex, E2–E3; figures/urop_journal_data_20260919/figure2_bootstrap_source.csv and figure3_path_source.csv.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We have proved exact identities and conditional safety logic. The unresolved issue is a confidence bound sharp enough for small certification budgets without an expensive or unjustified scale assumption.</a:t>
            </a:r>
          </a:p>
          <a:p xmlns:a="http://schemas.openxmlformats.org/drawingml/2006/main">
            <a:r>
              <a:t/>
            </a:r>
          </a:p>
          <a:p xmlns:a="http://schemas.openxmlformats.org/drawingml/2006/main">
            <a:r>
              <a:t>SAY</a:t>
            </a:r>
          </a:p>
          <a:p xmlns:a="http://schemas.openxmlformats.org/drawingml/2006/main">
            <a:r>
              <a:t>The confidence work did not show that certification is impossible. It showed that specific explicit bounds are too loose. At 32 probes, the original fourth-moment plus Chebyshev calculation gives a relative radius near ten. Improving the fourth-moment factor reduces it to about 4.19. We need a candidate underestimation radius below one to invert the multiplicative bound. Both fail that requirement. Separately, a valid norm prior gives a finite paired-difference confidence radius. Obtaining a useful prior cheaply and making the full paid policy safe remain open.</a:t>
            </a:r>
          </a:p>
          <a:p xmlns:a="http://schemas.openxmlformats.org/drawingml/2006/main">
            <a:r>
              <a:t/>
            </a:r>
          </a:p>
          <a:p xmlns:a="http://schemas.openxmlformats.org/drawingml/2006/main">
            <a:r>
              <a:t>REASON / SHORT PROOF</a:t>
            </a:r>
          </a:p>
          <a:p xmlns:a="http://schemas.openxmlformats.org/drawingml/2006/main">
            <a:r>
              <a:t>For quadratic-chaos fourth-moment factor K, simultaneous two-action Chebyshev radius is sqrt(2[K−1+2/(s−1)]/(s delta_joint)). At s=32 and delta_joint=.05, K=81 gives 10.00403 and K=15 gives 4.192928. Candidate variance upper bound would divide its estimate by 1−epsilon, so epsilon&lt;1 is essential there. A separate frozen truncation family has a probability upper-bound floor greater than .81873, again demonstrating bound vacuity rather than true failure probability. A nested-basis norm-prior theorem supplies a finite Cantelli radius, conditional on a valid pre-certification bound on ||H_0||_F.</a:t>
            </a:r>
          </a:p>
          <a:p xmlns:a="http://schemas.openxmlformats.org/drawingml/2006/main">
            <a:r>
              <a:t/>
            </a:r>
          </a:p>
          <a:p xmlns:a="http://schemas.openxmlformats.org/drawingml/2006/main">
            <a:r>
              <a:t>IF ASKED</a:t>
            </a:r>
          </a:p>
          <a:p xmlns:a="http://schemas.openxmlformats.org/drawingml/2006/main">
            <a:r>
              <a:t>Is this only numerical verification? No. The moment identity, conditional acceptance theorem, paid-fallback identity, and route-specific no-go are mathematical results. Numerical studies tell us whether information is useful in the tested regimes.</a:t>
            </a:r>
          </a:p>
          <a:p xmlns:a="http://schemas.openxmlformats.org/drawingml/2006/main">
            <a:r>
              <a:t/>
            </a:r>
          </a:p>
          <a:p xmlns:a="http://schemas.openxmlformats.org/drawingml/2006/main">
            <a:r>
              <a:t>NEXT</a:t>
            </a:r>
          </a:p>
          <a:p xmlns:a="http://schemas.openxmlformats.org/drawingml/2006/main">
            <a:r>
              <a:t>We can now ask Swati a focused continuation question rather than propose another heuristic allocation rule.</a:t>
            </a:r>
          </a:p>
          <a:p xmlns:a="http://schemas.openxmlformats.org/drawingml/2006/main">
            <a:r>
              <a:t/>
            </a:r>
          </a:p>
          <a:p xmlns:a="http://schemas.openxmlformats.org/drawingml/2006/main">
            <a:r>
              <a:t>Sources: reports/latex/adaptive_hutchpp_20260919/sections/confidence.tex, T11–T13; technical.tex, T14–T15; 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The end should communicate what you can defend without requiring the audience to remember every symbol. Present the research as a sequence of refined assumptions and decision targets.</a:t>
            </a:r>
          </a:p>
          <a:p xmlns:a="http://schemas.openxmlformats.org/drawingml/2006/main">
            <a:r>
              <a:t/>
            </a:r>
          </a:p>
          <a:p xmlns:a="http://schemas.openxmlformats.org/drawingml/2006/main">
            <a:r>
              <a:t>SAY</a:t>
            </a:r>
          </a:p>
          <a:p xmlns:a="http://schemas.openxmlformats.org/drawingml/2006/main">
            <a:r>
              <a:t>My original approach predicted a spectral tail and optimized a query split. The later analysis showed that the actual captured basis and the final probe distribution matter. We can estimate that realized risk with fresh observations, and experiments show a useful signal. However, checking costs queries, and our explicit confidence routes are not yet useful at the desired small budget. I would like your advice on one continuation: should we focus on a direct paired-risk confidence bound, or on a cheap check for an important direction that the pilot missed?</a:t>
            </a:r>
          </a:p>
          <a:p xmlns:a="http://schemas.openxmlformats.org/drawingml/2006/main">
            <a:r>
              <a:t/>
            </a:r>
          </a:p>
          <a:p xmlns:a="http://schemas.openxmlformats.org/drawingml/2006/main">
            <a:r>
              <a:t>REASON / SHORT PROOF</a:t>
            </a:r>
          </a:p>
          <a:p xmlns:a="http://schemas.openxmlformats.org/drawingml/2006/main">
            <a:r>
              <a:t>The formal chain is accounting and conditional unbiasedness, exact conditional risk, local marginal value, risk estimation, simultaneous acceptance, then honest paid-policy comparison. Each link has distinct assumptions. Capture evidence motivates the target; it does not prove a confidence theorem. Confidence conditional on a structural prior is a legitimate partial result, not a data-only guarantee.</a:t>
            </a:r>
          </a:p>
          <a:p xmlns:a="http://schemas.openxmlformats.org/drawingml/2006/main">
            <a:r>
              <a:t/>
            </a:r>
          </a:p>
          <a:p xmlns:a="http://schemas.openxmlformats.org/drawingml/2006/main">
            <a:r>
              <a:t>IF ASKED</a:t>
            </a:r>
          </a:p>
          <a:p xmlns:a="http://schemas.openxmlformats.org/drawingml/2006/main">
            <a:r>
              <a:t>What is the strongest final UROP claim? Adaptive allocation can fail because pilot information is incomplete, randomized subspace capture can be poor, and information gathering reduces the final budget. We provide exact identities and controlled evidence that distinguish these mechanisms. We do not promise a universal improved allocator.</a:t>
            </a:r>
          </a:p>
          <a:p xmlns:a="http://schemas.openxmlformats.org/drawingml/2006/main">
            <a:r>
              <a:t/>
            </a:r>
          </a:p>
          <a:p xmlns:a="http://schemas.openxmlformats.org/drawingml/2006/main">
            <a:r>
              <a:t>NEXT</a:t>
            </a:r>
          </a:p>
          <a:p xmlns:a="http://schemas.openxmlformats.org/drawingml/2006/main">
            <a:r>
              <a:t>Pause for discussion. Use the backups only for the question Swati asks; the main narrative ends here.</a:t>
            </a:r>
          </a:p>
          <a:p xmlns:a="http://schemas.openxmlformats.org/drawingml/2006/main">
            <a:r>
              <a:t/>
            </a:r>
          </a:p>
          <a:p xmlns:a="http://schemas.openxmlformats.org/drawingml/2006/main">
            <a:r>
              <a:t>Sources: reports/latex/adaptive_hutchpp_20260919/sections/discussion.tex; introduction.tex; current corrected claims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 and T2. A pilot and sequential decisions belong to information fixed before the final probes. Rejected directions do not erase query costs.</a:t>
            </a:r>
          </a:p>
          <a:p xmlns:a="http://schemas.openxmlformats.org/drawingml/2006/main">
            <a:r>
              <a:t/>
            </a:r>
          </a:p>
          <a:p xmlns:a="http://schemas.openxmlformats.org/drawingml/2006/main">
            <a:r>
              <a:t>SAY</a:t>
            </a:r>
          </a:p>
          <a:p xmlns:a="http://schemas.openxmlformats.org/drawingml/2006/main">
            <a:r>
              <a:t>The accounting and unbiasedness results are the foundation. They remain valid when construction is adaptive, provided final observations are fresh and the actual rank enters the budget.</a:t>
            </a:r>
          </a:p>
          <a:p xmlns:a="http://schemas.openxmlformats.org/drawingml/2006/main">
            <a:r>
              <a:t/>
            </a:r>
          </a:p>
          <a:p xmlns:a="http://schemas.openxmlformats.org/drawingml/2006/main">
            <a:r>
              <a:t>REASON / SHORT PROOF</a:t>
            </a:r>
          </a:p>
          <a:p xmlns:a="http://schemas.openxmlformats.org/drawingml/2006/main">
            <a:r>
              <a:t>Accounting: a reusable pilot of B columns plus q−B further sampled columns costs q products. Evaluate AQ with r more products. Add ell final products to obtain m=q+r+ell. For unbiasedness, condition on the pre-final sigma-algebra G making Q and positive integer ell measurable. Assume each final probe satisfies E[g_j g_jᵀ|G]=I and integrability. Then E[g_jᵀRARg_j|G]=tr(RAR). Because R²=R and QᵀQ=I, tr(RAR)=tr(A)−tr(QᵀAQ). This proves conditional mean equal to tr(A), and the tower property proves unconditional unbiasedness. Independence is unnecessary for this expectation identity, but is needed for the simple conditional variance sum. A sequential stopping stage is permissible when included in G.</a:t>
            </a:r>
          </a:p>
          <a:p xmlns:a="http://schemas.openxmlformats.org/drawingml/2006/main">
            <a:r>
              <a:t/>
            </a:r>
          </a:p>
          <a:p xmlns:a="http://schemas.openxmlformats.org/drawingml/2006/main">
            <a:r>
              <a:t>IF ASKED</a:t>
            </a:r>
          </a:p>
          <a:p xmlns:a="http://schemas.openxmlformats.org/drawingml/2006/main">
            <a:r>
              <a:t>Does this prove the adaptive estimator has small MSE? No. Unbiasedness controls systematic bias, not variance. The randomized basis can make conditional risk enormous on some paths.</a:t>
            </a:r>
          </a:p>
          <a:p xmlns:a="http://schemas.openxmlformats.org/drawingml/2006/main">
            <a:r>
              <a:t/>
            </a:r>
          </a:p>
          <a:p xmlns:a="http://schemas.openxmlformats.org/drawingml/2006/main">
            <a:r>
              <a:t>NEXT</a:t>
            </a:r>
          </a:p>
          <a:p xmlns:a="http://schemas.openxmlformats.org/drawingml/2006/main">
            <a:r>
              <a:t>The next backup derives the variance appropriate to each probe law.</a:t>
            </a:r>
          </a:p>
          <a:p xmlns:a="http://schemas.openxmlformats.org/drawingml/2006/main">
            <a:r>
              <a:t/>
            </a:r>
          </a:p>
          <a:p xmlns:a="http://schemas.openxmlformats.org/drawingml/2006/main">
            <a:r>
              <a:t>Sources: reports/latex/adaptive_hutchpp_20260919/sections/preliminaries.tex, T1–T2.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T3. Exact risks require a symmetric residual H and fresh conditionally independent probes, with fixed positive count ell.</a:t>
            </a:r>
          </a:p>
          <a:p xmlns:a="http://schemas.openxmlformats.org/drawingml/2006/main">
            <a:r>
              <a:t/>
            </a:r>
          </a:p>
          <a:p xmlns:a="http://schemas.openxmlformats.org/drawingml/2006/main">
            <a:r>
              <a:t>SAY</a:t>
            </a:r>
          </a:p>
          <a:p xmlns:a="http://schemas.openxmlformats.org/drawingml/2006/main">
            <a:r>
              <a:t>Both formulas measure the same object, conditional estimator MSE, but for different final-probe distributions. The difference is the contribution of diagonal entries.</a:t>
            </a:r>
          </a:p>
          <a:p xmlns:a="http://schemas.openxmlformats.org/drawingml/2006/main">
            <a:r>
              <a:t/>
            </a:r>
          </a:p>
          <a:p xmlns:a="http://schemas.openxmlformats.org/drawingml/2006/main">
            <a:r>
              <a:t>REASON / SHORT PROOF</a:t>
            </a:r>
          </a:p>
          <a:p xmlns:a="http://schemas.openxmlformats.org/drawingml/2006/main">
            <a:r>
              <a:t>For Gaussian g, orthogonally diagonalize H=V diag(theta_i)Vᵀ. Vᵀg remains standard Gaussian, so gᵀHg=sum theta_i z_i². Independent z_i² each have variance two, giving 2 sum theta_i²=2||H||_F². For independent Rademacher coordinates, expand gᵀHg=tr(H)+2 sum_{i&lt;j}H_ij g_i g_j. Only identical unordered-pair products survive in the centered second moment, giving 4 sum_{i&lt;j}H_ij². Independent averaging divides either variance by ell. Conditional unbiasedness removes the squared-bias term, so conditional variance equals conditional MSE. Averaging these exact risks over randomized construction gives unconditional MSE by the tower property. This does not require claiming rotational invariance for Rademacher probes.</a:t>
            </a:r>
          </a:p>
          <a:p xmlns:a="http://schemas.openxmlformats.org/drawingml/2006/main">
            <a:r>
              <a:t/>
            </a:r>
          </a:p>
          <a:p xmlns:a="http://schemas.openxmlformats.org/drawingml/2006/main">
            <a:r>
              <a:t>IF ASKED</a:t>
            </a:r>
          </a:p>
          <a:p xmlns:a="http://schemas.openxmlformats.org/drawingml/2006/main">
            <a:r>
              <a:t>Can I say Rademacher is always better? For the same fixed H and ell, its variance is no larger. An algorithm may produce different bases, sketches, or budgets, so the statement does not order arbitrary Gaussian and Rademacher algorithms.</a:t>
            </a:r>
          </a:p>
          <a:p xmlns:a="http://schemas.openxmlformats.org/drawingml/2006/main">
            <a:r>
              <a:t/>
            </a:r>
          </a:p>
          <a:p xmlns:a="http://schemas.openxmlformats.org/drawingml/2006/main">
            <a:r>
              <a:t>NEXT</a:t>
            </a:r>
          </a:p>
          <a:p xmlns:a="http://schemas.openxmlformats.org/drawingml/2006/main">
            <a:r>
              <a:t>Use the exact risk numerator consistently in the marginal comparison.</a:t>
            </a:r>
          </a:p>
          <a:p xmlns:a="http://schemas.openxmlformats.org/drawingml/2006/main">
            <a:r>
              <a:t/>
            </a:r>
          </a:p>
          <a:p xmlns:a="http://schemas.openxmlformats.org/drawingml/2006/main">
            <a:r>
              <a:t>Sources: reports/latex/adaptive_hutchpp_20260919/sections/preliminaries.tex, T3.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T4 and the ideal spectral corollary. We retain successful and failed rank transitions and the assumptions behind the step-knee conclusion.</a:t>
            </a:r>
          </a:p>
          <a:p xmlns:a="http://schemas.openxmlformats.org/drawingml/2006/main">
            <a:r>
              <a:t/>
            </a:r>
          </a:p>
          <a:p xmlns:a="http://schemas.openxmlformats.org/drawingml/2006/main">
            <a:r>
              <a:t>SAY</a:t>
            </a:r>
          </a:p>
          <a:p xmlns:a="http://schemas.openxmlformats.org/drawingml/2006/main">
            <a:r>
              <a:t>The local test is algebraically exact for either realized energy. The ideal spectral criterion follows by a substitution, not by a new assumption about random capture.</a:t>
            </a:r>
          </a:p>
          <a:p xmlns:a="http://schemas.openxmlformats.org/drawingml/2006/main">
            <a:r>
              <a:t/>
            </a:r>
          </a:p>
          <a:p xmlns:a="http://schemas.openxmlformats.org/drawingml/2006/main">
            <a:r>
              <a:t>REASON / SHORT PROOF</a:t>
            </a:r>
          </a:p>
          <a:p xmlns:a="http://schemas.openxmlformats.org/drawingml/2006/main">
            <a:r>
              <a:t>For D&gt;2, subtract old 2E/D from new 2E_prime/(D−2). Collecting terms gives −2[D(E−E_prime)−2E]/[D(D−2)]. Positive denominator makes improvement equivalent to D(E−E_prime)&gt;2E. Divide by E only for E&gt;0. If a rank attempt fails with unchanged projector and D&gt;1, the difference is 2E/(D−1)−2E/D=2E/[D(D−1)]≥0. In the ideal Gaussian model, substitute E=T(r), E_prime=T(r)−lambda_{r+1}². Under full rank let M(q)=(m−2q)lambda_{q+1}²−2T(q). Then M(q+1)−M(q)=(m−2q−2)(lambda_{q+2}²−lambda_{q+1}²)≤0 on the feasible adjacent grid. This gives a single-crossing marginal sign, with possible ties. For step eigenvalues 1 through k and eta thereafter, 0&lt;eta&lt;1, the pre-knee sign is m−2k−2(d−k)eta² and the post-knee sign is eta²(m−2d). Thus 2k+2(d−k)eta²&lt;m&lt;2d gives a unique feasible ideal knee k. At eta=0 post-knee zero risk can form a plateau.</a:t>
            </a:r>
          </a:p>
          <a:p xmlns:a="http://schemas.openxmlformats.org/drawingml/2006/main">
            <a:r>
              <a:t/>
            </a:r>
          </a:p>
          <a:p xmlns:a="http://schemas.openxmlformats.org/drawingml/2006/main">
            <a:r>
              <a:t>IF ASKED</a:t>
            </a:r>
          </a:p>
          <a:p xmlns:a="http://schemas.openxmlformats.org/drawingml/2006/main">
            <a:r>
              <a:t>Does rank-aware T(r) solve capture? No. It corrects the denominator and available dimension but still assumes the best r eigenvectors were captured.</a:t>
            </a:r>
          </a:p>
          <a:p xmlns:a="http://schemas.openxmlformats.org/drawingml/2006/main">
            <a:r>
              <a:t/>
            </a:r>
          </a:p>
          <a:p xmlns:a="http://schemas.openxmlformats.org/drawingml/2006/main">
            <a:r>
              <a:t>NEXT</a:t>
            </a:r>
          </a:p>
          <a:p xmlns:a="http://schemas.openxmlformats.org/drawingml/2006/main">
            <a:r>
              <a:t>The next identity exposes the capture contribution directly.</a:t>
            </a:r>
          </a:p>
          <a:p xmlns:a="http://schemas.openxmlformats.org/drawingml/2006/main">
            <a:r>
              <a:t/>
            </a:r>
          </a:p>
          <a:p xmlns:a="http://schemas.openxmlformats.org/drawingml/2006/main">
            <a:r>
              <a:t>Sources: reports/latex/adaptive_hutchpp_20260919/sections/allocation.tex, T4 and cor:ideal.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T5. This identity explains leakage and provides a stable way to compute tiny residual energy for the structured step family.</a:t>
            </a:r>
          </a:p>
          <a:p xmlns:a="http://schemas.openxmlformats.org/drawingml/2006/main">
            <a:r>
              <a:t/>
            </a:r>
          </a:p>
          <a:p xmlns:a="http://schemas.openxmlformats.org/drawingml/2006/main">
            <a:r>
              <a:t>SAY</a:t>
            </a:r>
          </a:p>
          <a:p xmlns:a="http://schemas.openxmlformats.org/drawingml/2006/main">
            <a:r>
              <a:t>The residual has a small isotropic-tail part and a remaining dominant-subspace part. The formula sums their nonnegative energy contributions instead of subtracting large quantities.</a:t>
            </a:r>
          </a:p>
          <a:p xmlns:a="http://schemas.openxmlformats.org/drawingml/2006/main">
            <a:r>
              <a:t/>
            </a:r>
          </a:p>
          <a:p xmlns:a="http://schemas.openxmlformats.org/drawingml/2006/main">
            <a:r>
              <a:t>REASON / SHORT PROOF</a:t>
            </a:r>
          </a:p>
          <a:p xmlns:a="http://schemas.openxmlformats.org/drawingml/2006/main">
            <a:r>
              <a:t>Let U have orthonormal columns, A=eta I+(1−eta)UUᵀ, 0≤eta&lt;1, Q orthonormal of rank r, R=I−QQᵀ, Z=RU. Then H=RAR=eta R+(1−eta)ZZᵀ. Expand ||H||_F². Since R is a projector, ||R||_F²=tr(R)=d−r. Since RZ=Z, the cross inner product tr(RZZᵀ)=||Z||_F². Finally ||ZZᵀ||_F²=tr(ZᵀZZᵀZ)=||ZᵀZ||_F². This yields the three displayed terms. All coefficients are nonnegative. Positive eta leaves a genuine tail even when it is tiny. The frozen eta=0 exact-zero policy additionally checks capture/backward residual; it is not applied to positive tails.</a:t>
            </a:r>
          </a:p>
          <a:p xmlns:a="http://schemas.openxmlformats.org/drawingml/2006/main">
            <a:r>
              <a:t/>
            </a:r>
          </a:p>
          <a:p xmlns:a="http://schemas.openxmlformats.org/drawingml/2006/main">
            <a:r>
              <a:t>IF ASKED</a:t>
            </a:r>
          </a:p>
          <a:p xmlns:a="http://schemas.openxmlformats.org/drawingml/2006/main">
            <a:r>
              <a:t>Does the formula itself prove a large capture error? No. It converts measured or bounded Z into energy. The graph lemma relates Z to the particular sketch geometry.</a:t>
            </a:r>
          </a:p>
          <a:p xmlns:a="http://schemas.openxmlformats.org/drawingml/2006/main">
            <a:r>
              <a:t/>
            </a:r>
          </a:p>
          <a:p xmlns:a="http://schemas.openxmlformats.org/drawingml/2006/main">
            <a:r>
              <a:t>NEXT</a:t>
            </a:r>
          </a:p>
          <a:p xmlns:a="http://schemas.openxmlformats.org/drawingml/2006/main">
            <a:r>
              <a:t>Use the next backup to relate sketch conditioning to the angle error.</a:t>
            </a:r>
          </a:p>
          <a:p xmlns:a="http://schemas.openxmlformats.org/drawingml/2006/main">
            <a:r>
              <a:t/>
            </a:r>
          </a:p>
          <a:p xmlns:a="http://schemas.openxmlformats.org/drawingml/2006/main">
            <a:r>
              <a:t>Sources: reports/latex/adaptive_hutchpp_20260919/sections/capture.tex, T5.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T5b. The exact graph identity applies at q=k with an invertible dominant sketch block. Oversampling changes the statement.</a:t>
            </a:r>
          </a:p>
          <a:p xmlns:a="http://schemas.openxmlformats.org/drawingml/2006/main">
            <a:r>
              <a:t/>
            </a:r>
          </a:p>
          <a:p xmlns:a="http://schemas.openxmlformats.org/drawingml/2006/main">
            <a:r>
              <a:t>SAY</a:t>
            </a:r>
          </a:p>
          <a:p xmlns:a="http://schemas.openxmlformats.org/drawingml/2006/main">
            <a:r>
              <a:t>At the square boundary, all k sampled signal directions must work together. A small singular value can amplify even a tiny tail. This is a mechanism with exact linear algebra behind it, but not a universal one-column cure.</a:t>
            </a:r>
          </a:p>
          <a:p xmlns:a="http://schemas.openxmlformats.org/drawingml/2006/main">
            <a:r>
              <a:t/>
            </a:r>
          </a:p>
          <a:p xmlns:a="http://schemas.openxmlformats.org/drawingml/2006/main">
            <a:r>
              <a:t>REASON / SHORT PROOF</a:t>
            </a:r>
          </a:p>
          <a:p xmlns:a="http://schemas.openxmlformats.org/drawingml/2006/main">
            <a:r>
              <a:t>Complete U_1 to orthogonal [U_1,U_2]. In these coordinates AS is [S_1; eta S_2]. Right-multiply by invertible S_1^{-1}, preserving its range, to obtain [I;F] with F=eta S_2 S_1^{-1}. An orthonormal graph basis is [I;F](I+FᵀF)^{-1/2}. Its overlap singular values with the signal space are (1+sigma_i(F)²)^{-1/2}, the principal-angle cosines. The largest sine therefore equals ||F||_2/sqrt(1+||F||_2²). For q&gt;k and S_1 full row rank, multiplying by S_1 dagger constructs a graph contained in range(AS). Extra directions can improve capture, so this supplies a bound rather than the square equality for the whole range. Along a nested path, adding column v changes S_1S_1ᵀ to S_1S_1ᵀ+vvᵀ. Its smallest eigenvalue cannot decrease. The full-row-rank pseudoinverse norm cannot increase, but improvement need not be strict or sufficient.</a:t>
            </a:r>
          </a:p>
          <a:p xmlns:a="http://schemas.openxmlformats.org/drawingml/2006/main">
            <a:r>
              <a:t/>
            </a:r>
          </a:p>
          <a:p xmlns:a="http://schemas.openxmlformats.org/drawingml/2006/main">
            <a:r>
              <a:t>IF ASKED</a:t>
            </a:r>
          </a:p>
          <a:p xmlns:a="http://schemas.openxmlformats.org/drawingml/2006/main">
            <a:r>
              <a:t>Can we use iid Gaussian inverse-tail formulas here? Not without proving matching assumptions. U_1ᵀS from a coordinate-Rademacher sketch is generally neither iid Gaussian nor iid Rademacher.</a:t>
            </a:r>
          </a:p>
          <a:p xmlns:a="http://schemas.openxmlformats.org/drawingml/2006/main">
            <a:r>
              <a:t/>
            </a:r>
          </a:p>
          <a:p xmlns:a="http://schemas.openxmlformats.org/drawingml/2006/main">
            <a:r>
              <a:t>NEXT</a:t>
            </a:r>
          </a:p>
          <a:p xmlns:a="http://schemas.openxmlformats.org/drawingml/2006/main">
            <a:r>
              <a:t>A different example shows exact missing signal rank even with positive oversampling.</a:t>
            </a:r>
          </a:p>
          <a:p xmlns:a="http://schemas.openxmlformats.org/drawingml/2006/main">
            <a:r>
              <a:t/>
            </a:r>
          </a:p>
          <a:p xmlns:a="http://schemas.openxmlformats.org/drawingml/2006/main">
            <a:r>
              <a:t>Sources: reports/latex/adaptive_hutchpp_20260919/sections/capture.tex, T5b; q_rank_vs_realized_risk_mechanism.md.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T6 and empirical finding E5. This mechanism differs from invertible-but-poorly-conditioned square capture: the signal sketch has exact rank loss even though the whole sampled basis does not.</a:t>
            </a:r>
          </a:p>
          <a:p xmlns:a="http://schemas.openxmlformats.org/drawingml/2006/main">
            <a:r>
              <a:t/>
            </a:r>
          </a:p>
          <a:p xmlns:a="http://schemas.openxmlformats.org/drawingml/2006/main">
            <a:r>
              <a:t>SAY</a:t>
            </a:r>
          </a:p>
          <a:p xmlns:a="http://schemas.openxmlformats.org/drawingml/2006/main">
            <a:r>
              <a:t>In the coordinate example, the third and fourth signal rows are exact negatives. Their sum vanishes in every sampled column, so the signal direction w cannot be observed through this pilot. The small spectral tail still provides enough directions for the full basis to have rank eight. An excellent visible Ritz gap can therefore be incomplete.</a:t>
            </a:r>
          </a:p>
          <a:p xmlns:a="http://schemas.openxmlformats.org/drawingml/2006/main">
            <a:r>
              <a:t/>
            </a:r>
          </a:p>
          <a:p xmlns:a="http://schemas.openxmlformats.org/drawingml/2006/main">
            <a:r>
              <a:t>REASON / SHORT PROOF</a:t>
            </a:r>
          </a:p>
          <a:p xmlns:a="http://schemas.openxmlformats.org/drawingml/2006/main">
            <a:r>
              <a:t>Assume A symmetric, ||w||=1, Aw=w, and Sᵀw=0. Then (AS)ᵀw=SᵀAw=0, so any Q spanning AS has Qᵀw=0. Hence Rw=w and RARw=w. In the PSD step model A_prime=A−(1−eta)wwᵀ lowers only this unit eigenvalue to eta. Because wᵀS=wᵀQ=0, A_prime S=AS and A_prime Q=AQ. The two matrices are indistinguishable on this transcript. This is a local witness whose alternative may depend on the realized sketch, not a universal probabilistic impossibility theorem. In the recovered experiment d=100,m=60,k=5,eta=.001, trial 7 has signal rank four and accepted rank eight. Its risk is .02272744518 and contributes 99.9948% of total conditional risk in ten coordinate paths. Its observed squared error .03303752 is about 1.45364 times its conditional risk. The pilot contrast about 69077 would not be rejected by the later threshold five.</a:t>
            </a:r>
          </a:p>
          <a:p xmlns:a="http://schemas.openxmlformats.org/drawingml/2006/main">
            <a:r>
              <a:t/>
            </a:r>
          </a:p>
          <a:p xmlns:a="http://schemas.openxmlformats.org/drawingml/2006/main">
            <a:r>
              <a:t>IF ASKED</a:t>
            </a:r>
          </a:p>
          <a:p xmlns:a="http://schemas.openxmlformats.org/drawingml/2006/main">
            <a:r>
              <a:t>What did rotation show? Over 300 Haar-oriented paths, observed gated/Standard MSE ratio was .169740; in ten coordinate paths it was 4582.446. These are unequal finite populations, not a rotation-invariance claim. The Gaussian-sketch comparator still used Rademacher final probes and a different q.</a:t>
            </a:r>
          </a:p>
          <a:p xmlns:a="http://schemas.openxmlformats.org/drawingml/2006/main">
            <a:r>
              <a:t/>
            </a:r>
          </a:p>
          <a:p xmlns:a="http://schemas.openxmlformats.org/drawingml/2006/main">
            <a:r>
              <a:t>NEXT</a:t>
            </a:r>
          </a:p>
          <a:p xmlns:a="http://schemas.openxmlformats.org/drawingml/2006/main">
            <a:r>
              <a:t>The direct-risk approach tries to see the risk left by this actual basis rather than infer completeness from its visible gap.</a:t>
            </a:r>
          </a:p>
          <a:p xmlns:a="http://schemas.openxmlformats.org/drawingml/2006/main">
            <a:r>
              <a:t/>
            </a:r>
          </a:p>
          <a:p xmlns:a="http://schemas.openxmlformats.org/drawingml/2006/main">
            <a:r>
              <a:t>Sources: reports/latex/adaptive_hutchpp_20260919/sections/capture.tex, T6; experiments.tex, E5; reports/coordinate_gate_failure_audit_20260916.md.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T7. The sample variance is an order-two U-statistic with both a linear and a canonical component.</a:t>
            </a:r>
          </a:p>
          <a:p xmlns:a="http://schemas.openxmlformats.org/drawingml/2006/main">
            <a:r>
              <a:t/>
            </a:r>
          </a:p>
          <a:p xmlns:a="http://schemas.openxmlformats.org/drawingml/2006/main">
            <a:r>
              <a:t>SAY</a:t>
            </a:r>
          </a:p>
          <a:p xmlns:a="http://schemas.openxmlformats.org/drawingml/2006/main">
            <a:r>
              <a:t>The expectation identity is simple, but confidence needs the fluctuation of sample variance. Its exact variance depends on the fourth central moment. Its Hoeffding decomposition also explains why a theorem for degenerate U-statistics cannot be applied to the full statistic directly.</a:t>
            </a:r>
          </a:p>
          <a:p xmlns:a="http://schemas.openxmlformats.org/drawingml/2006/main">
            <a:r>
              <a:t/>
            </a:r>
          </a:p>
          <a:p xmlns:a="http://schemas.openxmlformats.org/drawingml/2006/main">
            <a:r>
              <a:t>REASON / SHORT PROOF</a:t>
            </a:r>
          </a:p>
          <a:p xmlns:a="http://schemas.openxmlformats.org/drawingml/2006/main">
            <a:r>
              <a:t>Let Z_i=X_i−mu, M=sum Z_i², L=sum Z_i. Then sigma_hat²=(M−L²/s)/(s−1). Independence and centering give EM=s sigma², EL²=s sigma², EM²=s mu4+s(s−1)sigma4, EL4=s mu4+3s(s−1)sigma4, and E(ML²)=EM². Substitute to obtain E sigma_hat²=sigma² and E(sigma_hat²)²=mu4/s+(s²−2s+3)sigma4/[s(s−1)]. Subtract sigma4 for the displayed variance. The identity sum_{i&lt;j}(X_i−X_j)²=s sum_i(X_i−Xbar)² gives sigma_hat²=binom(s,2)^{-1} sum h(X_i,X_j), h=(x−y)²/2. Compute h1(x)=E[h(x,X_prime)]−sigma² and subtract sigma²+h1(x)+h1(y) from h to get h2. Thus sigma_hat²−sigma²=(2/s)sum h1+(1/binom(s,2))sum h2. E[h2(X,X_prime)|X]=0. For sigma²=0 the observations and sample variance are deterministic; do not normalize by zero.</a:t>
            </a:r>
          </a:p>
          <a:p xmlns:a="http://schemas.openxmlformats.org/drawingml/2006/main">
            <a:r>
              <a:t/>
            </a:r>
          </a:p>
          <a:p xmlns:a="http://schemas.openxmlformats.org/drawingml/2006/main">
            <a:r>
              <a:t>IF ASKED</a:t>
            </a:r>
          </a:p>
          <a:p xmlns:a="http://schemas.openxmlformats.org/drawingml/2006/main">
            <a:r>
              <a:t>Is h1 always nonzero? No. Special distributions can make it vanish. The point is that it is generally nondegenerate, so it needs control unless a special property is proved.</a:t>
            </a:r>
          </a:p>
          <a:p xmlns:a="http://schemas.openxmlformats.org/drawingml/2006/main">
            <a:r>
              <a:t/>
            </a:r>
          </a:p>
          <a:p xmlns:a="http://schemas.openxmlformats.org/drawingml/2006/main">
            <a:r>
              <a:t>NEXT</a:t>
            </a:r>
          </a:p>
          <a:p xmlns:a="http://schemas.openxmlformats.org/drawingml/2006/main">
            <a:r>
              <a:t>Subtracting two such sample variances gives the paired risk-difference statistic.</a:t>
            </a:r>
          </a:p>
          <a:p xmlns:a="http://schemas.openxmlformats.org/drawingml/2006/main">
            <a:r>
              <a:t/>
            </a:r>
          </a:p>
          <a:p xmlns:a="http://schemas.openxmlformats.org/drawingml/2006/main">
            <a:r>
              <a:t>Sources: reports/latex/adaptive_hutchpp_20260919/sections/certification.tex, T7.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 T8 and empirical finding E4. Common probes preserve unbiasedness and introduce covariance that can cancel comparison noise.</a:t>
            </a:r>
          </a:p>
          <a:p xmlns:a="http://schemas.openxmlformats.org/drawingml/2006/main">
            <a:r>
              <a:t/>
            </a:r>
          </a:p>
          <a:p xmlns:a="http://schemas.openxmlformats.org/drawingml/2006/main">
            <a:r>
              <a:t>SAY</a:t>
            </a:r>
          </a:p>
          <a:p xmlns:a="http://schemas.openxmlformats.org/drawingml/2006/main">
            <a:r>
              <a:t>The paired statistic estimates the risk difference directly. We found substantial cancellation on average, but much less on catastrophic paths. That limitation matters because those paths dominate the mean risk.</a:t>
            </a:r>
          </a:p>
          <a:p xmlns:a="http://schemas.openxmlformats.org/drawingml/2006/main">
            <a:r>
              <a:t/>
            </a:r>
          </a:p>
          <a:p xmlns:a="http://schemas.openxmlformats.org/drawingml/2006/main">
            <a:r>
              <a:t>REASON / SHORT PROOF</a:t>
            </a:r>
          </a:p>
          <a:p xmlns:a="http://schemas.openxmlformats.org/drawingml/2006/main">
            <a:r>
              <a:t>For fixed positive ell_a,ell_0 and frozen actions, apply sample-variance unbiasedness to each and subtract: E[Delta_hat]=sigma_a²/ell_a−sigma_0²/ell_0. The paired U-statistic kernel is (X_a−X_a_prime)²/(2ell_a)−(X_0−X_0_prime)²/(2ell_0), using common probe pairs. Independence between actions is not required. Expand the centered square to get Var(Y_a−Y_0)=VarY_a+VarY_0−2Cov(Y_a,Y_0). Independent observations with matching marginals have variance Vind=VarY_a+VarY_0, which remains the mathematical benchmark. Across the frozen rank-balanced population, empirical paired/independent ratio was .151032, interval [.137069,.166735]. Ordinary-path descriptive mean ratio was .111635, versus .899565 for top-5% catastrophic paths. The plotted percentages are these subgroup point summaries. The observed benchmark itself uses estimated marginal variances.</a:t>
            </a:r>
          </a:p>
          <a:p xmlns:a="http://schemas.openxmlformats.org/drawingml/2006/main">
            <a:r>
              <a:t/>
            </a:r>
          </a:p>
          <a:p xmlns:a="http://schemas.openxmlformats.org/drawingml/2006/main">
            <a:r>
              <a:t>IF ASKED</a:t>
            </a:r>
          </a:p>
          <a:p xmlns:a="http://schemas.openxmlformats.org/drawingml/2006/main">
            <a:r>
              <a:t>Is a cyclic shift of the same fifty repetitions independent? No. It is a shifted/decorrelated comparator. Do not use it to justify independence or silently change Vind.</a:t>
            </a:r>
          </a:p>
          <a:p xmlns:a="http://schemas.openxmlformats.org/drawingml/2006/main">
            <a:r>
              <a:t/>
            </a:r>
          </a:p>
          <a:p xmlns:a="http://schemas.openxmlformats.org/drawingml/2006/main">
            <a:r>
              <a:t>NEXT</a:t>
            </a:r>
          </a:p>
          <a:p xmlns:a="http://schemas.openxmlformats.org/drawingml/2006/main">
            <a:r>
              <a:t>A paired estimate still needs a one-sided confidence radius before it can justify acceptance.</a:t>
            </a:r>
          </a:p>
          <a:p xmlns:a="http://schemas.openxmlformats.org/drawingml/2006/main">
            <a:r>
              <a:t/>
            </a:r>
          </a:p>
          <a:p xmlns:a="http://schemas.openxmlformats.org/drawingml/2006/main">
            <a:r>
              <a:t>Sources: reports/latex/adaptive_hutchpp_20260919/sections/certification.tex, T8; experiments.tex, E4; reports/paired_rademacher_risk_difference_phase2a.md.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T9 and T10. Simultaneous confidence protects a selected action on a joint event. The complete policy additionally needs a feasible and correctly costed fallback.</a:t>
            </a:r>
          </a:p>
          <a:p xmlns:a="http://schemas.openxmlformats.org/drawingml/2006/main">
            <a:r>
              <a:t/>
            </a:r>
          </a:p>
          <a:p xmlns:a="http://schemas.openxmlformats.org/drawingml/2006/main">
            <a:r>
              <a:t>SAY</a:t>
            </a:r>
          </a:p>
          <a:p xmlns:a="http://schemas.openxmlformats.org/drawingml/2006/main">
            <a:r>
              <a:t>The acceptance proof is a short inequality chain. The caveat is the definition of baseline risk. If certification costs have already been paid, fallback does not have the original denominator.</a:t>
            </a:r>
          </a:p>
          <a:p xmlns:a="http://schemas.openxmlformats.org/drawingml/2006/main">
            <a:r>
              <a:t/>
            </a:r>
          </a:p>
          <a:p xmlns:a="http://schemas.openxmlformats.org/drawingml/2006/main">
            <a:r>
              <a:t>REASON / SHORT PROOF</a:t>
            </a:r>
          </a:p>
          <a:p xmlns:a="http://schemas.openxmlformats.org/drawingml/2006/main">
            <a:r>
              <a:t>Assume a fixed finite pre-certification set with simultaneous bounds L_x≤R_x≤U_x on E and P(E)≥1−delta_joint. A measurable selected action satisfying U_a≤L_0 obeys R_a≤U_a≤L_0≤R_0 on E. An unchanged feasible baseline gives equality if its risk is genuinely the baseline enclosed by those bounds. Stagewise union bounds work when allocated failures sum to delta_joint. For an original construction count c0 and paid c_pre,s, compare ell0=m−c0 with ellpaid=m−c_pre−s. If 0&lt;ellpaid&lt;ell0 and sigma0²&gt;0, sigma0²/ellpaid&gt;sigma0²/ell0. Thus abstention does not restore original-baseline safety. Directed variance bounds need candidate lower-deviation epsilon_a&lt;1 and baseline upper-deviation epsilon0 finite nonnegative. Accept net safely when sigma_hat_a²≤[(1−epsilon_a)/(1+epsilon0)](ellpaid/ell0)sigma_hat_0². This is conditional on a valid joint event and does not certify fallback.</a:t>
            </a:r>
          </a:p>
          <a:p xmlns:a="http://schemas.openxmlformats.org/drawingml/2006/main">
            <a:r>
              <a:t/>
            </a:r>
          </a:p>
          <a:p xmlns:a="http://schemas.openxmlformats.org/drawingml/2006/main">
            <a:r>
              <a:t>IF ASKED</a:t>
            </a:r>
          </a:p>
          <a:p xmlns:a="http://schemas.openxmlformats.org/drawingml/2006/main">
            <a:r>
              <a:t>Can joint failure probability be reported as failure conditional on acceptance? Not automatically. Conditioning on a rare acceptance event can change the error probability. Keep the unconditional joint-event statement.</a:t>
            </a:r>
          </a:p>
          <a:p xmlns:a="http://schemas.openxmlformats.org/drawingml/2006/main">
            <a:r>
              <a:t/>
            </a:r>
          </a:p>
          <a:p xmlns:a="http://schemas.openxmlformats.org/drawingml/2006/main">
            <a:r>
              <a:t>NEXT</a:t>
            </a:r>
          </a:p>
          <a:p xmlns:a="http://schemas.openxmlformats.org/drawingml/2006/main">
            <a:r>
              <a:t>The next backup shows why the explicit small-s confidence constructions did not yet provide a useful event.</a:t>
            </a:r>
          </a:p>
          <a:p xmlns:a="http://schemas.openxmlformats.org/drawingml/2006/main">
            <a:r>
              <a:t/>
            </a:r>
          </a:p>
          <a:p xmlns:a="http://schemas.openxmlformats.org/drawingml/2006/main">
            <a:r>
              <a:t>Sources: reports/latex/adaptive_hutchpp_20260919/sections/certification.tex, T9–T10.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T11 and T12. These are analytical negative results for two specified bounds, not impossibility results for all confidence procedures.</a:t>
            </a:r>
          </a:p>
          <a:p xmlns:a="http://schemas.openxmlformats.org/drawingml/2006/main">
            <a:r>
              <a:t/>
            </a:r>
          </a:p>
          <a:p xmlns:a="http://schemas.openxmlformats.org/drawingml/2006/main">
            <a:r>
              <a:t>SAY</a:t>
            </a:r>
          </a:p>
          <a:p xmlns:a="http://schemas.openxmlformats.org/drawingml/2006/main">
            <a:r>
              <a:t>Both calculations show that the numerical constants in an otherwise valid probability argument are too large for our small probe budget. The truncation result is particularly easy to misstate: the floor applies to the proposed upper bound, not actual failure probability.</a:t>
            </a:r>
          </a:p>
          <a:p xmlns:a="http://schemas.openxmlformats.org/drawingml/2006/main">
            <a:r>
              <a:t/>
            </a:r>
          </a:p>
          <a:p xmlns:a="http://schemas.openxmlformats.org/drawingml/2006/main">
            <a:r>
              <a:t>REASON / SHORT PROOF</a:t>
            </a:r>
          </a:p>
          <a:p xmlns:a="http://schemas.openxmlformats.org/drawingml/2006/main">
            <a:r>
              <a:t>If mu4≤K sigma4, the sample-variance identity bounds relative variance by [K−1+2/(s−1)]/s. Chebyshev at relative radius epsilon and per-action failure delta_joint/2 yields epsilon=sqrt(2[K−1+2/(s−1)]/(s delta_joint)). A union bound covers both actions regardless of pairing. With K=81, s=32, delta_joint=.05 this is 10.00403. Both (K−1)/s and 2/[s(s−1)] decrease with s, so all smaller s are also above one. K=15 improves the value to 4.192928 but remains above one. For the frozen truncation family T≥64, nu=min{81,T²/4,81−max(0,1−beta)²} lies in [80,81]. For an admissible multiplicative lower-tail deviation x=epsilon−beta with 0&lt;epsilon&lt;1, 0&lt;x&lt;1. The positive magnitude of s x²/[2(nu+x/3)] is strictly below s/160. Hence the proposed bound exp[−s x²/(2(nu+x/3))]&gt;exp(−s/160)≥exp(−.2)=.81873 for s≤32. Even the most permissive declared component failure budget .05 is smaller. If beta≥epsilon the cap is inadmissible.</a:t>
            </a:r>
          </a:p>
          <a:p xmlns:a="http://schemas.openxmlformats.org/drawingml/2006/main">
            <a:r>
              <a:t/>
            </a:r>
          </a:p>
          <a:p xmlns:a="http://schemas.openxmlformats.org/drawingml/2006/main">
            <a:r>
              <a:t>IF ASKED</a:t>
            </a:r>
          </a:p>
          <a:p xmlns:a="http://schemas.openxmlformats.org/drawingml/2006/main">
            <a:r>
              <a:t>What does the imported chaos tail supply? A large-deviation bound for the centered quadratic form. The frozen truncation argument then tries to control the squared form. Its failure does not exclude another small-ball or direct-difference argument.</a:t>
            </a:r>
          </a:p>
          <a:p xmlns:a="http://schemas.openxmlformats.org/drawingml/2006/main">
            <a:r>
              <a:t/>
            </a:r>
          </a:p>
          <a:p xmlns:a="http://schemas.openxmlformats.org/drawingml/2006/main">
            <a:r>
              <a:t>NEXT</a:t>
            </a:r>
          </a:p>
          <a:p xmlns:a="http://schemas.openxmlformats.org/drawingml/2006/main">
            <a:r>
              <a:t>A valid structural prior provides a different conditional theorem, although usefulness remains unresolved.</a:t>
            </a:r>
          </a:p>
          <a:p xmlns:a="http://schemas.openxmlformats.org/drawingml/2006/main">
            <a:r>
              <a:t/>
            </a:r>
          </a:p>
          <a:p xmlns:a="http://schemas.openxmlformats.org/drawingml/2006/main">
            <a:r>
              <a:t>Sources: reports/latex/adaptive_hutchpp_20260919/sections/confidence.tex, T11–T12. Imported concentration sources and normalization are documented in that manuscript; no stronger imported theorem is asserted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Formal results T13, T14, and T15. These are distinct conditional or route-specific refinements. Do not apply a degree-two moment factor to a degree-four paired statistic.</a:t>
            </a:r>
          </a:p>
          <a:p xmlns:a="http://schemas.openxmlformats.org/drawingml/2006/main">
            <a:r>
              <a:t/>
            </a:r>
          </a:p>
          <a:p xmlns:a="http://schemas.openxmlformats.org/drawingml/2006/main">
            <a:r>
              <a:t>SAY</a:t>
            </a:r>
          </a:p>
          <a:p xmlns:a="http://schemas.openxmlformats.org/drawingml/2006/main">
            <a:r>
              <a:t>We do have a finite paired confidence theorem under a valid residual-norm prior. We also improved the quadratic fourth-moment calculation. Neither resolves the practical small-budget question automatically. The scale-estimation boundary illustrates a further cost of trying to learn an unknown variance.</a:t>
            </a:r>
          </a:p>
          <a:p xmlns:a="http://schemas.openxmlformats.org/drawingml/2006/main">
            <a:r>
              <a:t/>
            </a:r>
          </a:p>
          <a:p xmlns:a="http://schemas.openxmlformats.org/drawingml/2006/main">
            <a:r>
              <a:t>REASON / SHORT PROOF</a:t>
            </a:r>
          </a:p>
          <a:p xmlns:a="http://schemas.openxmlformats.org/drawingml/2006/main">
            <a:r>
              <a:t>T13: condition on fixed actions, positive denominators, nesting R_aR_0=R_a, and a finite valid bound ||H0||_F≤M0. Then H_a=R_aH0R_a and sigma_x²≤2M0². For W=(X1−X2)²/2, independent centered expansion gives VarW=(mu4+sigma4)/2≤41sigma4 using K=81. The L2 triangle inequality bounds VarD_j≤41(sigma_a²/ell_a+sigma0²/ell0)²≤vbar=164M0^4(1/ell_a+1/ell0)². With n independent pairs, VarDbar≤vbar/n. Cantelli applied to Delta−Dbar gives the stated upper radius. If M0=0, both risks vanish deterministically. A probabilistic norm prior needs its failure probability added. T14: for nonzero symmetric zero-diagonal C, Z=gᵀCg and sigma²=2||C||_F², even-degree edge counting gives EZ4=3sigma4+48tr(C4)−96sum_i[(C²)_ii]²+32sum_ij C_ij4. The last positive sum is at most sum_i[(C²)_ii]²; drop their combined nonpositive correction. Since tr(C4)≤||C||_2²||C||_F², the normalized factor is at most 3+12kappa²≤15. Edge multiplicities 1,6,24 give the coefficients; these are degree-two, not degree-four, bounds. T15: with scalar kurtosis bound K, the Chebyshev relative scale radius is below one exactly when delta_scale n(n−1)&gt;(K−1)(n−1)+2. At K=3 and delta_scale=.05, n=41 gives equality 82=82, while n=42 gives 86.1&gt;84. Thus the first feasible integer is 42, or 84 probes if each observation costs a pair. Assuming K=3 for an arbitrary signed pair would require a separate proof.</a:t>
            </a:r>
          </a:p>
          <a:p xmlns:a="http://schemas.openxmlformats.org/drawingml/2006/main">
            <a:r>
              <a:t/>
            </a:r>
          </a:p>
          <a:p xmlns:a="http://schemas.openxmlformats.org/drawingml/2006/main">
            <a:r>
              <a:t>IF ASKED</a:t>
            </a:r>
          </a:p>
          <a:p xmlns:a="http://schemas.openxmlformats.org/drawingml/2006/main">
            <a:r>
              <a:t>Does this prove an external norm prior is necessary? No. It gives one sufficient conditional route and diagnoses another route. Existence of a different useful data-driven certificate remains open.</a:t>
            </a:r>
          </a:p>
          <a:p xmlns:a="http://schemas.openxmlformats.org/drawingml/2006/main">
            <a:r>
              <a:t/>
            </a:r>
          </a:p>
          <a:p xmlns:a="http://schemas.openxmlformats.org/drawingml/2006/main">
            <a:r>
              <a:t>NEXT</a:t>
            </a:r>
          </a:p>
          <a:p xmlns:a="http://schemas.openxmlformats.org/drawingml/2006/main">
            <a:r>
              <a:t>The final backup records the empirical populations and supporting findings without turning exploratory gains into guarantees.</a:t>
            </a:r>
          </a:p>
          <a:p xmlns:a="http://schemas.openxmlformats.org/drawingml/2006/main">
            <a:r>
              <a:t/>
            </a:r>
          </a:p>
          <a:p xmlns:a="http://schemas.openxmlformats.org/drawingml/2006/main">
            <a:r>
              <a:t>Sources: reports/latex/adaptive_hutchpp_20260919/sections/confidence.tex, T13; technical.tex, T14–T15; 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UNDERSTAND</a:t>
            </a:r>
          </a:p>
          <a:p xmlns:a="http://schemas.openxmlformats.org/drawingml/2006/main">
            <a:r>
              <a:t>This backup preserves the full paid-path distribution and empirical-population details. It also records the exploratory operator results so they are not confused with the main controlled evidence.</a:t>
            </a:r>
          </a:p>
          <a:p xmlns:a="http://schemas.openxmlformats.org/drawingml/2006/main">
            <a:r>
              <a:t/>
            </a:r>
          </a:p>
          <a:p xmlns:a="http://schemas.openxmlformats.org/drawingml/2006/main">
            <a:r>
              <a:t>SAY</a:t>
            </a:r>
          </a:p>
          <a:p xmlns:a="http://schemas.openxmlformats.org/drawingml/2006/main">
            <a:r>
              <a:t>The full curve contains all six hundred paths. Most are just to the right of equal risk, meaning they pay overhead without enough benefit. A few far to the left improve enormously. This explains why a favorable ratio of mean risks can coexist with a harmed majority. Our other gains are useful context but remain exploratory and do not override the capture counterexample.</a:t>
            </a:r>
          </a:p>
          <a:p xmlns:a="http://schemas.openxmlformats.org/drawingml/2006/main">
            <a:r>
              <a:t/>
            </a:r>
          </a:p>
          <a:p xmlns:a="http://schemas.openxmlformats.org/drawingml/2006/main">
            <a:r>
              <a:t>REASON / SHORT PROOF</a:t>
            </a:r>
          </a:p>
          <a:p xmlns:a="http://schemas.openxmlformats.org/drawingml/2006/main">
            <a:r>
              <a:t>E3: 575/600 paid paths have ratio above one; pooled median is 1.160714. Equal-rank average of within-rank mean-risk ratios is .036329 with 95% interval [.014628,.639830]. Those are different estimands. E1 population: d500, k5/15/30, eta0/1e−14/1e−10/1e−6, m80/160/240, 200 paths per setup, nested coordinate-Rademacher S, QR rtol1e−12,atol0. At eta1e−6 all138600 allocation rows have r=q. E2:200 paths per rank,2 tail levels,4 batches×50 repeated certifications, nested s4/8/16/32. Probes pair actions, budgets, estimators and eta. Sample variance false rejection .5157% [.2991%,.7722%]; benign eta1e−10 false-safe .0008% [0,.0025%]. The two MoM false-safe rates4.6971% and1.5478% exceeded sample variance .0134%; paired mean was an ablation. MoM block sizes at s16 are eight one-pair blocks or four two-pair blocks; they are not generally unbiased. Bootstrap uses10000 eligible-path rank-stratified resamples for conditional rates. E4 pairing evidence is in backup8. E5 coordinate evidence is in backup6. E6 exploratory synthetic Hessian:4254-parameter network,10 outputs but labels0/1,reference trace31.581270 from4254 external reference products. At budgets30/60/90/120, Standard MSEs5.858498/1.417330/1.006494/.457086 and gated MSEs5.334005/.841176/.570674/.370210. There were30 trials per method/budget,480 across four methods. The Hessian need not be PSD, and this is not broad ML or timing evidence. The23-configuration gate-development grid reuses tuning data. The later contrast filter was absent from recovered Haar/Hessian experiments, so their gains do not validate it. Historical YearPredictionMSD/Wiki-Vote claims remain un-revalidated and are not central evidence.</a:t>
            </a:r>
          </a:p>
          <a:p xmlns:a="http://schemas.openxmlformats.org/drawingml/2006/main">
            <a:r>
              <a:t/>
            </a:r>
          </a:p>
          <a:p xmlns:a="http://schemas.openxmlformats.org/drawingml/2006/main">
            <a:r>
              <a:t>IF ASKED</a:t>
            </a:r>
          </a:p>
          <a:p xmlns:a="http://schemas.openxmlformats.org/drawingml/2006/main">
            <a:r>
              <a:t>Is the comparator always Standard Hutch++? No. The paid certification study compares with the original adjacent baseline q=k, whereas the separate gated coordinate/Hessian studies compare with their own Standard allocations. Do not pool these studies or their denominators.</a:t>
            </a:r>
          </a:p>
          <a:p xmlns:a="http://schemas.openxmlformats.org/drawingml/2006/main">
            <a:r>
              <a:t/>
            </a:r>
          </a:p>
          <a:p xmlns:a="http://schemas.openxmlformats.org/drawingml/2006/main">
            <a:r>
              <a:t>NEXT</a:t>
            </a:r>
          </a:p>
          <a:p xmlns:a="http://schemas.openxmlformats.org/drawingml/2006/main">
            <a:r>
              <a:t>Return to the main discussion question. No new allocator is justified merely by a favorable average on one frozen study.</a:t>
            </a:r>
          </a:p>
          <a:p xmlns:a="http://schemas.openxmlformats.org/drawingml/2006/main">
            <a:r>
              <a:t/>
            </a:r>
          </a:p>
          <a:p xmlns:a="http://schemas.openxmlformats.org/drawingml/2006/main">
            <a:r>
              <a:t>Sources: reports/latex/adaptive_hutchpp_20260919/sections/experiments.tex, E1–E6; figures/urop_journal_data_20260919/figure3_path_source.csv; reports/recovery_audit_20260914.md.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badd0f71dc46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c45a78d82d4da9" /><Relationship Type="http://schemas.openxmlformats.org/officeDocument/2006/relationships/slideLayout" Target="/ppt/slideLayouts/slideLayout1.xml" Id="Rf1ff3b6bf15043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ff3b6bf15043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61a59403f64f4e" /><Relationship Type="http://schemas.openxmlformats.org/officeDocument/2006/relationships/notesSlide" Target="/ppt/notesSlides/notesSlide1.xml" Id="R8e95c3c0a87143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50a19e92214726" /><Relationship Type="http://schemas.openxmlformats.org/officeDocument/2006/relationships/notesSlide" Target="/ppt/notesSlides/notesSlide2.xml" Id="Rcce00693c0c449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44d64507a74ddc" /><Relationship Type="http://schemas.openxmlformats.org/officeDocument/2006/relationships/notesSlide" Target="/ppt/notesSlides/notesSlide3.xml" Id="R77fabbd78b4249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5698c3b8594420" /><Relationship Type="http://schemas.openxmlformats.org/officeDocument/2006/relationships/notesSlide" Target="/ppt/notesSlides/notesSlide4.xml" Id="R2dec3117689649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2b54b41f884eef" /><Relationship Type="http://schemas.openxmlformats.org/officeDocument/2006/relationships/chart" Target="/ppt/slides/charts/chart1.xml" Id="R7f410a73d12b4588" /><Relationship Type="http://schemas.openxmlformats.org/officeDocument/2006/relationships/notesSlide" Target="/ppt/notesSlides/notesSlide5.xml" Id="R6b7c50c8cd8348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9c87ecda2f4668" /><Relationship Type="http://schemas.openxmlformats.org/officeDocument/2006/relationships/chart" Target="/ppt/slides/charts/chart2.xml" Id="Rc485f45c6b53417c" /><Relationship Type="http://schemas.openxmlformats.org/officeDocument/2006/relationships/chart" Target="/ppt/slides/charts/chart3.xml" Id="Rad7eb36b5b784900" /><Relationship Type="http://schemas.openxmlformats.org/officeDocument/2006/relationships/notesSlide" Target="/ppt/notesSlides/notesSlide6.xml" Id="R90b350b8c58d4b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e144dcdbf04630" /><Relationship Type="http://schemas.openxmlformats.org/officeDocument/2006/relationships/notesSlide" Target="/ppt/notesSlides/notesSlide7.xml" Id="Rd5215ad7915e45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9eafcf95cd495e" /><Relationship Type="http://schemas.openxmlformats.org/officeDocument/2006/relationships/image" Target="/ppt/media/image.png" Id="R99a6769e8f4a4afe" /><Relationship Type="http://schemas.openxmlformats.org/officeDocument/2006/relationships/notesSlide" Target="/ppt/notesSlides/notesSlide8.xml" Id="R83506270f57349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2f51b0df3b4072" /><Relationship Type="http://schemas.openxmlformats.org/officeDocument/2006/relationships/chart" Target="/ppt/slides/charts/chart4.xml" Id="Rd1de499963244975" /><Relationship Type="http://schemas.openxmlformats.org/officeDocument/2006/relationships/notesSlide" Target="/ppt/notesSlides/notesSlide9.xml" Id="R58cc45362355415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161209a19d459c" /><Relationship Type="http://schemas.openxmlformats.org/officeDocument/2006/relationships/notesSlide" Target="/ppt/notesSlides/notesSlide10.xml" Id="Rb9f79ee30b9c44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fbd4a132af4257" /><Relationship Type="http://schemas.openxmlformats.org/officeDocument/2006/relationships/notesSlide" Target="/ppt/notesSlides/notesSlide11.xml" Id="R9df7f78ba38448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1ad1f40f1fc4401" /><Relationship Type="http://schemas.openxmlformats.org/officeDocument/2006/relationships/chart" Target="/ppt/slides/charts/chart5.xml" Id="R00aa654aa5454e88" /><Relationship Type="http://schemas.openxmlformats.org/officeDocument/2006/relationships/notesSlide" Target="/ppt/notesSlides/notesSlide12.xml" Id="R2aeda04fd81543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76476de1d54a7d" /><Relationship Type="http://schemas.openxmlformats.org/officeDocument/2006/relationships/notesSlide" Target="/ppt/notesSlides/notesSlide13.xml" Id="R5f8941c4d33e45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4e93fa6dad4bdc" /><Relationship Type="http://schemas.openxmlformats.org/officeDocument/2006/relationships/notesSlide" Target="/ppt/notesSlides/notesSlide14.xml" Id="Rcfb0427de6b84f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341b7c8fe4481c" /><Relationship Type="http://schemas.openxmlformats.org/officeDocument/2006/relationships/notesSlide" Target="/ppt/notesSlides/notesSlide15.xml" Id="Rf897a3dda7b545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ded4833764e491e" /><Relationship Type="http://schemas.openxmlformats.org/officeDocument/2006/relationships/notesSlide" Target="/ppt/notesSlides/notesSlide16.xml" Id="Rc05f48b6237b49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dc457029534e2f" /><Relationship Type="http://schemas.openxmlformats.org/officeDocument/2006/relationships/chart" Target="/ppt/slides/charts/chart6.xml" Id="Rfe6bd857f2814a7d" /><Relationship Type="http://schemas.openxmlformats.org/officeDocument/2006/relationships/notesSlide" Target="/ppt/notesSlides/notesSlide17.xml" Id="R71e352a7aa3e436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f7f2bbaa99f4af6" /><Relationship Type="http://schemas.openxmlformats.org/officeDocument/2006/relationships/notesSlide" Target="/ppt/notesSlides/notesSlide18.xml" Id="R80b713d9e8c14d0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8f32487d2cb4725" /><Relationship Type="http://schemas.openxmlformats.org/officeDocument/2006/relationships/notesSlide" Target="/ppt/notesSlides/notesSlide19.xml" Id="R8c601daf5b124f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c18e87bc9243de" /><Relationship Type="http://schemas.openxmlformats.org/officeDocument/2006/relationships/notesSlide" Target="/ppt/notesSlides/notesSlide20.xml" Id="R64b8104aeb7e404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9c6b1c87d84a29" /><Relationship Type="http://schemas.openxmlformats.org/officeDocument/2006/relationships/notesSlide" Target="/ppt/notesSlides/notesSlide21.xml" Id="Re8044491712348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55355e157241a3" /><Relationship Type="http://schemas.openxmlformats.org/officeDocument/2006/relationships/notesSlide" Target="/ppt/notesSlides/notesSlide22.xml" Id="Rd0f5a26fb068418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331badda9504c7a" /><Relationship Type="http://schemas.openxmlformats.org/officeDocument/2006/relationships/notesSlide" Target="/ppt/notesSlides/notesSlide23.xml" Id="Rb4f158e22b344f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38cc638bbc74b04" /><Relationship Type="http://schemas.openxmlformats.org/officeDocument/2006/relationships/notesSlide" Target="/ppt/notesSlides/notesSlide24.xml" Id="R2e5867d46db844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b677f82a054e7c" /><Relationship Type="http://schemas.openxmlformats.org/officeDocument/2006/relationships/notesSlide" Target="/ppt/notesSlides/notesSlide25.xml" Id="Re074fec9515f4e7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5a7ed04f98b40de" /><Relationship Type="http://schemas.openxmlformats.org/officeDocument/2006/relationships/chart" Target="/ppt/slides/charts/chart7.xml" Id="Rffc501aab82f40ec" /><Relationship Type="http://schemas.openxmlformats.org/officeDocument/2006/relationships/notesSlide" Target="/ppt/notesSlides/notesSlide26.xml" Id="R2b13d7eb83d9474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626cfe6285e4e6b" /><Relationship Type="http://schemas.openxmlformats.org/officeDocument/2006/relationships/notesSlide" Target="/ppt/notesSlides/notesSlide27.xml" Id="Rbe79be7a482147b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7a0f05ab76a4ccd" /><Relationship Type="http://schemas.openxmlformats.org/officeDocument/2006/relationships/notesSlide" Target="/ppt/notesSlides/notesSlide28.xml" Id="Rea75717582c04eb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adb7edd1a4f469d" /><Relationship Type="http://schemas.openxmlformats.org/officeDocument/2006/relationships/notesSlide" Target="/ppt/notesSlides/notesSlide29.xml" Id="Rc2821756671649a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31ddc22accd4e26" /><Relationship Type="http://schemas.openxmlformats.org/officeDocument/2006/relationships/chart" Target="/ppt/slides/charts/chart8.xml" Id="R003a62ccb30b4167" /><Relationship Type="http://schemas.openxmlformats.org/officeDocument/2006/relationships/notesSlide" Target="/ppt/notesSlides/notesSlide30.xml" Id="Rcb12a196718a49d6" /></Relationships>
</file>

<file path=ppt/slides/charts/chart1.xml><?xml version="1.0" encoding="utf-8"?>
<c:chartSpace xmlns:c="http://schemas.openxmlformats.org/drawingml/2006/chart">
  <c:lang val="en-US"/>
  <c:chart>
    <c:plotArea>
      <c:barChart>
        <c:barDir val="col"/>
        <c:grouping val="stacked"/>
        <c:varyColors val="0"/>
        <c:ser>
          <c:idx val="0"/>
          <c:order val="0"/>
          <c:tx>
            <c:v>Captured</c:v>
          </c:tx>
          <c:spPr>
            <a:solidFill xmlns:a="http://schemas.openxmlformats.org/drawingml/2006/main">
              <a:srgbClr val="31688E"/>
            </a:solidFill>
          </c:spPr>
          <c:cat>
            <c:numLit>
              <c:formatCode>General</c:formatCode>
              <c:ptCount val="10"/>
              <c:pt idx="0">
                <c:v>1</c:v>
              </c:pt>
              <c:pt idx="1">
                <c:v>2</c:v>
              </c:pt>
              <c:pt idx="2">
                <c:v>3</c:v>
              </c:pt>
              <c:pt idx="3">
                <c:v>4</c:v>
              </c:pt>
              <c:pt idx="4">
                <c:v>5</c:v>
              </c:pt>
              <c:pt idx="5">
                <c:v>6</c:v>
              </c:pt>
              <c:pt idx="6">
                <c:v>7</c:v>
              </c:pt>
              <c:pt idx="7">
                <c:v>8</c:v>
              </c:pt>
              <c:pt idx="8">
                <c:v>9</c:v>
              </c:pt>
              <c:pt idx="9">
                <c:v>10</c:v>
              </c:pt>
            </c:numLit>
          </c:cat>
          <c:val>
            <c:numLit>
              <c:formatCode>General</c:formatCode>
              <c:ptCount val="10"/>
              <c:pt idx="0">
                <c:v>1</c:v>
              </c:pt>
              <c:pt idx="1">
                <c:v>0.64</c:v>
              </c:pt>
              <c:pt idx="2">
                <c:v>0.36</c:v>
              </c:pt>
              <c:pt idx="3">
                <c:v>0</c:v>
              </c:pt>
              <c:pt idx="4">
                <c:v>0</c:v>
              </c:pt>
              <c:pt idx="5">
                <c:v>0</c:v>
              </c:pt>
              <c:pt idx="6">
                <c:v>0</c:v>
              </c:pt>
              <c:pt idx="7">
                <c:v>0</c:v>
              </c:pt>
              <c:pt idx="8">
                <c:v>0</c:v>
              </c:pt>
              <c:pt idx="9">
                <c:v>0</c:v>
              </c:pt>
            </c:numLit>
          </c:val>
        </c:ser>
        <c:ser>
          <c:idx val="1"/>
          <c:order val="1"/>
          <c:tx>
            <c:v>Tail</c:v>
          </c:tx>
          <c:spPr>
            <a:solidFill xmlns:a="http://schemas.openxmlformats.org/drawingml/2006/main">
              <a:srgbClr val="37847F"/>
            </a:solidFill>
          </c:spPr>
          <c:cat>
            <c:numLit>
              <c:formatCode>General</c:formatCode>
              <c:ptCount val="10"/>
              <c:pt idx="0">
                <c:v>1</c:v>
              </c:pt>
              <c:pt idx="1">
                <c:v>2</c:v>
              </c:pt>
              <c:pt idx="2">
                <c:v>3</c:v>
              </c:pt>
              <c:pt idx="3">
                <c:v>4</c:v>
              </c:pt>
              <c:pt idx="4">
                <c:v>5</c:v>
              </c:pt>
              <c:pt idx="5">
                <c:v>6</c:v>
              </c:pt>
              <c:pt idx="6">
                <c:v>7</c:v>
              </c:pt>
              <c:pt idx="7">
                <c:v>8</c:v>
              </c:pt>
              <c:pt idx="8">
                <c:v>9</c:v>
              </c:pt>
              <c:pt idx="9">
                <c:v>10</c:v>
              </c:pt>
            </c:numLit>
          </c:cat>
          <c:val>
            <c:numLit>
              <c:formatCode>General</c:formatCode>
              <c:ptCount val="10"/>
              <c:pt idx="0">
                <c:v>0</c:v>
              </c:pt>
              <c:pt idx="1">
                <c:v>0</c:v>
              </c:pt>
              <c:pt idx="2">
                <c:v>0</c:v>
              </c:pt>
              <c:pt idx="3">
                <c:v>0.16</c:v>
              </c:pt>
              <c:pt idx="4">
                <c:v>0.09</c:v>
              </c:pt>
              <c:pt idx="5">
                <c:v>0.04</c:v>
              </c:pt>
              <c:pt idx="6">
                <c:v>0.025</c:v>
              </c:pt>
              <c:pt idx="7">
                <c:v>0.015</c:v>
              </c:pt>
              <c:pt idx="8">
                <c:v>0.01</c:v>
              </c:pt>
              <c:pt idx="9">
                <c:v>0.005</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45"/>
        <c:overlap val="100"/>
        <c:axId val="48650112"/>
        <c:axId val="48672768"/>
      </c:bar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Eigenvalue index i</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Squared eigenvalue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lineChart>
        <c:grouping val="standard"/>
        <c:ser>
          <c:idx val="0"/>
          <c:order val="0"/>
          <c:tx>
            <c:v>Tail / initial tail</c:v>
          </c:tx>
          <c:spPr>
            <a:ln xmlns:a="http://schemas.openxmlformats.org/drawingml/2006/main" w="28575">
              <a:solidFill>
                <a:srgbClr val="37847F"/>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c:v>
              </c:pt>
              <c:pt idx="1">
                <c:v>0.10914907656347717</c:v>
              </c:pt>
              <c:pt idx="2">
                <c:v>0.05670843577175637</c:v>
              </c:pt>
              <c:pt idx="3">
                <c:v>0.03803908343220956</c:v>
              </c:pt>
              <c:pt idx="4">
                <c:v>0.02846904549947437</c:v>
              </c:pt>
              <c:pt idx="5">
                <c:v>0.022650097410960995</c:v>
              </c:pt>
              <c:pt idx="6">
                <c:v>0.018738372453737738</c:v>
              </c:pt>
              <c:pt idx="7">
                <c:v>0.015928283003207203</c:v>
              </c:pt>
              <c:pt idx="8">
                <c:v>0.01381192061228936</c:v>
              </c:pt>
              <c:pt idx="9">
                <c:v>0.012160629093797183</c:v>
              </c:pt>
              <c:pt idx="10">
                <c:v>0.010836290143637036</c:v>
              </c:pt>
              <c:pt idx="11">
                <c:v>0.009750549406874795</c:v>
              </c:pt>
              <c:pt idx="12">
                <c:v>0.008844256518266588</c:v>
              </c:pt>
              <c:pt idx="13">
                <c:v>0.008076320189194755</c:v>
              </c:pt>
              <c:pt idx="14">
                <c:v>0.007417305080009571</c:v>
              </c:pt>
              <c:pt idx="15">
                <c:v>0.006845572627484432</c:v>
              </c:pt>
            </c:numLit>
          </c:val>
        </c:ser>
        <c:ser>
          <c:idx val="1"/>
          <c:order val="1"/>
          <c:tx>
            <c:v>Residual count / 160</c:v>
          </c:tx>
          <c:spPr>
            <a:ln xmlns:a="http://schemas.openxmlformats.org/drawingml/2006/main" w="28575">
              <a:solidFill>
                <a:srgbClr val="BC702D"/>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c:v>
              </c:pt>
              <c:pt idx="1">
                <c:v>0.9375</c:v>
              </c:pt>
              <c:pt idx="2">
                <c:v>0.875</c:v>
              </c:pt>
              <c:pt idx="3">
                <c:v>0.8125</c:v>
              </c:pt>
              <c:pt idx="4">
                <c:v>0.75</c:v>
              </c:pt>
              <c:pt idx="5">
                <c:v>0.6875</c:v>
              </c:pt>
              <c:pt idx="6">
                <c:v>0.625</c:v>
              </c:pt>
              <c:pt idx="7">
                <c:v>0.5625</c:v>
              </c:pt>
              <c:pt idx="8">
                <c:v>0.5</c:v>
              </c:pt>
              <c:pt idx="9">
                <c:v>0.4375</c:v>
              </c:pt>
              <c:pt idx="10">
                <c:v>0.375</c:v>
              </c:pt>
              <c:pt idx="11">
                <c:v>0.3125</c:v>
              </c:pt>
              <c:pt idx="12">
                <c:v>0.25</c:v>
              </c:pt>
              <c:pt idx="13">
                <c:v>0.1875</c:v>
              </c:pt>
              <c:pt idx="14">
                <c:v>0.125</c:v>
              </c:pt>
              <c:pt idx="15">
                <c:v>0.0625</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Sketch queries q</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Fraction remaining</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lineChart>
        <c:grouping val="standard"/>
        <c:ser>
          <c:idx val="0"/>
          <c:order val="0"/>
          <c:tx>
            <c:v>Ideal risk</c:v>
          </c:tx>
          <c:spPr>
            <a:ln xmlns:a="http://schemas.openxmlformats.org/drawingml/2006/main" w="38100">
              <a:solidFill>
                <a:srgbClr val="31688E"/>
              </a:solidFill>
            </a:ln>
          </c:spPr>
          <c:marker>
            <c:symbol val="none"/>
          </c:marker>
          <c:cat>
            <c:numLit>
              <c:formatCode>General</c:formatCode>
              <c:ptCount val="16"/>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numLit>
          </c:cat>
          <c:val>
            <c:numLit>
              <c:formatCode>General</c:formatCode>
              <c:ptCount val="16"/>
              <c:pt idx="0">
                <c:v>1.558715930875207</c:v>
              </c:pt>
              <c:pt idx="1">
                <c:v>0.624764720264239</c:v>
              </c:pt>
              <c:pt idx="2">
                <c:v>0.3703555458572163</c:v>
              </c:pt>
              <c:pt idx="3">
                <c:v>0.2291226051066704</c:v>
              </c:pt>
              <c:pt idx="4">
                <c:v>0.13802757399609747</c:v>
              </c:pt>
              <c:pt idx="5">
                <c:v>0.07651330249005177</c:v>
              </c:pt>
              <c:pt idx="6">
                <c:v>0.03556778049610507</c:v>
              </c:pt>
              <c:pt idx="7">
                <c:v>0.010762367437088001</c:v>
              </c:pt>
              <c:pt idx="8">
                <c:v>0</c:v>
              </c:pt>
              <c:pt idx="9">
                <c:v>0.0026939159616249787</c:v>
              </c:pt>
              <c:pt idx="10">
                <c:v>0.019565287977940295</c:v>
              </c:pt>
              <c:pt idx="11">
                <c:v>0.052894996447668874</c:v>
              </c:pt>
              <c:pt idx="12">
                <c:v>0.10743725254269135</c:v>
              </c:pt>
              <c:pt idx="13">
                <c:v>0.1929281872162972</c:v>
              </c:pt>
              <c:pt idx="14">
                <c:v>0.3320520601443963</c:v>
              </c:pt>
              <c:pt idx="15">
                <c:v>0.5982456959580513</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Sketch queries q</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log₁₀(risk / grid minimum)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ser>
          <c:idx val="0"/>
          <c:order val="0"/>
          <c:tx>
            <c:v>Gaussian mean risk</c:v>
          </c:tx>
          <c:spPr>
            <a:ln xmlns:a="http://schemas.openxmlformats.org/drawingml/2006/main" w="38100">
              <a:solidFill>
                <a:srgbClr val="31688E"/>
              </a:solidFill>
            </a:ln>
          </c:spPr>
          <c:marker>
            <c:symbol val="none"/>
          </c:marker>
          <c:cat>
            <c:strLit>
              <c:ptCount val="2"/>
              <c:pt idx="0">
                <c:v>15 columns</c:v>
              </c:pt>
              <c:pt idx="1">
                <c:v>16 columns</c:v>
              </c:pt>
            </c:strLit>
          </c:cat>
          <c:val>
            <c:numLit>
              <c:formatCode>General</c:formatCode>
              <c:ptCount val="2"/>
              <c:pt idx="0">
                <c:v>-7.91638989483769</c:v>
              </c:pt>
              <c:pt idx="1">
                <c:v>-11.12124273826683</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7"/>
          <c:min val="-12"/>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log₁₀(mean conditional risk)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ser>
          <c:idx val="0"/>
          <c:order val="0"/>
          <c:tx>
            <c:v>Small spread</c:v>
          </c:tx>
          <c:spPr>
            <a:solidFill xmlns:a="http://schemas.openxmlformats.org/drawingml/2006/main">
              <a:srgbClr val="37847F"/>
            </a:solidFill>
          </c:spPr>
          <c:marker>
            <c:symbol val="circle"/>
            <c:size val="10"/>
          </c:marker>
          <c:xVal>
            <c:numLit>
              <c:formatCode>General</c:formatCode>
              <c:ptCount val="8"/>
              <c:pt idx="0">
                <c:v>1</c:v>
              </c:pt>
              <c:pt idx="1">
                <c:v>2</c:v>
              </c:pt>
              <c:pt idx="2">
                <c:v>3</c:v>
              </c:pt>
              <c:pt idx="3">
                <c:v>4</c:v>
              </c:pt>
              <c:pt idx="4">
                <c:v>5</c:v>
              </c:pt>
              <c:pt idx="5">
                <c:v>6</c:v>
              </c:pt>
              <c:pt idx="6">
                <c:v>7</c:v>
              </c:pt>
              <c:pt idx="7">
                <c:v>8</c:v>
              </c:pt>
            </c:numLit>
          </c:xVal>
          <c:yVal>
            <c:numLit>
              <c:formatCode>General</c:formatCode>
              <c:ptCount val="8"/>
              <c:pt idx="0">
                <c:v>2.94</c:v>
              </c:pt>
              <c:pt idx="1">
                <c:v>3.04</c:v>
              </c:pt>
              <c:pt idx="2">
                <c:v>2.97</c:v>
              </c:pt>
              <c:pt idx="3">
                <c:v>3.06</c:v>
              </c:pt>
              <c:pt idx="4">
                <c:v>3.01</c:v>
              </c:pt>
              <c:pt idx="5">
                <c:v>2.93</c:v>
              </c:pt>
              <c:pt idx="6">
                <c:v>3.05</c:v>
              </c:pt>
              <c:pt idx="7">
                <c:v>3</c:v>
              </c:pt>
            </c:numLit>
          </c:yVal>
        </c:ser>
        <c:ser>
          <c:idx val="1"/>
          <c:order val="1"/>
          <c:tx>
            <c:v>Large spread</c:v>
          </c:tx>
          <c:spPr>
            <a:solidFill xmlns:a="http://schemas.openxmlformats.org/drawingml/2006/main">
              <a:srgbClr val="BC702D"/>
            </a:solidFill>
          </c:spPr>
          <c:marker>
            <c:symbol val="diamond"/>
            <c:size val="10"/>
          </c:marker>
          <c:xVal>
            <c:numLit>
              <c:formatCode>General</c:formatCode>
              <c:ptCount val="8"/>
              <c:pt idx="0">
                <c:v>1</c:v>
              </c:pt>
              <c:pt idx="1">
                <c:v>2</c:v>
              </c:pt>
              <c:pt idx="2">
                <c:v>3</c:v>
              </c:pt>
              <c:pt idx="3">
                <c:v>4</c:v>
              </c:pt>
              <c:pt idx="4">
                <c:v>5</c:v>
              </c:pt>
              <c:pt idx="5">
                <c:v>6</c:v>
              </c:pt>
              <c:pt idx="6">
                <c:v>7</c:v>
              </c:pt>
              <c:pt idx="7">
                <c:v>8</c:v>
              </c:pt>
            </c:numLit>
          </c:xVal>
          <c:yVal>
            <c:numLit>
              <c:formatCode>General</c:formatCode>
              <c:ptCount val="8"/>
              <c:pt idx="0">
                <c:v>2.1</c:v>
              </c:pt>
              <c:pt idx="1">
                <c:v>3.8</c:v>
              </c:pt>
              <c:pt idx="2">
                <c:v>2.3</c:v>
              </c:pt>
              <c:pt idx="3">
                <c:v>4.1</c:v>
              </c:pt>
              <c:pt idx="4">
                <c:v>2.5</c:v>
              </c:pt>
              <c:pt idx="5">
                <c:v>3.7</c:v>
              </c:pt>
              <c:pt idx="6">
                <c:v>2.2</c:v>
              </c:pt>
              <c:pt idx="7">
                <c:v>3.3</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4.5"/>
          <c:min val="1.5"/>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Quadratic form Xⱼ</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valAx>
      <c:valAx>
        <c:axId val="48650112"/>
        <c:scaling>
          <c:orientation val="minMax"/>
          <c:max val="9"/>
          <c:min val="0"/>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Fresh probe j</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varyColors val="0"/>
        <c:ser>
          <c:idx val="0"/>
          <c:order val="0"/>
          <c:tx>
            <c:v>Relative radius ε</c:v>
          </c:tx>
          <c:spPr>
            <a:solidFill xmlns:a="http://schemas.openxmlformats.org/drawingml/2006/main">
              <a:srgbClr val="31688E"/>
            </a:solidFill>
          </c:spPr>
          <c:dLbls>
            <c:dLbl>
              <c:idx val="0"/>
              <c:tx>
                <c:rich>
                  <a:bodyPr xmlns:a="http://schemas.openxmlformats.org/drawingml/2006/main"/>
                  <a:lstStyle xmlns:a="http://schemas.openxmlformats.org/drawingml/2006/main"/>
                  <a:p xmlns:a="http://schemas.openxmlformats.org/drawingml/2006/main">
                    <a:r>
                      <a:rPr sz="1875">
                        <a:solidFill>
                          <a:srgbClr val="31688E"/>
                        </a:solidFill>
                        <a:latin typeface="Helvetica Neue"/>
                        <a:ea typeface="Helvetica Neue"/>
                        <a:cs typeface="Helvetica Neue"/>
                      </a:rPr>
                      <a:t>10.00</a:t>
                    </a:r>
                  </a:p>
                </c:rich>
              </c:tx>
              <c:txPr>
                <a:bodyPr xmlns:a="http://schemas.openxmlformats.org/drawingml/2006/main" anchorCtr="1"/>
                <a:lstStyle xmlns:a="http://schemas.openxmlformats.org/drawingml/2006/main"/>
                <a:p xmlns:a="http://schemas.openxmlformats.org/drawingml/2006/main">
                  <a:pPr>
                    <a:defRPr sz="1875">
                      <a:solidFill>
                        <a:srgbClr val="31688E"/>
                      </a:solidFill>
                      <a:latin typeface="Helvetica Neue"/>
                      <a:ea typeface="Helvetica Neue"/>
                      <a:cs typeface="Helvetica Neue"/>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a:solidFill>
                          <a:srgbClr val="31688E"/>
                        </a:solidFill>
                        <a:latin typeface="Helvetica Neue"/>
                        <a:ea typeface="Helvetica Neue"/>
                        <a:cs typeface="Helvetica Neue"/>
                      </a:rPr>
                      <a:t>4.19</a:t>
                    </a:r>
                  </a:p>
                </c:rich>
              </c:tx>
              <c:txPr>
                <a:bodyPr xmlns:a="http://schemas.openxmlformats.org/drawingml/2006/main" anchorCtr="1"/>
                <a:lstStyle xmlns:a="http://schemas.openxmlformats.org/drawingml/2006/main"/>
                <a:p xmlns:a="http://schemas.openxmlformats.org/drawingml/2006/main">
                  <a:pPr>
                    <a:defRPr sz="1875">
                      <a:solidFill>
                        <a:srgbClr val="31688E"/>
                      </a:solidFill>
                      <a:latin typeface="Helvetica Neue"/>
                      <a:ea typeface="Helvetica Neue"/>
                      <a:cs typeface="Helvetica Neue"/>
                    </a:defRPr>
                  </a:pPr>
                </a:p>
              </c:txPr>
              <c:showLegendKey val="0"/>
              <c:showVal val="0"/>
              <c:showCatName val="0"/>
              <c:showSerName val="0"/>
              <c:showPercent val="0"/>
              <c:showBubbleSize val="0"/>
            </c:dLbl>
          </c:dLbls>
          <c:cat>
            <c:strLit>
              <c:ptCount val="2"/>
              <c:pt idx="0">
                <c:v>Original bound</c:v>
              </c:pt>
              <c:pt idx="1">
                <c:v>Refined bound</c:v>
              </c:pt>
            </c:strLit>
          </c:cat>
          <c:val>
            <c:numLit>
              <c:formatCode>General</c:formatCode>
              <c:ptCount val="2"/>
              <c:pt idx="0">
                <c:v>10.004031445</c:v>
              </c:pt>
              <c:pt idx="1">
                <c:v>4.192928</c:v>
              </c:pt>
            </c:numLit>
          </c:val>
        </c:ser>
        <c:dLbls>
          <c:txPr>
            <a:bodyPr xmlns:a="http://schemas.openxmlformats.org/drawingml/2006/main" anchorCtr="1"/>
            <a:lstStyle xmlns:a="http://schemas.openxmlformats.org/drawingml/2006/main"/>
            <a:p xmlns:a="http://schemas.openxmlformats.org/drawingml/2006/main">
              <a:pPr>
                <a:defRPr sz="1950">
                  <a:solidFill>
                    <a:srgbClr val="31688E"/>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Relative error radius ε</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barChart>
        <c:barDir val="bar"/>
        <c:varyColors val="0"/>
        <c:ser>
          <c:idx val="0"/>
          <c:order val="0"/>
          <c:tx>
            <c:v>Remaining variance (%)</c:v>
          </c:tx>
          <c:spPr>
            <a:solidFill xmlns:a="http://schemas.openxmlformats.org/drawingml/2006/main">
              <a:srgbClr val="37847F"/>
            </a:solidFill>
          </c:spPr>
          <c:dLbls>
            <c:dLbl>
              <c:idx val="0"/>
              <c:tx>
                <c:rich>
                  <a:bodyPr xmlns:a="http://schemas.openxmlformats.org/drawingml/2006/main"/>
                  <a:lstStyle xmlns:a="http://schemas.openxmlformats.org/drawingml/2006/main"/>
                  <a:p xmlns:a="http://schemas.openxmlformats.org/drawingml/2006/main">
                    <a:r>
                      <a:rPr sz="1875">
                        <a:solidFill>
                          <a:srgbClr val="37847F"/>
                        </a:solidFill>
                        <a:latin typeface="Helvetica Neue"/>
                        <a:ea typeface="Helvetica Neue"/>
                        <a:cs typeface="Helvetica Neue"/>
                      </a:rPr>
                      <a:t>11.2%</a:t>
                    </a:r>
                  </a:p>
                </c:rich>
              </c:tx>
              <c:txPr>
                <a:bodyPr xmlns:a="http://schemas.openxmlformats.org/drawingml/2006/main" anchorCtr="1"/>
                <a:lstStyle xmlns:a="http://schemas.openxmlformats.org/drawingml/2006/main"/>
                <a:p xmlns:a="http://schemas.openxmlformats.org/drawingml/2006/main">
                  <a:pPr>
                    <a:defRPr sz="1875">
                      <a:solidFill>
                        <a:srgbClr val="37847F"/>
                      </a:solidFill>
                      <a:latin typeface="Helvetica Neue"/>
                      <a:ea typeface="Helvetica Neue"/>
                      <a:cs typeface="Helvetica Neue"/>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75">
                        <a:solidFill>
                          <a:srgbClr val="37847F"/>
                        </a:solidFill>
                        <a:latin typeface="Helvetica Neue"/>
                        <a:ea typeface="Helvetica Neue"/>
                        <a:cs typeface="Helvetica Neue"/>
                      </a:rPr>
                      <a:t>90.0%</a:t>
                    </a:r>
                  </a:p>
                </c:rich>
              </c:tx>
              <c:txPr>
                <a:bodyPr xmlns:a="http://schemas.openxmlformats.org/drawingml/2006/main" anchorCtr="1"/>
                <a:lstStyle xmlns:a="http://schemas.openxmlformats.org/drawingml/2006/main"/>
                <a:p xmlns:a="http://schemas.openxmlformats.org/drawingml/2006/main">
                  <a:pPr>
                    <a:defRPr sz="1875">
                      <a:solidFill>
                        <a:srgbClr val="37847F"/>
                      </a:solidFill>
                      <a:latin typeface="Helvetica Neue"/>
                      <a:ea typeface="Helvetica Neue"/>
                      <a:cs typeface="Helvetica Neue"/>
                    </a:defRPr>
                  </a:pPr>
                </a:p>
              </c:txPr>
              <c:showLegendKey val="0"/>
              <c:showVal val="0"/>
              <c:showCatName val="0"/>
              <c:showSerName val="0"/>
              <c:showPercent val="0"/>
              <c:showBubbleSize val="0"/>
            </c:dLbl>
          </c:dLbls>
          <c:cat>
            <c:strLit>
              <c:ptCount val="2"/>
              <c:pt idx="0">
                <c:v>Ordinary paths</c:v>
              </c:pt>
              <c:pt idx="1">
                <c:v>Catastrophic paths</c:v>
              </c:pt>
            </c:strLit>
          </c:cat>
          <c:val>
            <c:numLit>
              <c:formatCode>General</c:formatCode>
              <c:ptCount val="2"/>
              <c:pt idx="0">
                <c:v>11.1635</c:v>
              </c:pt>
              <c:pt idx="1">
                <c:v>89.9565</c:v>
              </c:pt>
            </c:numLit>
          </c:val>
        </c:ser>
        <c:dLbls>
          <c:txPr>
            <a:bodyPr xmlns:a="http://schemas.openxmlformats.org/drawingml/2006/main" anchorCtr="1"/>
            <a:lstStyle xmlns:a="http://schemas.openxmlformats.org/drawingml/2006/main"/>
            <a:p xmlns:a="http://schemas.openxmlformats.org/drawingml/2006/main">
              <a:pPr>
                <a:defRPr sz="1875">
                  <a:solidFill>
                    <a:srgbClr val="37847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Percent of estimated independence benchmark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scaling>
        <c:delete val="0"/>
        <c:axPos val="b"/>
        <c:majorGridlines>
          <c:spPr>
            <a:ln xmlns:a="http://schemas.openxmlformats.org/drawingml/2006/main" w="9525">
              <a:solidFill>
                <a:srgbClr val="E6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scatterChart>
        <c:scatterStyle val="line"/>
        <c:ser>
          <c:idx val="0"/>
          <c:order val="0"/>
          <c:tx>
            <c:v>All 600 frozen paths</c:v>
          </c:tx>
          <c:spPr>
            <a:ln xmlns:a="http://schemas.openxmlformats.org/drawingml/2006/main" w="28575">
              <a:solidFill>
                <a:srgbClr val="BC702D"/>
              </a:solidFill>
            </a:ln>
          </c:spPr>
          <c:marker>
            <c:symbol val="none"/>
          </c:marker>
          <c:xVal>
            <c:numLit>
              <c:formatCode>General</c:formatCode>
              <c:ptCount val="600"/>
              <c:pt idx="0">
                <c:v>-6.942106179197777</c:v>
              </c:pt>
              <c:pt idx="1">
                <c:v>-5.116784746027184</c:v>
              </c:pt>
              <c:pt idx="2">
                <c:v>-3.1686524633908792</c:v>
              </c:pt>
              <c:pt idx="3">
                <c:v>-2.1951000424523253</c:v>
              </c:pt>
              <c:pt idx="4">
                <c:v>-2.013685218913863</c:v>
              </c:pt>
              <c:pt idx="5">
                <c:v>-1.9793407393397058</c:v>
              </c:pt>
              <c:pt idx="6">
                <c:v>-1.8463188893616724</c:v>
              </c:pt>
              <c:pt idx="7">
                <c:v>-1.5144223233962555</c:v>
              </c:pt>
              <c:pt idx="8">
                <c:v>-1.4477745730410199</c:v>
              </c:pt>
              <c:pt idx="9">
                <c:v>-1.2449418593995023</c:v>
              </c:pt>
              <c:pt idx="10">
                <c:v>-1.1872978987658065</c:v>
              </c:pt>
              <c:pt idx="11">
                <c:v>-0.9876725786196435</c:v>
              </c:pt>
              <c:pt idx="12">
                <c:v>-0.9331431143873824</c:v>
              </c:pt>
              <c:pt idx="13">
                <c:v>-0.8267115673751221</c:v>
              </c:pt>
              <c:pt idx="14">
                <c:v>-0.7365703499714521</c:v>
              </c:pt>
              <c:pt idx="15">
                <c:v>-0.608303169484541</c:v>
              </c:pt>
              <c:pt idx="16">
                <c:v>-0.6057439168813734</c:v>
              </c:pt>
              <c:pt idx="17">
                <c:v>-0.567980000280137</c:v>
              </c:pt>
              <c:pt idx="18">
                <c:v>-0.48312213952833155</c:v>
              </c:pt>
              <c:pt idx="19">
                <c:v>-0.3633686236184603</c:v>
              </c:pt>
              <c:pt idx="20">
                <c:v>-0.33206971157031934</c:v>
              </c:pt>
              <c:pt idx="21">
                <c:v>-0.3172042647964492</c:v>
              </c:pt>
              <c:pt idx="22">
                <c:v>-0.26479016626387075</c:v>
              </c:pt>
              <c:pt idx="23">
                <c:v>-0.22170483961669527</c:v>
              </c:pt>
              <c:pt idx="24">
                <c:v>-0.018766469334064787</c:v>
              </c:pt>
              <c:pt idx="25">
                <c:v>0.004216897109883389</c:v>
              </c:pt>
              <c:pt idx="26">
                <c:v>0.008189899301258123</c:v>
              </c:pt>
              <c:pt idx="27">
                <c:v>0.024541632026237426</c:v>
              </c:pt>
              <c:pt idx="28">
                <c:v>0.03269403827258424</c:v>
              </c:pt>
              <c:pt idx="29">
                <c:v>0.03476863029461009</c:v>
              </c:pt>
              <c:pt idx="30">
                <c:v>0.049782403359460235</c:v>
              </c:pt>
              <c:pt idx="31">
                <c:v>0.05432761362917418</c:v>
              </c:pt>
              <c:pt idx="32">
                <c:v>0.05551732784982903</c:v>
              </c:pt>
              <c:pt idx="33">
                <c:v>0.05551732784982903</c:v>
              </c:pt>
              <c:pt idx="34">
                <c:v>0.05551732784982913</c:v>
              </c:pt>
              <c:pt idx="35">
                <c:v>0.05551732784982913</c:v>
              </c:pt>
              <c:pt idx="36">
                <c:v>0.05551732784982946</c:v>
              </c:pt>
              <c:pt idx="37">
                <c:v>0.05551732784982946</c:v>
              </c:pt>
              <c:pt idx="38">
                <c:v>0.05551732784982946</c:v>
              </c:pt>
              <c:pt idx="39">
                <c:v>0.05551732784982946</c:v>
              </c:pt>
              <c:pt idx="40">
                <c:v>0.05551732784982946</c:v>
              </c:pt>
              <c:pt idx="41">
                <c:v>0.055517327849829545</c:v>
              </c:pt>
              <c:pt idx="42">
                <c:v>0.055517327849829545</c:v>
              </c:pt>
              <c:pt idx="43">
                <c:v>0.055517327849829545</c:v>
              </c:pt>
              <c:pt idx="44">
                <c:v>0.055517327849829545</c:v>
              </c:pt>
              <c:pt idx="45">
                <c:v>0.055517327849829545</c:v>
              </c:pt>
              <c:pt idx="46">
                <c:v>0.05551732784982963</c:v>
              </c:pt>
              <c:pt idx="47">
                <c:v>0.05551732784982963</c:v>
              </c:pt>
              <c:pt idx="48">
                <c:v>0.05551732784982963</c:v>
              </c:pt>
              <c:pt idx="49">
                <c:v>0.05551732784982963</c:v>
              </c:pt>
              <c:pt idx="50">
                <c:v>0.05551732784982963</c:v>
              </c:pt>
              <c:pt idx="51">
                <c:v>0.05551732784982963</c:v>
              </c:pt>
              <c:pt idx="52">
                <c:v>0.05551732784982963</c:v>
              </c:pt>
              <c:pt idx="53">
                <c:v>0.05551732784982963</c:v>
              </c:pt>
              <c:pt idx="54">
                <c:v>0.05551732784982972</c:v>
              </c:pt>
              <c:pt idx="55">
                <c:v>0.05551732784982972</c:v>
              </c:pt>
              <c:pt idx="56">
                <c:v>0.05551732784982972</c:v>
              </c:pt>
              <c:pt idx="57">
                <c:v>0.05551732784982972</c:v>
              </c:pt>
              <c:pt idx="58">
                <c:v>0.05551732784982972</c:v>
              </c:pt>
              <c:pt idx="59">
                <c:v>0.05551732784982972</c:v>
              </c:pt>
              <c:pt idx="60">
                <c:v>0.0555173278498298</c:v>
              </c:pt>
              <c:pt idx="61">
                <c:v>0.0555173278498298</c:v>
              </c:pt>
              <c:pt idx="62">
                <c:v>0.055517327849829885</c:v>
              </c:pt>
              <c:pt idx="63">
                <c:v>0.055517327849829885</c:v>
              </c:pt>
              <c:pt idx="64">
                <c:v>0.055517327849829885</c:v>
              </c:pt>
              <c:pt idx="65">
                <c:v>0.055517327849829885</c:v>
              </c:pt>
              <c:pt idx="66">
                <c:v>0.055517327849829885</c:v>
              </c:pt>
              <c:pt idx="67">
                <c:v>0.055517327849829885</c:v>
              </c:pt>
              <c:pt idx="68">
                <c:v>0.055517327849829885</c:v>
              </c:pt>
              <c:pt idx="69">
                <c:v>0.055517327849829885</c:v>
              </c:pt>
              <c:pt idx="70">
                <c:v>0.055517327849829885</c:v>
              </c:pt>
              <c:pt idx="71">
                <c:v>0.05551732784983005</c:v>
              </c:pt>
              <c:pt idx="72">
                <c:v>0.05551732784983005</c:v>
              </c:pt>
              <c:pt idx="73">
                <c:v>0.05551732784983005</c:v>
              </c:pt>
              <c:pt idx="74">
                <c:v>0.055517327849830135</c:v>
              </c:pt>
              <c:pt idx="75">
                <c:v>0.055517327849830135</c:v>
              </c:pt>
              <c:pt idx="76">
                <c:v>0.055517327849830135</c:v>
              </c:pt>
              <c:pt idx="77">
                <c:v>0.055517327849830135</c:v>
              </c:pt>
              <c:pt idx="78">
                <c:v>0.055517327849830135</c:v>
              </c:pt>
              <c:pt idx="79">
                <c:v>0.055517327849830135</c:v>
              </c:pt>
              <c:pt idx="80">
                <c:v>0.055517327849830135</c:v>
              </c:pt>
              <c:pt idx="81">
                <c:v>0.055517327849830225</c:v>
              </c:pt>
              <c:pt idx="82">
                <c:v>0.055517327849830225</c:v>
              </c:pt>
              <c:pt idx="83">
                <c:v>0.055517327849830225</c:v>
              </c:pt>
              <c:pt idx="84">
                <c:v>0.05551732784983031</c:v>
              </c:pt>
              <c:pt idx="85">
                <c:v>0.05551732784983031</c:v>
              </c:pt>
              <c:pt idx="86">
                <c:v>0.05551732784983031</c:v>
              </c:pt>
              <c:pt idx="87">
                <c:v>0.05551732784983031</c:v>
              </c:pt>
              <c:pt idx="88">
                <c:v>0.05551732784983031</c:v>
              </c:pt>
              <c:pt idx="89">
                <c:v>0.05551732784983031</c:v>
              </c:pt>
              <c:pt idx="90">
                <c:v>0.05551732784983031</c:v>
              </c:pt>
              <c:pt idx="91">
                <c:v>0.05551732784983031</c:v>
              </c:pt>
              <c:pt idx="92">
                <c:v>0.05551732784983031</c:v>
              </c:pt>
              <c:pt idx="93">
                <c:v>0.05551732784983031</c:v>
              </c:pt>
              <c:pt idx="94">
                <c:v>0.05551732784983031</c:v>
              </c:pt>
              <c:pt idx="95">
                <c:v>0.05551732784983031</c:v>
              </c:pt>
              <c:pt idx="96">
                <c:v>0.05551732784983039</c:v>
              </c:pt>
              <c:pt idx="97">
                <c:v>0.05551732784983039</c:v>
              </c:pt>
              <c:pt idx="98">
                <c:v>0.05551732784983039</c:v>
              </c:pt>
              <c:pt idx="99">
                <c:v>0.055517327849830475</c:v>
              </c:pt>
              <c:pt idx="100">
                <c:v>0.055517327849830475</c:v>
              </c:pt>
              <c:pt idx="101">
                <c:v>0.055517327849830475</c:v>
              </c:pt>
              <c:pt idx="102">
                <c:v>0.055517327849830475</c:v>
              </c:pt>
              <c:pt idx="103">
                <c:v>0.055517327849830475</c:v>
              </c:pt>
              <c:pt idx="104">
                <c:v>0.05551732784983064</c:v>
              </c:pt>
              <c:pt idx="105">
                <c:v>0.05551732784983064</c:v>
              </c:pt>
              <c:pt idx="106">
                <c:v>0.05551732784983073</c:v>
              </c:pt>
              <c:pt idx="107">
                <c:v>0.05551732784983073</c:v>
              </c:pt>
              <c:pt idx="108">
                <c:v>0.05551732784983073</c:v>
              </c:pt>
              <c:pt idx="109">
                <c:v>0.055517327849830815</c:v>
              </c:pt>
              <c:pt idx="110">
                <c:v>0.055517327849830815</c:v>
              </c:pt>
              <c:pt idx="111">
                <c:v>0.055517327849830815</c:v>
              </c:pt>
              <c:pt idx="112">
                <c:v>0.055517327849830815</c:v>
              </c:pt>
              <c:pt idx="113">
                <c:v>0.055517327849830815</c:v>
              </c:pt>
              <c:pt idx="114">
                <c:v>0.055517327849830815</c:v>
              </c:pt>
              <c:pt idx="115">
                <c:v>0.055517327849830815</c:v>
              </c:pt>
              <c:pt idx="116">
                <c:v>0.055517327849830815</c:v>
              </c:pt>
              <c:pt idx="117">
                <c:v>0.0555173278498309</c:v>
              </c:pt>
              <c:pt idx="118">
                <c:v>0.0555173278498309</c:v>
              </c:pt>
              <c:pt idx="119">
                <c:v>0.0555173278498309</c:v>
              </c:pt>
              <c:pt idx="120">
                <c:v>0.0555173278498309</c:v>
              </c:pt>
              <c:pt idx="121">
                <c:v>0.0555173278498309</c:v>
              </c:pt>
              <c:pt idx="122">
                <c:v>0.0555173278498309</c:v>
              </c:pt>
              <c:pt idx="123">
                <c:v>0.0555173278498309</c:v>
              </c:pt>
              <c:pt idx="124">
                <c:v>0.0555173278498309</c:v>
              </c:pt>
              <c:pt idx="125">
                <c:v>0.0555173278498309</c:v>
              </c:pt>
              <c:pt idx="126">
                <c:v>0.05551732784983133</c:v>
              </c:pt>
              <c:pt idx="127">
                <c:v>0.05551732784983133</c:v>
              </c:pt>
              <c:pt idx="128">
                <c:v>0.05551732784983133</c:v>
              </c:pt>
              <c:pt idx="129">
                <c:v>0.05551732784983133</c:v>
              </c:pt>
              <c:pt idx="130">
                <c:v>0.05551732784983133</c:v>
              </c:pt>
              <c:pt idx="131">
                <c:v>0.05551732784983142</c:v>
              </c:pt>
              <c:pt idx="132">
                <c:v>0.05551732784983142</c:v>
              </c:pt>
              <c:pt idx="133">
                <c:v>0.05551732784983142</c:v>
              </c:pt>
              <c:pt idx="134">
                <c:v>0.05551732784983142</c:v>
              </c:pt>
              <c:pt idx="135">
                <c:v>0.05551732784983142</c:v>
              </c:pt>
              <c:pt idx="136">
                <c:v>0.05551732784983142</c:v>
              </c:pt>
              <c:pt idx="137">
                <c:v>0.05551732784983142</c:v>
              </c:pt>
              <c:pt idx="138">
                <c:v>0.05551732784983142</c:v>
              </c:pt>
              <c:pt idx="139">
                <c:v>0.05551732784983175</c:v>
              </c:pt>
              <c:pt idx="140">
                <c:v>0.055517327849831835</c:v>
              </c:pt>
              <c:pt idx="141">
                <c:v>0.055517327849831835</c:v>
              </c:pt>
              <c:pt idx="142">
                <c:v>0.055517327849831835</c:v>
              </c:pt>
              <c:pt idx="143">
                <c:v>0.055517327849831835</c:v>
              </c:pt>
              <c:pt idx="144">
                <c:v>0.055517327849831835</c:v>
              </c:pt>
              <c:pt idx="145">
                <c:v>0.055517327849831835</c:v>
              </c:pt>
              <c:pt idx="146">
                <c:v>0.055517327849831835</c:v>
              </c:pt>
              <c:pt idx="147">
                <c:v>0.055517327849831925</c:v>
              </c:pt>
              <c:pt idx="148">
                <c:v>0.055517327849831925</c:v>
              </c:pt>
              <c:pt idx="149">
                <c:v>0.05551732784983201</c:v>
              </c:pt>
              <c:pt idx="150">
                <c:v>0.05551732784983201</c:v>
              </c:pt>
              <c:pt idx="151">
                <c:v>0.05551732784983209</c:v>
              </c:pt>
              <c:pt idx="152">
                <c:v>0.05551732784983209</c:v>
              </c:pt>
              <c:pt idx="153">
                <c:v>0.05551732784983209</c:v>
              </c:pt>
              <c:pt idx="154">
                <c:v>0.05551732784983226</c:v>
              </c:pt>
              <c:pt idx="155">
                <c:v>0.05551732784983226</c:v>
              </c:pt>
              <c:pt idx="156">
                <c:v>0.05551732784983226</c:v>
              </c:pt>
              <c:pt idx="157">
                <c:v>0.05551732784983234</c:v>
              </c:pt>
              <c:pt idx="158">
                <c:v>0.05551732784983234</c:v>
              </c:pt>
              <c:pt idx="159">
                <c:v>0.05551732784983234</c:v>
              </c:pt>
              <c:pt idx="160">
                <c:v>0.05551732784983243</c:v>
              </c:pt>
              <c:pt idx="161">
                <c:v>0.05551732784983243</c:v>
              </c:pt>
              <c:pt idx="162">
                <c:v>0.05551732784983243</c:v>
              </c:pt>
              <c:pt idx="163">
                <c:v>0.05551732784983243</c:v>
              </c:pt>
              <c:pt idx="164">
                <c:v>0.05551732784983243</c:v>
              </c:pt>
              <c:pt idx="165">
                <c:v>0.05551732784983243</c:v>
              </c:pt>
              <c:pt idx="166">
                <c:v>0.05551732784983243</c:v>
              </c:pt>
              <c:pt idx="167">
                <c:v>0.05551732784983243</c:v>
              </c:pt>
              <c:pt idx="168">
                <c:v>0.05551732784983243</c:v>
              </c:pt>
              <c:pt idx="169">
                <c:v>0.05551732784983243</c:v>
              </c:pt>
              <c:pt idx="170">
                <c:v>0.05551732784983243</c:v>
              </c:pt>
              <c:pt idx="171">
                <c:v>0.05551732784983243</c:v>
              </c:pt>
              <c:pt idx="172">
                <c:v>0.05551732784983243</c:v>
              </c:pt>
              <c:pt idx="173">
                <c:v>0.055517327849832515</c:v>
              </c:pt>
              <c:pt idx="174">
                <c:v>0.055517327849832515</c:v>
              </c:pt>
              <c:pt idx="175">
                <c:v>0.055517327849832515</c:v>
              </c:pt>
              <c:pt idx="176">
                <c:v>0.055517327849832515</c:v>
              </c:pt>
              <c:pt idx="177">
                <c:v>0.055517327849832515</c:v>
              </c:pt>
              <c:pt idx="178">
                <c:v>0.055517327849832515</c:v>
              </c:pt>
              <c:pt idx="179">
                <c:v>0.055517327849832515</c:v>
              </c:pt>
              <c:pt idx="180">
                <c:v>0.055517327849832515</c:v>
              </c:pt>
              <c:pt idx="181">
                <c:v>0.0555173278498326</c:v>
              </c:pt>
              <c:pt idx="182">
                <c:v>0.0555173278498326</c:v>
              </c:pt>
              <c:pt idx="183">
                <c:v>0.0555173278498326</c:v>
              </c:pt>
              <c:pt idx="184">
                <c:v>0.0555173278498326</c:v>
              </c:pt>
              <c:pt idx="185">
                <c:v>0.0555173278498326</c:v>
              </c:pt>
              <c:pt idx="186">
                <c:v>0.0555173278498326</c:v>
              </c:pt>
              <c:pt idx="187">
                <c:v>0.0555173278498326</c:v>
              </c:pt>
              <c:pt idx="188">
                <c:v>0.05551732784983268</c:v>
              </c:pt>
              <c:pt idx="189">
                <c:v>0.05551732784983268</c:v>
              </c:pt>
              <c:pt idx="190">
                <c:v>0.05551732784983268</c:v>
              </c:pt>
              <c:pt idx="191">
                <c:v>0.05551732784983285</c:v>
              </c:pt>
              <c:pt idx="192">
                <c:v>0.05551732784983285</c:v>
              </c:pt>
              <c:pt idx="193">
                <c:v>0.05551732784983285</c:v>
              </c:pt>
              <c:pt idx="194">
                <c:v>0.05551732784983285</c:v>
              </c:pt>
              <c:pt idx="195">
                <c:v>0.05551732784983293</c:v>
              </c:pt>
              <c:pt idx="196">
                <c:v>0.05551732784983293</c:v>
              </c:pt>
              <c:pt idx="197">
                <c:v>0.05551732784983293</c:v>
              </c:pt>
              <c:pt idx="198">
                <c:v>0.05551732784983293</c:v>
              </c:pt>
              <c:pt idx="199">
                <c:v>0.05551732784983302</c:v>
              </c:pt>
              <c:pt idx="200">
                <c:v>0.05551732784983302</c:v>
              </c:pt>
              <c:pt idx="201">
                <c:v>0.05551732784983302</c:v>
              </c:pt>
              <c:pt idx="202">
                <c:v>0.055517327849833105</c:v>
              </c:pt>
              <c:pt idx="203">
                <c:v>0.055517327849833105</c:v>
              </c:pt>
              <c:pt idx="204">
                <c:v>0.055517327849833105</c:v>
              </c:pt>
              <c:pt idx="205">
                <c:v>0.055517327849833105</c:v>
              </c:pt>
              <c:pt idx="206">
                <c:v>0.05551732784983319</c:v>
              </c:pt>
              <c:pt idx="207">
                <c:v>0.05551732784983319</c:v>
              </c:pt>
              <c:pt idx="208">
                <c:v>0.05551732784983319</c:v>
              </c:pt>
              <c:pt idx="209">
                <c:v>0.05551732784983319</c:v>
              </c:pt>
              <c:pt idx="210">
                <c:v>0.05551732784983319</c:v>
              </c:pt>
              <c:pt idx="211">
                <c:v>0.05551732784983327</c:v>
              </c:pt>
              <c:pt idx="212">
                <c:v>0.055517327849833625</c:v>
              </c:pt>
              <c:pt idx="213">
                <c:v>0.055517327849833625</c:v>
              </c:pt>
              <c:pt idx="214">
                <c:v>0.05551732784983371</c:v>
              </c:pt>
              <c:pt idx="215">
                <c:v>0.05551732784983371</c:v>
              </c:pt>
              <c:pt idx="216">
                <c:v>0.055693390732573754</c:v>
              </c:pt>
              <c:pt idx="217">
                <c:v>0.055849162042696666</c:v>
              </c:pt>
              <c:pt idx="218">
                <c:v>0.0558815572892433</c:v>
              </c:pt>
              <c:pt idx="219">
                <c:v>0.055946283895337574</c:v>
              </c:pt>
              <c:pt idx="220">
                <c:v>0.05660206230468354</c:v>
              </c:pt>
              <c:pt idx="221">
                <c:v>0.05660888980200333</c:v>
              </c:pt>
              <c:pt idx="222">
                <c:v>0.056789705255202376</c:v>
              </c:pt>
              <c:pt idx="223">
                <c:v>0.059167091772806</c:v>
              </c:pt>
              <c:pt idx="224">
                <c:v>0.06003290489721684</c:v>
              </c:pt>
              <c:pt idx="225">
                <c:v>0.06461856575120695</c:v>
              </c:pt>
              <c:pt idx="226">
                <c:v>0.0646741699466749</c:v>
              </c:pt>
              <c:pt idx="227">
                <c:v>0.06468217563769295</c:v>
              </c:pt>
              <c:pt idx="228">
                <c:v>0.06470963997331508</c:v>
              </c:pt>
              <c:pt idx="229">
                <c:v>0.06472532963665337</c:v>
              </c:pt>
              <c:pt idx="230">
                <c:v>0.06472532963665337</c:v>
              </c:pt>
              <c:pt idx="231">
                <c:v>0.06472532963665337</c:v>
              </c:pt>
              <c:pt idx="232">
                <c:v>0.06472532963665337</c:v>
              </c:pt>
              <c:pt idx="233">
                <c:v>0.06472532963665337</c:v>
              </c:pt>
              <c:pt idx="234">
                <c:v>0.06472532963665337</c:v>
              </c:pt>
              <c:pt idx="235">
                <c:v>0.06472532963665337</c:v>
              </c:pt>
              <c:pt idx="236">
                <c:v>0.06472532963665337</c:v>
              </c:pt>
              <c:pt idx="237">
                <c:v>0.06472532963665337</c:v>
              </c:pt>
              <c:pt idx="238">
                <c:v>0.06472532963665337</c:v>
              </c:pt>
              <c:pt idx="239">
                <c:v>0.06472532963665337</c:v>
              </c:pt>
              <c:pt idx="240">
                <c:v>0.06472532963665337</c:v>
              </c:pt>
              <c:pt idx="241">
                <c:v>0.06472532963665337</c:v>
              </c:pt>
              <c:pt idx="242">
                <c:v>0.06472532963665337</c:v>
              </c:pt>
              <c:pt idx="243">
                <c:v>0.06472532963665337</c:v>
              </c:pt>
              <c:pt idx="244">
                <c:v>0.06472532963665337</c:v>
              </c:pt>
              <c:pt idx="245">
                <c:v>0.06472532963665337</c:v>
              </c:pt>
              <c:pt idx="246">
                <c:v>0.06472532963665337</c:v>
              </c:pt>
              <c:pt idx="247">
                <c:v>0.06472532963665337</c:v>
              </c:pt>
              <c:pt idx="248">
                <c:v>0.06472532963665337</c:v>
              </c:pt>
              <c:pt idx="249">
                <c:v>0.06472532963665337</c:v>
              </c:pt>
              <c:pt idx="250">
                <c:v>0.06472532963665337</c:v>
              </c:pt>
              <c:pt idx="251">
                <c:v>0.06472532963665337</c:v>
              </c:pt>
              <c:pt idx="252">
                <c:v>0.06472532963665337</c:v>
              </c:pt>
              <c:pt idx="253">
                <c:v>0.06472532963665344</c:v>
              </c:pt>
              <c:pt idx="254">
                <c:v>0.06472532963665344</c:v>
              </c:pt>
              <c:pt idx="255">
                <c:v>0.06472532963665344</c:v>
              </c:pt>
              <c:pt idx="256">
                <c:v>0.06472532963665344</c:v>
              </c:pt>
              <c:pt idx="257">
                <c:v>0.06472532963665419</c:v>
              </c:pt>
              <c:pt idx="258">
                <c:v>0.06472532963665419</c:v>
              </c:pt>
              <c:pt idx="259">
                <c:v>0.06472532963665419</c:v>
              </c:pt>
              <c:pt idx="260">
                <c:v>0.06472532963665419</c:v>
              </c:pt>
              <c:pt idx="261">
                <c:v>0.06472532963665419</c:v>
              </c:pt>
              <c:pt idx="262">
                <c:v>0.06472532963665419</c:v>
              </c:pt>
              <c:pt idx="263">
                <c:v>0.06472532963665419</c:v>
              </c:pt>
              <c:pt idx="264">
                <c:v>0.06472532963665419</c:v>
              </c:pt>
              <c:pt idx="265">
                <c:v>0.06472532963665419</c:v>
              </c:pt>
              <c:pt idx="266">
                <c:v>0.06472532963665419</c:v>
              </c:pt>
              <c:pt idx="267">
                <c:v>0.06472532963665419</c:v>
              </c:pt>
              <c:pt idx="268">
                <c:v>0.06472532963665419</c:v>
              </c:pt>
              <c:pt idx="269">
                <c:v>0.06472532963665419</c:v>
              </c:pt>
              <c:pt idx="270">
                <c:v>0.06472532963665419</c:v>
              </c:pt>
              <c:pt idx="271">
                <c:v>0.06472532963665419</c:v>
              </c:pt>
              <c:pt idx="272">
                <c:v>0.06472532963665419</c:v>
              </c:pt>
              <c:pt idx="273">
                <c:v>0.06472532963665419</c:v>
              </c:pt>
              <c:pt idx="274">
                <c:v>0.06472532963665419</c:v>
              </c:pt>
              <c:pt idx="275">
                <c:v>0.06472532963665419</c:v>
              </c:pt>
              <c:pt idx="276">
                <c:v>0.06472532963665419</c:v>
              </c:pt>
              <c:pt idx="277">
                <c:v>0.06472532963665419</c:v>
              </c:pt>
              <c:pt idx="278">
                <c:v>0.06472532963665419</c:v>
              </c:pt>
              <c:pt idx="279">
                <c:v>0.06472532963665419</c:v>
              </c:pt>
              <c:pt idx="280">
                <c:v>0.06472532963665435</c:v>
              </c:pt>
              <c:pt idx="281">
                <c:v>0.06472532963665435</c:v>
              </c:pt>
              <c:pt idx="282">
                <c:v>0.06472532963665435</c:v>
              </c:pt>
              <c:pt idx="283">
                <c:v>0.06472532963665445</c:v>
              </c:pt>
              <c:pt idx="284">
                <c:v>0.06472532963665445</c:v>
              </c:pt>
              <c:pt idx="285">
                <c:v>0.06472532963665445</c:v>
              </c:pt>
              <c:pt idx="286">
                <c:v>0.06472532963665445</c:v>
              </c:pt>
              <c:pt idx="287">
                <c:v>0.06472532963665445</c:v>
              </c:pt>
              <c:pt idx="288">
                <c:v>0.06472532963665445</c:v>
              </c:pt>
              <c:pt idx="289">
                <c:v>0.06472532963665445</c:v>
              </c:pt>
              <c:pt idx="290">
                <c:v>0.06472532963665445</c:v>
              </c:pt>
              <c:pt idx="291">
                <c:v>0.06472532963665445</c:v>
              </c:pt>
              <c:pt idx="292">
                <c:v>0.06472532963665445</c:v>
              </c:pt>
              <c:pt idx="293">
                <c:v>0.06472532963665445</c:v>
              </c:pt>
              <c:pt idx="294">
                <c:v>0.06472532963665445</c:v>
              </c:pt>
              <c:pt idx="295">
                <c:v>0.06472532963665445</c:v>
              </c:pt>
              <c:pt idx="296">
                <c:v>0.06472532963665445</c:v>
              </c:pt>
              <c:pt idx="297">
                <c:v>0.06472532963665445</c:v>
              </c:pt>
              <c:pt idx="298">
                <c:v>0.06472532963665445</c:v>
              </c:pt>
              <c:pt idx="299">
                <c:v>0.06472532963665445</c:v>
              </c:pt>
              <c:pt idx="300">
                <c:v>0.06472532963665445</c:v>
              </c:pt>
              <c:pt idx="301">
                <c:v>0.06472532963665445</c:v>
              </c:pt>
              <c:pt idx="302">
                <c:v>0.06472532963665445</c:v>
              </c:pt>
              <c:pt idx="303">
                <c:v>0.06472532963665445</c:v>
              </c:pt>
              <c:pt idx="304">
                <c:v>0.06472532963665445</c:v>
              </c:pt>
              <c:pt idx="305">
                <c:v>0.06472532963665445</c:v>
              </c:pt>
              <c:pt idx="306">
                <c:v>0.06472532963665445</c:v>
              </c:pt>
              <c:pt idx="307">
                <c:v>0.06472532963665445</c:v>
              </c:pt>
              <c:pt idx="308">
                <c:v>0.06472532963665445</c:v>
              </c:pt>
              <c:pt idx="309">
                <c:v>0.06472532963665445</c:v>
              </c:pt>
              <c:pt idx="310">
                <c:v>0.06472532963665445</c:v>
              </c:pt>
              <c:pt idx="311">
                <c:v>0.0647253296366551</c:v>
              </c:pt>
              <c:pt idx="312">
                <c:v>0.0647253296366551</c:v>
              </c:pt>
              <c:pt idx="313">
                <c:v>0.0647253296366551</c:v>
              </c:pt>
              <c:pt idx="314">
                <c:v>0.0647253296366551</c:v>
              </c:pt>
              <c:pt idx="315">
                <c:v>0.0647253296366551</c:v>
              </c:pt>
              <c:pt idx="316">
                <c:v>0.0647253296366551</c:v>
              </c:pt>
              <c:pt idx="317">
                <c:v>0.0647253296366551</c:v>
              </c:pt>
              <c:pt idx="318">
                <c:v>0.0647253296366551</c:v>
              </c:pt>
              <c:pt idx="319">
                <c:v>0.0647253296366551</c:v>
              </c:pt>
              <c:pt idx="320">
                <c:v>0.0647253296366551</c:v>
              </c:pt>
              <c:pt idx="321">
                <c:v>0.06472532963665519</c:v>
              </c:pt>
              <c:pt idx="322">
                <c:v>0.06472532963665519</c:v>
              </c:pt>
              <c:pt idx="323">
                <c:v>0.06472532963665519</c:v>
              </c:pt>
              <c:pt idx="324">
                <c:v>0.06472532963665519</c:v>
              </c:pt>
              <c:pt idx="325">
                <c:v>0.06472532963665519</c:v>
              </c:pt>
              <c:pt idx="326">
                <c:v>0.06472532963665519</c:v>
              </c:pt>
              <c:pt idx="327">
                <c:v>0.06472532963665519</c:v>
              </c:pt>
              <c:pt idx="328">
                <c:v>0.06472532963665519</c:v>
              </c:pt>
              <c:pt idx="329">
                <c:v>0.06472532963665519</c:v>
              </c:pt>
              <c:pt idx="330">
                <c:v>0.06472532963665519</c:v>
              </c:pt>
              <c:pt idx="331">
                <c:v>0.06472532963665519</c:v>
              </c:pt>
              <c:pt idx="332">
                <c:v>0.06472532963665585</c:v>
              </c:pt>
              <c:pt idx="333">
                <c:v>0.06472532963665585</c:v>
              </c:pt>
              <c:pt idx="334">
                <c:v>0.06472532963665585</c:v>
              </c:pt>
              <c:pt idx="335">
                <c:v>0.06472532963665585</c:v>
              </c:pt>
              <c:pt idx="336">
                <c:v>0.06472532963665585</c:v>
              </c:pt>
              <c:pt idx="337">
                <c:v>0.06472532963665585</c:v>
              </c:pt>
              <c:pt idx="338">
                <c:v>0.06472532963665585</c:v>
              </c:pt>
              <c:pt idx="339">
                <c:v>0.06472532963665585</c:v>
              </c:pt>
              <c:pt idx="340">
                <c:v>0.06472532963665585</c:v>
              </c:pt>
              <c:pt idx="341">
                <c:v>0.06472532963665585</c:v>
              </c:pt>
              <c:pt idx="342">
                <c:v>0.06472532963665585</c:v>
              </c:pt>
              <c:pt idx="343">
                <c:v>0.06472532963665585</c:v>
              </c:pt>
              <c:pt idx="344">
                <c:v>0.06472532963665585</c:v>
              </c:pt>
              <c:pt idx="345">
                <c:v>0.06472532963665585</c:v>
              </c:pt>
              <c:pt idx="346">
                <c:v>0.06472532963665585</c:v>
              </c:pt>
              <c:pt idx="347">
                <c:v>0.06472532963665585</c:v>
              </c:pt>
              <c:pt idx="348">
                <c:v>0.06472532963665585</c:v>
              </c:pt>
              <c:pt idx="349">
                <c:v>0.06472532963665585</c:v>
              </c:pt>
              <c:pt idx="350">
                <c:v>0.06472532963665585</c:v>
              </c:pt>
              <c:pt idx="351">
                <c:v>0.06472532963665593</c:v>
              </c:pt>
              <c:pt idx="352">
                <c:v>0.06472532963665593</c:v>
              </c:pt>
              <c:pt idx="353">
                <c:v>0.06472532963665593</c:v>
              </c:pt>
              <c:pt idx="354">
                <c:v>0.06472532963665593</c:v>
              </c:pt>
              <c:pt idx="355">
                <c:v>0.06472532963665593</c:v>
              </c:pt>
              <c:pt idx="356">
                <c:v>0.06472532963665593</c:v>
              </c:pt>
              <c:pt idx="357">
                <c:v>0.0647253296366561</c:v>
              </c:pt>
              <c:pt idx="358">
                <c:v>0.0647253296366561</c:v>
              </c:pt>
              <c:pt idx="359">
                <c:v>0.0647253296366561</c:v>
              </c:pt>
              <c:pt idx="360">
                <c:v>0.0647253296366561</c:v>
              </c:pt>
              <c:pt idx="361">
                <c:v>0.0647253296366561</c:v>
              </c:pt>
              <c:pt idx="362">
                <c:v>0.0647253296366561</c:v>
              </c:pt>
              <c:pt idx="363">
                <c:v>0.0647253296366561</c:v>
              </c:pt>
              <c:pt idx="364">
                <c:v>0.0647253296366561</c:v>
              </c:pt>
              <c:pt idx="365">
                <c:v>0.0647253296366561</c:v>
              </c:pt>
              <c:pt idx="366">
                <c:v>0.0647253296366561</c:v>
              </c:pt>
              <c:pt idx="367">
                <c:v>0.0647253296366561</c:v>
              </c:pt>
              <c:pt idx="368">
                <c:v>0.0647253296366561</c:v>
              </c:pt>
              <c:pt idx="369">
                <c:v>0.0647253296366561</c:v>
              </c:pt>
              <c:pt idx="370">
                <c:v>0.0647253296366561</c:v>
              </c:pt>
              <c:pt idx="371">
                <c:v>0.0647253296366561</c:v>
              </c:pt>
              <c:pt idx="372">
                <c:v>0.0647253296366561</c:v>
              </c:pt>
              <c:pt idx="373">
                <c:v>0.0647253296366561</c:v>
              </c:pt>
              <c:pt idx="374">
                <c:v>0.0647253296366561</c:v>
              </c:pt>
              <c:pt idx="375">
                <c:v>0.0647253296366561</c:v>
              </c:pt>
              <c:pt idx="376">
                <c:v>0.0647253296366561</c:v>
              </c:pt>
              <c:pt idx="377">
                <c:v>0.0647253296366561</c:v>
              </c:pt>
              <c:pt idx="378">
                <c:v>0.0647253296366561</c:v>
              </c:pt>
              <c:pt idx="379">
                <c:v>0.0647253296366561</c:v>
              </c:pt>
              <c:pt idx="380">
                <c:v>0.0647253296366561</c:v>
              </c:pt>
              <c:pt idx="381">
                <c:v>0.0647253296366561</c:v>
              </c:pt>
              <c:pt idx="382">
                <c:v>0.0647253296366561</c:v>
              </c:pt>
              <c:pt idx="383">
                <c:v>0.0647253296366561</c:v>
              </c:pt>
              <c:pt idx="384">
                <c:v>0.0647253296366566</c:v>
              </c:pt>
              <c:pt idx="385">
                <c:v>0.06472532963665693</c:v>
              </c:pt>
              <c:pt idx="386">
                <c:v>0.06472532963665693</c:v>
              </c:pt>
              <c:pt idx="387">
                <c:v>0.06472532963665693</c:v>
              </c:pt>
              <c:pt idx="388">
                <c:v>0.06472532963665693</c:v>
              </c:pt>
              <c:pt idx="389">
                <c:v>0.06472532963665693</c:v>
              </c:pt>
              <c:pt idx="390">
                <c:v>0.06472532963665693</c:v>
              </c:pt>
              <c:pt idx="391">
                <c:v>0.06472532963665693</c:v>
              </c:pt>
              <c:pt idx="392">
                <c:v>0.06472532963665693</c:v>
              </c:pt>
              <c:pt idx="393">
                <c:v>0.06472532963665693</c:v>
              </c:pt>
              <c:pt idx="394">
                <c:v>0.06472532963665693</c:v>
              </c:pt>
              <c:pt idx="395">
                <c:v>0.06472532963665693</c:v>
              </c:pt>
              <c:pt idx="396">
                <c:v>0.06472532963665693</c:v>
              </c:pt>
              <c:pt idx="397">
                <c:v>0.06472532963665693</c:v>
              </c:pt>
              <c:pt idx="398">
                <c:v>0.06472532963665693</c:v>
              </c:pt>
              <c:pt idx="399">
                <c:v>0.06472532963665693</c:v>
              </c:pt>
              <c:pt idx="400">
                <c:v>0.06472532963665693</c:v>
              </c:pt>
              <c:pt idx="401">
                <c:v>0.06472532963665693</c:v>
              </c:pt>
              <c:pt idx="402">
                <c:v>0.06472532963665693</c:v>
              </c:pt>
              <c:pt idx="403">
                <c:v>0.06472532963665693</c:v>
              </c:pt>
              <c:pt idx="404">
                <c:v>0.06472532963665693</c:v>
              </c:pt>
              <c:pt idx="405">
                <c:v>0.06472532963665693</c:v>
              </c:pt>
              <c:pt idx="406">
                <c:v>0.06472532963665693</c:v>
              </c:pt>
              <c:pt idx="407">
                <c:v>0.06472532963665693</c:v>
              </c:pt>
              <c:pt idx="408">
                <c:v>0.06472532963665702</c:v>
              </c:pt>
              <c:pt idx="409">
                <c:v>0.06472532963665702</c:v>
              </c:pt>
              <c:pt idx="410">
                <c:v>0.06472616547209792</c:v>
              </c:pt>
              <c:pt idx="411">
                <c:v>0.07685679122682171</c:v>
              </c:pt>
              <c:pt idx="412">
                <c:v>0.08208452781741689</c:v>
              </c:pt>
              <c:pt idx="413">
                <c:v>0.08237998840018551</c:v>
              </c:pt>
              <c:pt idx="414">
                <c:v>0.08485017231162613</c:v>
              </c:pt>
              <c:pt idx="415">
                <c:v>0.0850832179323591</c:v>
              </c:pt>
              <c:pt idx="416">
                <c:v>0.08614153985472912</c:v>
              </c:pt>
              <c:pt idx="417">
                <c:v>0.08617011648675484</c:v>
              </c:pt>
              <c:pt idx="418">
                <c:v>0.086186147616281</c:v>
              </c:pt>
              <c:pt idx="419">
                <c:v>0.086186147616281</c:v>
              </c:pt>
              <c:pt idx="420">
                <c:v>0.086186147616281</c:v>
              </c:pt>
              <c:pt idx="421">
                <c:v>0.086186147616281</c:v>
              </c:pt>
              <c:pt idx="422">
                <c:v>0.086186147616281</c:v>
              </c:pt>
              <c:pt idx="423">
                <c:v>0.086186147616281</c:v>
              </c:pt>
              <c:pt idx="424">
                <c:v>0.086186147616281</c:v>
              </c:pt>
              <c:pt idx="425">
                <c:v>0.08618614761628109</c:v>
              </c:pt>
              <c:pt idx="426">
                <c:v>0.08618614761628109</c:v>
              </c:pt>
              <c:pt idx="427">
                <c:v>0.0861861476162814</c:v>
              </c:pt>
              <c:pt idx="428">
                <c:v>0.08618614761628147</c:v>
              </c:pt>
              <c:pt idx="429">
                <c:v>0.08618614761628147</c:v>
              </c:pt>
              <c:pt idx="430">
                <c:v>0.08618614761628147</c:v>
              </c:pt>
              <c:pt idx="431">
                <c:v>0.08618614761628147</c:v>
              </c:pt>
              <c:pt idx="432">
                <c:v>0.0861861476162818</c:v>
              </c:pt>
              <c:pt idx="433">
                <c:v>0.0861861476162818</c:v>
              </c:pt>
              <c:pt idx="434">
                <c:v>0.0861861476162818</c:v>
              </c:pt>
              <c:pt idx="435">
                <c:v>0.0861861476162818</c:v>
              </c:pt>
              <c:pt idx="436">
                <c:v>0.0861861476162818</c:v>
              </c:pt>
              <c:pt idx="437">
                <c:v>0.0861861476162818</c:v>
              </c:pt>
              <c:pt idx="438">
                <c:v>0.0861861476162818</c:v>
              </c:pt>
              <c:pt idx="439">
                <c:v>0.08618614761628188</c:v>
              </c:pt>
              <c:pt idx="440">
                <c:v>0.08618614761628188</c:v>
              </c:pt>
              <c:pt idx="441">
                <c:v>0.08618614761628195</c:v>
              </c:pt>
              <c:pt idx="442">
                <c:v>0.08618614761628195</c:v>
              </c:pt>
              <c:pt idx="443">
                <c:v>0.08618614761628203</c:v>
              </c:pt>
              <c:pt idx="444">
                <c:v>0.08618614761628203</c:v>
              </c:pt>
              <c:pt idx="445">
                <c:v>0.08618614761628211</c:v>
              </c:pt>
              <c:pt idx="446">
                <c:v>0.08618614761628218</c:v>
              </c:pt>
              <c:pt idx="447">
                <c:v>0.08618614761628218</c:v>
              </c:pt>
              <c:pt idx="448">
                <c:v>0.08618614761628218</c:v>
              </c:pt>
              <c:pt idx="449">
                <c:v>0.08618614761628228</c:v>
              </c:pt>
              <c:pt idx="450">
                <c:v>0.08618614761628243</c:v>
              </c:pt>
              <c:pt idx="451">
                <c:v>0.08618614761628243</c:v>
              </c:pt>
              <c:pt idx="452">
                <c:v>0.08618614761628243</c:v>
              </c:pt>
              <c:pt idx="453">
                <c:v>0.08618614761628243</c:v>
              </c:pt>
              <c:pt idx="454">
                <c:v>0.08618614761628243</c:v>
              </c:pt>
              <c:pt idx="455">
                <c:v>0.08618614761628243</c:v>
              </c:pt>
              <c:pt idx="456">
                <c:v>0.08618614761628243</c:v>
              </c:pt>
              <c:pt idx="457">
                <c:v>0.08618614761628243</c:v>
              </c:pt>
              <c:pt idx="458">
                <c:v>0.0861861476162825</c:v>
              </c:pt>
              <c:pt idx="459">
                <c:v>0.0861861476162825</c:v>
              </c:pt>
              <c:pt idx="460">
                <c:v>0.0861861476162825</c:v>
              </c:pt>
              <c:pt idx="461">
                <c:v>0.08618614761628259</c:v>
              </c:pt>
              <c:pt idx="462">
                <c:v>0.08618614761628259</c:v>
              </c:pt>
              <c:pt idx="463">
                <c:v>0.08618614761628259</c:v>
              </c:pt>
              <c:pt idx="464">
                <c:v>0.08618614761628259</c:v>
              </c:pt>
              <c:pt idx="465">
                <c:v>0.08618614761628259</c:v>
              </c:pt>
              <c:pt idx="466">
                <c:v>0.08618614761628267</c:v>
              </c:pt>
              <c:pt idx="467">
                <c:v>0.08618614761628267</c:v>
              </c:pt>
              <c:pt idx="468">
                <c:v>0.08618614761628267</c:v>
              </c:pt>
              <c:pt idx="469">
                <c:v>0.08618614761628267</c:v>
              </c:pt>
              <c:pt idx="470">
                <c:v>0.08618614761628267</c:v>
              </c:pt>
              <c:pt idx="471">
                <c:v>0.08618614761628274</c:v>
              </c:pt>
              <c:pt idx="472">
                <c:v>0.08618614761628283</c:v>
              </c:pt>
              <c:pt idx="473">
                <c:v>0.08618614761628283</c:v>
              </c:pt>
              <c:pt idx="474">
                <c:v>0.08618614761628283</c:v>
              </c:pt>
              <c:pt idx="475">
                <c:v>0.08618614761628283</c:v>
              </c:pt>
              <c:pt idx="476">
                <c:v>0.08618614761628283</c:v>
              </c:pt>
              <c:pt idx="477">
                <c:v>0.0861861476162829</c:v>
              </c:pt>
              <c:pt idx="478">
                <c:v>0.0861861476162829</c:v>
              </c:pt>
              <c:pt idx="479">
                <c:v>0.0861861476162829</c:v>
              </c:pt>
              <c:pt idx="480">
                <c:v>0.0861861476162829</c:v>
              </c:pt>
              <c:pt idx="481">
                <c:v>0.0861861476162829</c:v>
              </c:pt>
              <c:pt idx="482">
                <c:v>0.0861861476162829</c:v>
              </c:pt>
              <c:pt idx="483">
                <c:v>0.0861861476162829</c:v>
              </c:pt>
              <c:pt idx="484">
                <c:v>0.0861861476162829</c:v>
              </c:pt>
              <c:pt idx="485">
                <c:v>0.0861861476162829</c:v>
              </c:pt>
              <c:pt idx="486">
                <c:v>0.0861861476162829</c:v>
              </c:pt>
              <c:pt idx="487">
                <c:v>0.0861861476162829</c:v>
              </c:pt>
              <c:pt idx="488">
                <c:v>0.08618614761628299</c:v>
              </c:pt>
              <c:pt idx="489">
                <c:v>0.08618614761628299</c:v>
              </c:pt>
              <c:pt idx="490">
                <c:v>0.08618614761628299</c:v>
              </c:pt>
              <c:pt idx="491">
                <c:v>0.08618614761628299</c:v>
              </c:pt>
              <c:pt idx="492">
                <c:v>0.08618614761628299</c:v>
              </c:pt>
              <c:pt idx="493">
                <c:v>0.08618614761628299</c:v>
              </c:pt>
              <c:pt idx="494">
                <c:v>0.08618614761628299</c:v>
              </c:pt>
              <c:pt idx="495">
                <c:v>0.08618614761628299</c:v>
              </c:pt>
              <c:pt idx="496">
                <c:v>0.08618614761628299</c:v>
              </c:pt>
              <c:pt idx="497">
                <c:v>0.08618614761628306</c:v>
              </c:pt>
              <c:pt idx="498">
                <c:v>0.08618614761628314</c:v>
              </c:pt>
              <c:pt idx="499">
                <c:v>0.08618614761628321</c:v>
              </c:pt>
              <c:pt idx="500">
                <c:v>0.08618614761628321</c:v>
              </c:pt>
              <c:pt idx="501">
                <c:v>0.08618614761628321</c:v>
              </c:pt>
              <c:pt idx="502">
                <c:v>0.08618614761628321</c:v>
              </c:pt>
              <c:pt idx="503">
                <c:v>0.08618614761628321</c:v>
              </c:pt>
              <c:pt idx="504">
                <c:v>0.08618614761628321</c:v>
              </c:pt>
              <c:pt idx="505">
                <c:v>0.08618614761628321</c:v>
              </c:pt>
              <c:pt idx="506">
                <c:v>0.08618614761628329</c:v>
              </c:pt>
              <c:pt idx="507">
                <c:v>0.08618614761628329</c:v>
              </c:pt>
              <c:pt idx="508">
                <c:v>0.08618614761628329</c:v>
              </c:pt>
              <c:pt idx="509">
                <c:v>0.08618614761628329</c:v>
              </c:pt>
              <c:pt idx="510">
                <c:v>0.08618614761628329</c:v>
              </c:pt>
              <c:pt idx="511">
                <c:v>0.08618614761628329</c:v>
              </c:pt>
              <c:pt idx="512">
                <c:v>0.08618614761628329</c:v>
              </c:pt>
              <c:pt idx="513">
                <c:v>0.08618614761628329</c:v>
              </c:pt>
              <c:pt idx="514">
                <c:v>0.08618614761628329</c:v>
              </c:pt>
              <c:pt idx="515">
                <c:v>0.08618614761628338</c:v>
              </c:pt>
              <c:pt idx="516">
                <c:v>0.08618614761628338</c:v>
              </c:pt>
              <c:pt idx="517">
                <c:v>0.08618614761628338</c:v>
              </c:pt>
              <c:pt idx="518">
                <c:v>0.08618614761628338</c:v>
              </c:pt>
              <c:pt idx="519">
                <c:v>0.08618614761628338</c:v>
              </c:pt>
              <c:pt idx="520">
                <c:v>0.08618614761628338</c:v>
              </c:pt>
              <c:pt idx="521">
                <c:v>0.08618614761628338</c:v>
              </c:pt>
              <c:pt idx="522">
                <c:v>0.08618614761628338</c:v>
              </c:pt>
              <c:pt idx="523">
                <c:v>0.08618614761628338</c:v>
              </c:pt>
              <c:pt idx="524">
                <c:v>0.08618614761628354</c:v>
              </c:pt>
              <c:pt idx="525">
                <c:v>0.08618614761628354</c:v>
              </c:pt>
              <c:pt idx="526">
                <c:v>0.08618614761628361</c:v>
              </c:pt>
              <c:pt idx="527">
                <c:v>0.08618614761628361</c:v>
              </c:pt>
              <c:pt idx="528">
                <c:v>0.08618614761628361</c:v>
              </c:pt>
              <c:pt idx="529">
                <c:v>0.08618614761628361</c:v>
              </c:pt>
              <c:pt idx="530">
                <c:v>0.08618614761628361</c:v>
              </c:pt>
              <c:pt idx="531">
                <c:v>0.08618614761628361</c:v>
              </c:pt>
              <c:pt idx="532">
                <c:v>0.08618614761628361</c:v>
              </c:pt>
              <c:pt idx="533">
                <c:v>0.0861861476162837</c:v>
              </c:pt>
              <c:pt idx="534">
                <c:v>0.0861861476162837</c:v>
              </c:pt>
              <c:pt idx="535">
                <c:v>0.0861861476162837</c:v>
              </c:pt>
              <c:pt idx="536">
                <c:v>0.0861861476162837</c:v>
              </c:pt>
              <c:pt idx="537">
                <c:v>0.0861861476162837</c:v>
              </c:pt>
              <c:pt idx="538">
                <c:v>0.0861861476162837</c:v>
              </c:pt>
              <c:pt idx="539">
                <c:v>0.0861861476162837</c:v>
              </c:pt>
              <c:pt idx="540">
                <c:v>0.0861861476162837</c:v>
              </c:pt>
              <c:pt idx="541">
                <c:v>0.0861861476162837</c:v>
              </c:pt>
              <c:pt idx="542">
                <c:v>0.0861861476162837</c:v>
              </c:pt>
              <c:pt idx="543">
                <c:v>0.08618614761628385</c:v>
              </c:pt>
              <c:pt idx="544">
                <c:v>0.08618614761628385</c:v>
              </c:pt>
              <c:pt idx="545">
                <c:v>0.08618614761628385</c:v>
              </c:pt>
              <c:pt idx="546">
                <c:v>0.08618614761628385</c:v>
              </c:pt>
              <c:pt idx="547">
                <c:v>0.08618614761628385</c:v>
              </c:pt>
              <c:pt idx="548">
                <c:v>0.08618614761628393</c:v>
              </c:pt>
              <c:pt idx="549">
                <c:v>0.08618614761628393</c:v>
              </c:pt>
              <c:pt idx="550">
                <c:v>0.08618614761628393</c:v>
              </c:pt>
              <c:pt idx="551">
                <c:v>0.08618614761628393</c:v>
              </c:pt>
              <c:pt idx="552">
                <c:v>0.08618614761628393</c:v>
              </c:pt>
              <c:pt idx="553">
                <c:v>0.08618614761628393</c:v>
              </c:pt>
              <c:pt idx="554">
                <c:v>0.08618614761628401</c:v>
              </c:pt>
              <c:pt idx="555">
                <c:v>0.08618614761628401</c:v>
              </c:pt>
              <c:pt idx="556">
                <c:v>0.08618614761628417</c:v>
              </c:pt>
              <c:pt idx="557">
                <c:v>0.08618614761628417</c:v>
              </c:pt>
              <c:pt idx="558">
                <c:v>0.08618614761628417</c:v>
              </c:pt>
              <c:pt idx="559">
                <c:v>0.08618614761628417</c:v>
              </c:pt>
              <c:pt idx="560">
                <c:v>0.08618614761628417</c:v>
              </c:pt>
              <c:pt idx="561">
                <c:v>0.08618614761628417</c:v>
              </c:pt>
              <c:pt idx="562">
                <c:v>0.08618614761628417</c:v>
              </c:pt>
              <c:pt idx="563">
                <c:v>0.08618614761628417</c:v>
              </c:pt>
              <c:pt idx="564">
                <c:v>0.08618614761628417</c:v>
              </c:pt>
              <c:pt idx="565">
                <c:v>0.08618614761628417</c:v>
              </c:pt>
              <c:pt idx="566">
                <c:v>0.08618614761628417</c:v>
              </c:pt>
              <c:pt idx="567">
                <c:v>0.08618614761628417</c:v>
              </c:pt>
              <c:pt idx="568">
                <c:v>0.0861861476162844</c:v>
              </c:pt>
              <c:pt idx="569">
                <c:v>0.0861861476162844</c:v>
              </c:pt>
              <c:pt idx="570">
                <c:v>0.08618614761628449</c:v>
              </c:pt>
              <c:pt idx="571">
                <c:v>0.08618614761628449</c:v>
              </c:pt>
              <c:pt idx="572">
                <c:v>0.08618614761628457</c:v>
              </c:pt>
              <c:pt idx="573">
                <c:v>0.08618614761628457</c:v>
              </c:pt>
              <c:pt idx="574">
                <c:v>0.08618614761628464</c:v>
              </c:pt>
              <c:pt idx="575">
                <c:v>0.08618614761628472</c:v>
              </c:pt>
              <c:pt idx="576">
                <c:v>0.08618614761628472</c:v>
              </c:pt>
              <c:pt idx="577">
                <c:v>0.08618614761628472</c:v>
              </c:pt>
              <c:pt idx="578">
                <c:v>0.0861861476162848</c:v>
              </c:pt>
              <c:pt idx="579">
                <c:v>0.0861861476162848</c:v>
              </c:pt>
              <c:pt idx="580">
                <c:v>0.0861861476162848</c:v>
              </c:pt>
              <c:pt idx="581">
                <c:v>0.0861861476162848</c:v>
              </c:pt>
              <c:pt idx="582">
                <c:v>0.0861861476162848</c:v>
              </c:pt>
              <c:pt idx="583">
                <c:v>0.0861861476162848</c:v>
              </c:pt>
              <c:pt idx="584">
                <c:v>0.0861861476162848</c:v>
              </c:pt>
              <c:pt idx="585">
                <c:v>0.0861861476162848</c:v>
              </c:pt>
              <c:pt idx="586">
                <c:v>0.0861861476162848</c:v>
              </c:pt>
              <c:pt idx="587">
                <c:v>0.08618614761628487</c:v>
              </c:pt>
              <c:pt idx="588">
                <c:v>0.08618614761628487</c:v>
              </c:pt>
              <c:pt idx="589">
                <c:v>0.08618614761628487</c:v>
              </c:pt>
              <c:pt idx="590">
                <c:v>0.08618614761628487</c:v>
              </c:pt>
              <c:pt idx="591">
                <c:v>0.08618614761628512</c:v>
              </c:pt>
              <c:pt idx="592">
                <c:v>0.0861861476162852</c:v>
              </c:pt>
              <c:pt idx="593">
                <c:v>0.0861861476162852</c:v>
              </c:pt>
              <c:pt idx="594">
                <c:v>0.08618614761628558</c:v>
              </c:pt>
              <c:pt idx="595">
                <c:v>0.08618614761628558</c:v>
              </c:pt>
              <c:pt idx="596">
                <c:v>0.08618614761628558</c:v>
              </c:pt>
              <c:pt idx="597">
                <c:v>0.08618614761628558</c:v>
              </c:pt>
              <c:pt idx="598">
                <c:v>0.08618614761628558</c:v>
              </c:pt>
              <c:pt idx="599">
                <c:v>0.08624425427231873</c:v>
              </c:pt>
            </c:numLit>
          </c:xVal>
          <c:yVal>
            <c:numLit>
              <c:formatCode>General</c:formatCode>
              <c:ptCount val="600"/>
              <c:pt idx="0">
                <c:v>0.16666666666666666</c:v>
              </c:pt>
              <c:pt idx="1">
                <c:v>0.3333333333333333</c:v>
              </c:pt>
              <c:pt idx="2">
                <c:v>0.5</c:v>
              </c:pt>
              <c:pt idx="3">
                <c:v>0.6666666666666666</c:v>
              </c:pt>
              <c:pt idx="4">
                <c:v>0.8333333333333334</c:v>
              </c:pt>
              <c:pt idx="5">
                <c:v>1</c:v>
              </c:pt>
              <c:pt idx="6">
                <c:v>1.1666666666666667</c:v>
              </c:pt>
              <c:pt idx="7">
                <c:v>1.3333333333333333</c:v>
              </c:pt>
              <c:pt idx="8">
                <c:v>1.5</c:v>
              </c:pt>
              <c:pt idx="9">
                <c:v>1.6666666666666667</c:v>
              </c:pt>
              <c:pt idx="10">
                <c:v>1.8333333333333333</c:v>
              </c:pt>
              <c:pt idx="11">
                <c:v>2</c:v>
              </c:pt>
              <c:pt idx="12">
                <c:v>2.1666666666666665</c:v>
              </c:pt>
              <c:pt idx="13">
                <c:v>2.3333333333333335</c:v>
              </c:pt>
              <c:pt idx="14">
                <c:v>2.5</c:v>
              </c:pt>
              <c:pt idx="15">
                <c:v>2.6666666666666665</c:v>
              </c:pt>
              <c:pt idx="16">
                <c:v>2.8333333333333335</c:v>
              </c:pt>
              <c:pt idx="17">
                <c:v>3</c:v>
              </c:pt>
              <c:pt idx="18">
                <c:v>3.1666666666666665</c:v>
              </c:pt>
              <c:pt idx="19">
                <c:v>3.3333333333333335</c:v>
              </c:pt>
              <c:pt idx="20">
                <c:v>3.5</c:v>
              </c:pt>
              <c:pt idx="21">
                <c:v>3.6666666666666665</c:v>
              </c:pt>
              <c:pt idx="22">
                <c:v>3.8333333333333335</c:v>
              </c:pt>
              <c:pt idx="23">
                <c:v>4</c:v>
              </c:pt>
              <c:pt idx="24">
                <c:v>4.166666666666667</c:v>
              </c:pt>
              <c:pt idx="25">
                <c:v>4.333333333333333</c:v>
              </c:pt>
              <c:pt idx="26">
                <c:v>4.5</c:v>
              </c:pt>
              <c:pt idx="27">
                <c:v>4.666666666666667</c:v>
              </c:pt>
              <c:pt idx="28">
                <c:v>4.833333333333333</c:v>
              </c:pt>
              <c:pt idx="29">
                <c:v>5</c:v>
              </c:pt>
              <c:pt idx="30">
                <c:v>5.166666666666667</c:v>
              </c:pt>
              <c:pt idx="31">
                <c:v>5.333333333333333</c:v>
              </c:pt>
              <c:pt idx="32">
                <c:v>5.5</c:v>
              </c:pt>
              <c:pt idx="33">
                <c:v>5.666666666666667</c:v>
              </c:pt>
              <c:pt idx="34">
                <c:v>5.833333333333333</c:v>
              </c:pt>
              <c:pt idx="35">
                <c:v>6</c:v>
              </c:pt>
              <c:pt idx="36">
                <c:v>6.166666666666667</c:v>
              </c:pt>
              <c:pt idx="37">
                <c:v>6.333333333333333</c:v>
              </c:pt>
              <c:pt idx="38">
                <c:v>6.5</c:v>
              </c:pt>
              <c:pt idx="39">
                <c:v>6.666666666666667</c:v>
              </c:pt>
              <c:pt idx="40">
                <c:v>6.833333333333333</c:v>
              </c:pt>
              <c:pt idx="41">
                <c:v>7</c:v>
              </c:pt>
              <c:pt idx="42">
                <c:v>7.166666666666667</c:v>
              </c:pt>
              <c:pt idx="43">
                <c:v>7.333333333333333</c:v>
              </c:pt>
              <c:pt idx="44">
                <c:v>7.5</c:v>
              </c:pt>
              <c:pt idx="45">
                <c:v>7.666666666666667</c:v>
              </c:pt>
              <c:pt idx="46">
                <c:v>7.833333333333333</c:v>
              </c:pt>
              <c:pt idx="47">
                <c:v>8</c:v>
              </c:pt>
              <c:pt idx="48">
                <c:v>8.166666666666666</c:v>
              </c:pt>
              <c:pt idx="49">
                <c:v>8.333333333333334</c:v>
              </c:pt>
              <c:pt idx="50">
                <c:v>8.5</c:v>
              </c:pt>
              <c:pt idx="51">
                <c:v>8.666666666666666</c:v>
              </c:pt>
              <c:pt idx="52">
                <c:v>8.833333333333334</c:v>
              </c:pt>
              <c:pt idx="53">
                <c:v>9</c:v>
              </c:pt>
              <c:pt idx="54">
                <c:v>9.166666666666666</c:v>
              </c:pt>
              <c:pt idx="55">
                <c:v>9.333333333333334</c:v>
              </c:pt>
              <c:pt idx="56">
                <c:v>9.5</c:v>
              </c:pt>
              <c:pt idx="57">
                <c:v>9.666666666666666</c:v>
              </c:pt>
              <c:pt idx="58">
                <c:v>9.833333333333334</c:v>
              </c:pt>
              <c:pt idx="59">
                <c:v>10</c:v>
              </c:pt>
              <c:pt idx="60">
                <c:v>10.166666666666666</c:v>
              </c:pt>
              <c:pt idx="61">
                <c:v>10.333333333333334</c:v>
              </c:pt>
              <c:pt idx="62">
                <c:v>10.5</c:v>
              </c:pt>
              <c:pt idx="63">
                <c:v>10.666666666666666</c:v>
              </c:pt>
              <c:pt idx="64">
                <c:v>10.833333333333334</c:v>
              </c:pt>
              <c:pt idx="65">
                <c:v>11</c:v>
              </c:pt>
              <c:pt idx="66">
                <c:v>11.166666666666666</c:v>
              </c:pt>
              <c:pt idx="67">
                <c:v>11.333333333333334</c:v>
              </c:pt>
              <c:pt idx="68">
                <c:v>11.5</c:v>
              </c:pt>
              <c:pt idx="69">
                <c:v>11.666666666666666</c:v>
              </c:pt>
              <c:pt idx="70">
                <c:v>11.833333333333334</c:v>
              </c:pt>
              <c:pt idx="71">
                <c:v>12</c:v>
              </c:pt>
              <c:pt idx="72">
                <c:v>12.166666666666666</c:v>
              </c:pt>
              <c:pt idx="73">
                <c:v>12.333333333333334</c:v>
              </c:pt>
              <c:pt idx="74">
                <c:v>12.5</c:v>
              </c:pt>
              <c:pt idx="75">
                <c:v>12.666666666666666</c:v>
              </c:pt>
              <c:pt idx="76">
                <c:v>12.833333333333334</c:v>
              </c:pt>
              <c:pt idx="77">
                <c:v>13</c:v>
              </c:pt>
              <c:pt idx="78">
                <c:v>13.166666666666666</c:v>
              </c:pt>
              <c:pt idx="79">
                <c:v>13.333333333333334</c:v>
              </c:pt>
              <c:pt idx="80">
                <c:v>13.5</c:v>
              </c:pt>
              <c:pt idx="81">
                <c:v>13.666666666666666</c:v>
              </c:pt>
              <c:pt idx="82">
                <c:v>13.833333333333334</c:v>
              </c:pt>
              <c:pt idx="83">
                <c:v>14</c:v>
              </c:pt>
              <c:pt idx="84">
                <c:v>14.166666666666666</c:v>
              </c:pt>
              <c:pt idx="85">
                <c:v>14.333333333333334</c:v>
              </c:pt>
              <c:pt idx="86">
                <c:v>14.5</c:v>
              </c:pt>
              <c:pt idx="87">
                <c:v>14.666666666666666</c:v>
              </c:pt>
              <c:pt idx="88">
                <c:v>14.833333333333334</c:v>
              </c:pt>
              <c:pt idx="89">
                <c:v>15</c:v>
              </c:pt>
              <c:pt idx="90">
                <c:v>15.166666666666666</c:v>
              </c:pt>
              <c:pt idx="91">
                <c:v>15.333333333333334</c:v>
              </c:pt>
              <c:pt idx="92">
                <c:v>15.5</c:v>
              </c:pt>
              <c:pt idx="93">
                <c:v>15.666666666666666</c:v>
              </c:pt>
              <c:pt idx="94">
                <c:v>15.833333333333334</c:v>
              </c:pt>
              <c:pt idx="95">
                <c:v>16</c:v>
              </c:pt>
              <c:pt idx="96">
                <c:v>16.166666666666668</c:v>
              </c:pt>
              <c:pt idx="97">
                <c:v>16.333333333333332</c:v>
              </c:pt>
              <c:pt idx="98">
                <c:v>16.5</c:v>
              </c:pt>
              <c:pt idx="99">
                <c:v>16.666666666666668</c:v>
              </c:pt>
              <c:pt idx="100">
                <c:v>16.833333333333332</c:v>
              </c:pt>
              <c:pt idx="101">
                <c:v>17</c:v>
              </c:pt>
              <c:pt idx="102">
                <c:v>17.166666666666668</c:v>
              </c:pt>
              <c:pt idx="103">
                <c:v>17.333333333333332</c:v>
              </c:pt>
              <c:pt idx="104">
                <c:v>17.5</c:v>
              </c:pt>
              <c:pt idx="105">
                <c:v>17.666666666666668</c:v>
              </c:pt>
              <c:pt idx="106">
                <c:v>17.833333333333332</c:v>
              </c:pt>
              <c:pt idx="107">
                <c:v>18</c:v>
              </c:pt>
              <c:pt idx="108">
                <c:v>18.166666666666668</c:v>
              </c:pt>
              <c:pt idx="109">
                <c:v>18.333333333333332</c:v>
              </c:pt>
              <c:pt idx="110">
                <c:v>18.5</c:v>
              </c:pt>
              <c:pt idx="111">
                <c:v>18.666666666666668</c:v>
              </c:pt>
              <c:pt idx="112">
                <c:v>18.833333333333332</c:v>
              </c:pt>
              <c:pt idx="113">
                <c:v>19</c:v>
              </c:pt>
              <c:pt idx="114">
                <c:v>19.166666666666668</c:v>
              </c:pt>
              <c:pt idx="115">
                <c:v>19.333333333333332</c:v>
              </c:pt>
              <c:pt idx="116">
                <c:v>19.5</c:v>
              </c:pt>
              <c:pt idx="117">
                <c:v>19.666666666666668</c:v>
              </c:pt>
              <c:pt idx="118">
                <c:v>19.833333333333332</c:v>
              </c:pt>
              <c:pt idx="119">
                <c:v>20</c:v>
              </c:pt>
              <c:pt idx="120">
                <c:v>20.166666666666668</c:v>
              </c:pt>
              <c:pt idx="121">
                <c:v>20.333333333333332</c:v>
              </c:pt>
              <c:pt idx="122">
                <c:v>20.5</c:v>
              </c:pt>
              <c:pt idx="123">
                <c:v>20.666666666666668</c:v>
              </c:pt>
              <c:pt idx="124">
                <c:v>20.833333333333332</c:v>
              </c:pt>
              <c:pt idx="125">
                <c:v>21</c:v>
              </c:pt>
              <c:pt idx="126">
                <c:v>21.166666666666668</c:v>
              </c:pt>
              <c:pt idx="127">
                <c:v>21.333333333333332</c:v>
              </c:pt>
              <c:pt idx="128">
                <c:v>21.5</c:v>
              </c:pt>
              <c:pt idx="129">
                <c:v>21.666666666666668</c:v>
              </c:pt>
              <c:pt idx="130">
                <c:v>21.833333333333332</c:v>
              </c:pt>
              <c:pt idx="131">
                <c:v>22</c:v>
              </c:pt>
              <c:pt idx="132">
                <c:v>22.166666666666668</c:v>
              </c:pt>
              <c:pt idx="133">
                <c:v>22.333333333333332</c:v>
              </c:pt>
              <c:pt idx="134">
                <c:v>22.5</c:v>
              </c:pt>
              <c:pt idx="135">
                <c:v>22.666666666666668</c:v>
              </c:pt>
              <c:pt idx="136">
                <c:v>22.833333333333332</c:v>
              </c:pt>
              <c:pt idx="137">
                <c:v>23</c:v>
              </c:pt>
              <c:pt idx="138">
                <c:v>23.166666666666668</c:v>
              </c:pt>
              <c:pt idx="139">
                <c:v>23.333333333333332</c:v>
              </c:pt>
              <c:pt idx="140">
                <c:v>23.5</c:v>
              </c:pt>
              <c:pt idx="141">
                <c:v>23.666666666666668</c:v>
              </c:pt>
              <c:pt idx="142">
                <c:v>23.833333333333332</c:v>
              </c:pt>
              <c:pt idx="143">
                <c:v>24</c:v>
              </c:pt>
              <c:pt idx="144">
                <c:v>24.166666666666668</c:v>
              </c:pt>
              <c:pt idx="145">
                <c:v>24.333333333333332</c:v>
              </c:pt>
              <c:pt idx="146">
                <c:v>24.5</c:v>
              </c:pt>
              <c:pt idx="147">
                <c:v>24.666666666666668</c:v>
              </c:pt>
              <c:pt idx="148">
                <c:v>24.833333333333332</c:v>
              </c:pt>
              <c:pt idx="149">
                <c:v>25</c:v>
              </c:pt>
              <c:pt idx="150">
                <c:v>25.166666666666668</c:v>
              </c:pt>
              <c:pt idx="151">
                <c:v>25.333333333333332</c:v>
              </c:pt>
              <c:pt idx="152">
                <c:v>25.5</c:v>
              </c:pt>
              <c:pt idx="153">
                <c:v>25.666666666666668</c:v>
              </c:pt>
              <c:pt idx="154">
                <c:v>25.833333333333332</c:v>
              </c:pt>
              <c:pt idx="155">
                <c:v>26</c:v>
              </c:pt>
              <c:pt idx="156">
                <c:v>26.166666666666668</c:v>
              </c:pt>
              <c:pt idx="157">
                <c:v>26.333333333333332</c:v>
              </c:pt>
              <c:pt idx="158">
                <c:v>26.5</c:v>
              </c:pt>
              <c:pt idx="159">
                <c:v>26.666666666666668</c:v>
              </c:pt>
              <c:pt idx="160">
                <c:v>26.833333333333332</c:v>
              </c:pt>
              <c:pt idx="161">
                <c:v>27</c:v>
              </c:pt>
              <c:pt idx="162">
                <c:v>27.166666666666668</c:v>
              </c:pt>
              <c:pt idx="163">
                <c:v>27.333333333333332</c:v>
              </c:pt>
              <c:pt idx="164">
                <c:v>27.5</c:v>
              </c:pt>
              <c:pt idx="165">
                <c:v>27.666666666666668</c:v>
              </c:pt>
              <c:pt idx="166">
                <c:v>27.833333333333332</c:v>
              </c:pt>
              <c:pt idx="167">
                <c:v>28</c:v>
              </c:pt>
              <c:pt idx="168">
                <c:v>28.166666666666668</c:v>
              </c:pt>
              <c:pt idx="169">
                <c:v>28.333333333333332</c:v>
              </c:pt>
              <c:pt idx="170">
                <c:v>28.5</c:v>
              </c:pt>
              <c:pt idx="171">
                <c:v>28.666666666666668</c:v>
              </c:pt>
              <c:pt idx="172">
                <c:v>28.833333333333332</c:v>
              </c:pt>
              <c:pt idx="173">
                <c:v>29</c:v>
              </c:pt>
              <c:pt idx="174">
                <c:v>29.166666666666668</c:v>
              </c:pt>
              <c:pt idx="175">
                <c:v>29.333333333333332</c:v>
              </c:pt>
              <c:pt idx="176">
                <c:v>29.5</c:v>
              </c:pt>
              <c:pt idx="177">
                <c:v>29.666666666666668</c:v>
              </c:pt>
              <c:pt idx="178">
                <c:v>29.833333333333332</c:v>
              </c:pt>
              <c:pt idx="179">
                <c:v>30</c:v>
              </c:pt>
              <c:pt idx="180">
                <c:v>30.166666666666668</c:v>
              </c:pt>
              <c:pt idx="181">
                <c:v>30.333333333333332</c:v>
              </c:pt>
              <c:pt idx="182">
                <c:v>30.5</c:v>
              </c:pt>
              <c:pt idx="183">
                <c:v>30.666666666666668</c:v>
              </c:pt>
              <c:pt idx="184">
                <c:v>30.833333333333332</c:v>
              </c:pt>
              <c:pt idx="185">
                <c:v>31</c:v>
              </c:pt>
              <c:pt idx="186">
                <c:v>31.166666666666668</c:v>
              </c:pt>
              <c:pt idx="187">
                <c:v>31.333333333333332</c:v>
              </c:pt>
              <c:pt idx="188">
                <c:v>31.5</c:v>
              </c:pt>
              <c:pt idx="189">
                <c:v>31.666666666666668</c:v>
              </c:pt>
              <c:pt idx="190">
                <c:v>31.833333333333332</c:v>
              </c:pt>
              <c:pt idx="191">
                <c:v>32</c:v>
              </c:pt>
              <c:pt idx="192">
                <c:v>32.166666666666664</c:v>
              </c:pt>
              <c:pt idx="193">
                <c:v>32.333333333333336</c:v>
              </c:pt>
              <c:pt idx="194">
                <c:v>32.5</c:v>
              </c:pt>
              <c:pt idx="195">
                <c:v>32.666666666666664</c:v>
              </c:pt>
              <c:pt idx="196">
                <c:v>32.833333333333336</c:v>
              </c:pt>
              <c:pt idx="197">
                <c:v>33</c:v>
              </c:pt>
              <c:pt idx="198">
                <c:v>33.166666666666664</c:v>
              </c:pt>
              <c:pt idx="199">
                <c:v>33.333333333333336</c:v>
              </c:pt>
              <c:pt idx="200">
                <c:v>33.5</c:v>
              </c:pt>
              <c:pt idx="201">
                <c:v>33.666666666666664</c:v>
              </c:pt>
              <c:pt idx="202">
                <c:v>33.833333333333336</c:v>
              </c:pt>
              <c:pt idx="203">
                <c:v>34</c:v>
              </c:pt>
              <c:pt idx="204">
                <c:v>34.166666666666664</c:v>
              </c:pt>
              <c:pt idx="205">
                <c:v>34.333333333333336</c:v>
              </c:pt>
              <c:pt idx="206">
                <c:v>34.5</c:v>
              </c:pt>
              <c:pt idx="207">
                <c:v>34.666666666666664</c:v>
              </c:pt>
              <c:pt idx="208">
                <c:v>34.833333333333336</c:v>
              </c:pt>
              <c:pt idx="209">
                <c:v>35</c:v>
              </c:pt>
              <c:pt idx="210">
                <c:v>35.166666666666664</c:v>
              </c:pt>
              <c:pt idx="211">
                <c:v>35.333333333333336</c:v>
              </c:pt>
              <c:pt idx="212">
                <c:v>35.5</c:v>
              </c:pt>
              <c:pt idx="213">
                <c:v>35.666666666666664</c:v>
              </c:pt>
              <c:pt idx="214">
                <c:v>35.833333333333336</c:v>
              </c:pt>
              <c:pt idx="215">
                <c:v>36</c:v>
              </c:pt>
              <c:pt idx="216">
                <c:v>36.166666666666664</c:v>
              </c:pt>
              <c:pt idx="217">
                <c:v>36.333333333333336</c:v>
              </c:pt>
              <c:pt idx="218">
                <c:v>36.5</c:v>
              </c:pt>
              <c:pt idx="219">
                <c:v>36.666666666666664</c:v>
              </c:pt>
              <c:pt idx="220">
                <c:v>36.833333333333336</c:v>
              </c:pt>
              <c:pt idx="221">
                <c:v>37</c:v>
              </c:pt>
              <c:pt idx="222">
                <c:v>37.166666666666664</c:v>
              </c:pt>
              <c:pt idx="223">
                <c:v>37.333333333333336</c:v>
              </c:pt>
              <c:pt idx="224">
                <c:v>37.5</c:v>
              </c:pt>
              <c:pt idx="225">
                <c:v>37.666666666666664</c:v>
              </c:pt>
              <c:pt idx="226">
                <c:v>37.833333333333336</c:v>
              </c:pt>
              <c:pt idx="227">
                <c:v>38</c:v>
              </c:pt>
              <c:pt idx="228">
                <c:v>38.166666666666664</c:v>
              </c:pt>
              <c:pt idx="229">
                <c:v>38.333333333333336</c:v>
              </c:pt>
              <c:pt idx="230">
                <c:v>38.5</c:v>
              </c:pt>
              <c:pt idx="231">
                <c:v>38.666666666666664</c:v>
              </c:pt>
              <c:pt idx="232">
                <c:v>38.833333333333336</c:v>
              </c:pt>
              <c:pt idx="233">
                <c:v>39</c:v>
              </c:pt>
              <c:pt idx="234">
                <c:v>39.166666666666664</c:v>
              </c:pt>
              <c:pt idx="235">
                <c:v>39.333333333333336</c:v>
              </c:pt>
              <c:pt idx="236">
                <c:v>39.5</c:v>
              </c:pt>
              <c:pt idx="237">
                <c:v>39.666666666666664</c:v>
              </c:pt>
              <c:pt idx="238">
                <c:v>39.833333333333336</c:v>
              </c:pt>
              <c:pt idx="239">
                <c:v>40</c:v>
              </c:pt>
              <c:pt idx="240">
                <c:v>40.166666666666664</c:v>
              </c:pt>
              <c:pt idx="241">
                <c:v>40.333333333333336</c:v>
              </c:pt>
              <c:pt idx="242">
                <c:v>40.5</c:v>
              </c:pt>
              <c:pt idx="243">
                <c:v>40.666666666666664</c:v>
              </c:pt>
              <c:pt idx="244">
                <c:v>40.833333333333336</c:v>
              </c:pt>
              <c:pt idx="245">
                <c:v>41</c:v>
              </c:pt>
              <c:pt idx="246">
                <c:v>41.166666666666664</c:v>
              </c:pt>
              <c:pt idx="247">
                <c:v>41.333333333333336</c:v>
              </c:pt>
              <c:pt idx="248">
                <c:v>41.5</c:v>
              </c:pt>
              <c:pt idx="249">
                <c:v>41.666666666666664</c:v>
              </c:pt>
              <c:pt idx="250">
                <c:v>41.833333333333336</c:v>
              </c:pt>
              <c:pt idx="251">
                <c:v>42</c:v>
              </c:pt>
              <c:pt idx="252">
                <c:v>42.166666666666664</c:v>
              </c:pt>
              <c:pt idx="253">
                <c:v>42.333333333333336</c:v>
              </c:pt>
              <c:pt idx="254">
                <c:v>42.5</c:v>
              </c:pt>
              <c:pt idx="255">
                <c:v>42.666666666666664</c:v>
              </c:pt>
              <c:pt idx="256">
                <c:v>42.833333333333336</c:v>
              </c:pt>
              <c:pt idx="257">
                <c:v>43</c:v>
              </c:pt>
              <c:pt idx="258">
                <c:v>43.166666666666664</c:v>
              </c:pt>
              <c:pt idx="259">
                <c:v>43.333333333333336</c:v>
              </c:pt>
              <c:pt idx="260">
                <c:v>43.5</c:v>
              </c:pt>
              <c:pt idx="261">
                <c:v>43.666666666666664</c:v>
              </c:pt>
              <c:pt idx="262">
                <c:v>43.833333333333336</c:v>
              </c:pt>
              <c:pt idx="263">
                <c:v>44</c:v>
              </c:pt>
              <c:pt idx="264">
                <c:v>44.166666666666664</c:v>
              </c:pt>
              <c:pt idx="265">
                <c:v>44.333333333333336</c:v>
              </c:pt>
              <c:pt idx="266">
                <c:v>44.5</c:v>
              </c:pt>
              <c:pt idx="267">
                <c:v>44.666666666666664</c:v>
              </c:pt>
              <c:pt idx="268">
                <c:v>44.833333333333336</c:v>
              </c:pt>
              <c:pt idx="269">
                <c:v>45</c:v>
              </c:pt>
              <c:pt idx="270">
                <c:v>45.166666666666664</c:v>
              </c:pt>
              <c:pt idx="271">
                <c:v>45.333333333333336</c:v>
              </c:pt>
              <c:pt idx="272">
                <c:v>45.5</c:v>
              </c:pt>
              <c:pt idx="273">
                <c:v>45.666666666666664</c:v>
              </c:pt>
              <c:pt idx="274">
                <c:v>45.833333333333336</c:v>
              </c:pt>
              <c:pt idx="275">
                <c:v>46</c:v>
              </c:pt>
              <c:pt idx="276">
                <c:v>46.166666666666664</c:v>
              </c:pt>
              <c:pt idx="277">
                <c:v>46.333333333333336</c:v>
              </c:pt>
              <c:pt idx="278">
                <c:v>46.5</c:v>
              </c:pt>
              <c:pt idx="279">
                <c:v>46.666666666666664</c:v>
              </c:pt>
              <c:pt idx="280">
                <c:v>46.833333333333336</c:v>
              </c:pt>
              <c:pt idx="281">
                <c:v>47</c:v>
              </c:pt>
              <c:pt idx="282">
                <c:v>47.166666666666664</c:v>
              </c:pt>
              <c:pt idx="283">
                <c:v>47.333333333333336</c:v>
              </c:pt>
              <c:pt idx="284">
                <c:v>47.5</c:v>
              </c:pt>
              <c:pt idx="285">
                <c:v>47.666666666666664</c:v>
              </c:pt>
              <c:pt idx="286">
                <c:v>47.833333333333336</c:v>
              </c:pt>
              <c:pt idx="287">
                <c:v>48</c:v>
              </c:pt>
              <c:pt idx="288">
                <c:v>48.166666666666664</c:v>
              </c:pt>
              <c:pt idx="289">
                <c:v>48.333333333333336</c:v>
              </c:pt>
              <c:pt idx="290">
                <c:v>48.5</c:v>
              </c:pt>
              <c:pt idx="291">
                <c:v>48.666666666666664</c:v>
              </c:pt>
              <c:pt idx="292">
                <c:v>48.833333333333336</c:v>
              </c:pt>
              <c:pt idx="293">
                <c:v>49</c:v>
              </c:pt>
              <c:pt idx="294">
                <c:v>49.166666666666664</c:v>
              </c:pt>
              <c:pt idx="295">
                <c:v>49.333333333333336</c:v>
              </c:pt>
              <c:pt idx="296">
                <c:v>49.5</c:v>
              </c:pt>
              <c:pt idx="297">
                <c:v>49.666666666666664</c:v>
              </c:pt>
              <c:pt idx="298">
                <c:v>49.833333333333336</c:v>
              </c:pt>
              <c:pt idx="299">
                <c:v>50</c:v>
              </c:pt>
              <c:pt idx="300">
                <c:v>50.166666666666664</c:v>
              </c:pt>
              <c:pt idx="301">
                <c:v>50.333333333333336</c:v>
              </c:pt>
              <c:pt idx="302">
                <c:v>50.5</c:v>
              </c:pt>
              <c:pt idx="303">
                <c:v>50.666666666666664</c:v>
              </c:pt>
              <c:pt idx="304">
                <c:v>50.833333333333336</c:v>
              </c:pt>
              <c:pt idx="305">
                <c:v>51</c:v>
              </c:pt>
              <c:pt idx="306">
                <c:v>51.166666666666664</c:v>
              </c:pt>
              <c:pt idx="307">
                <c:v>51.333333333333336</c:v>
              </c:pt>
              <c:pt idx="308">
                <c:v>51.5</c:v>
              </c:pt>
              <c:pt idx="309">
                <c:v>51.666666666666664</c:v>
              </c:pt>
              <c:pt idx="310">
                <c:v>51.833333333333336</c:v>
              </c:pt>
              <c:pt idx="311">
                <c:v>52</c:v>
              </c:pt>
              <c:pt idx="312">
                <c:v>52.166666666666664</c:v>
              </c:pt>
              <c:pt idx="313">
                <c:v>52.333333333333336</c:v>
              </c:pt>
              <c:pt idx="314">
                <c:v>52.5</c:v>
              </c:pt>
              <c:pt idx="315">
                <c:v>52.666666666666664</c:v>
              </c:pt>
              <c:pt idx="316">
                <c:v>52.833333333333336</c:v>
              </c:pt>
              <c:pt idx="317">
                <c:v>53</c:v>
              </c:pt>
              <c:pt idx="318">
                <c:v>53.166666666666664</c:v>
              </c:pt>
              <c:pt idx="319">
                <c:v>53.333333333333336</c:v>
              </c:pt>
              <c:pt idx="320">
                <c:v>53.5</c:v>
              </c:pt>
              <c:pt idx="321">
                <c:v>53.666666666666664</c:v>
              </c:pt>
              <c:pt idx="322">
                <c:v>53.833333333333336</c:v>
              </c:pt>
              <c:pt idx="323">
                <c:v>54</c:v>
              </c:pt>
              <c:pt idx="324">
                <c:v>54.166666666666664</c:v>
              </c:pt>
              <c:pt idx="325">
                <c:v>54.333333333333336</c:v>
              </c:pt>
              <c:pt idx="326">
                <c:v>54.5</c:v>
              </c:pt>
              <c:pt idx="327">
                <c:v>54.666666666666664</c:v>
              </c:pt>
              <c:pt idx="328">
                <c:v>54.833333333333336</c:v>
              </c:pt>
              <c:pt idx="329">
                <c:v>55</c:v>
              </c:pt>
              <c:pt idx="330">
                <c:v>55.166666666666664</c:v>
              </c:pt>
              <c:pt idx="331">
                <c:v>55.333333333333336</c:v>
              </c:pt>
              <c:pt idx="332">
                <c:v>55.5</c:v>
              </c:pt>
              <c:pt idx="333">
                <c:v>55.666666666666664</c:v>
              </c:pt>
              <c:pt idx="334">
                <c:v>55.833333333333336</c:v>
              </c:pt>
              <c:pt idx="335">
                <c:v>56</c:v>
              </c:pt>
              <c:pt idx="336">
                <c:v>56.166666666666664</c:v>
              </c:pt>
              <c:pt idx="337">
                <c:v>56.333333333333336</c:v>
              </c:pt>
              <c:pt idx="338">
                <c:v>56.5</c:v>
              </c:pt>
              <c:pt idx="339">
                <c:v>56.666666666666664</c:v>
              </c:pt>
              <c:pt idx="340">
                <c:v>56.833333333333336</c:v>
              </c:pt>
              <c:pt idx="341">
                <c:v>57</c:v>
              </c:pt>
              <c:pt idx="342">
                <c:v>57.166666666666664</c:v>
              </c:pt>
              <c:pt idx="343">
                <c:v>57.333333333333336</c:v>
              </c:pt>
              <c:pt idx="344">
                <c:v>57.5</c:v>
              </c:pt>
              <c:pt idx="345">
                <c:v>57.666666666666664</c:v>
              </c:pt>
              <c:pt idx="346">
                <c:v>57.833333333333336</c:v>
              </c:pt>
              <c:pt idx="347">
                <c:v>58</c:v>
              </c:pt>
              <c:pt idx="348">
                <c:v>58.166666666666664</c:v>
              </c:pt>
              <c:pt idx="349">
                <c:v>58.333333333333336</c:v>
              </c:pt>
              <c:pt idx="350">
                <c:v>58.5</c:v>
              </c:pt>
              <c:pt idx="351">
                <c:v>58.666666666666664</c:v>
              </c:pt>
              <c:pt idx="352">
                <c:v>58.833333333333336</c:v>
              </c:pt>
              <c:pt idx="353">
                <c:v>59</c:v>
              </c:pt>
              <c:pt idx="354">
                <c:v>59.166666666666664</c:v>
              </c:pt>
              <c:pt idx="355">
                <c:v>59.333333333333336</c:v>
              </c:pt>
              <c:pt idx="356">
                <c:v>59.5</c:v>
              </c:pt>
              <c:pt idx="357">
                <c:v>59.666666666666664</c:v>
              </c:pt>
              <c:pt idx="358">
                <c:v>59.833333333333336</c:v>
              </c:pt>
              <c:pt idx="359">
                <c:v>60</c:v>
              </c:pt>
              <c:pt idx="360">
                <c:v>60.166666666666664</c:v>
              </c:pt>
              <c:pt idx="361">
                <c:v>60.333333333333336</c:v>
              </c:pt>
              <c:pt idx="362">
                <c:v>60.5</c:v>
              </c:pt>
              <c:pt idx="363">
                <c:v>60.666666666666664</c:v>
              </c:pt>
              <c:pt idx="364">
                <c:v>60.833333333333336</c:v>
              </c:pt>
              <c:pt idx="365">
                <c:v>61</c:v>
              </c:pt>
              <c:pt idx="366">
                <c:v>61.166666666666664</c:v>
              </c:pt>
              <c:pt idx="367">
                <c:v>61.333333333333336</c:v>
              </c:pt>
              <c:pt idx="368">
                <c:v>61.5</c:v>
              </c:pt>
              <c:pt idx="369">
                <c:v>61.666666666666664</c:v>
              </c:pt>
              <c:pt idx="370">
                <c:v>61.833333333333336</c:v>
              </c:pt>
              <c:pt idx="371">
                <c:v>62</c:v>
              </c:pt>
              <c:pt idx="372">
                <c:v>62.166666666666664</c:v>
              </c:pt>
              <c:pt idx="373">
                <c:v>62.333333333333336</c:v>
              </c:pt>
              <c:pt idx="374">
                <c:v>62.5</c:v>
              </c:pt>
              <c:pt idx="375">
                <c:v>62.666666666666664</c:v>
              </c:pt>
              <c:pt idx="376">
                <c:v>62.833333333333336</c:v>
              </c:pt>
              <c:pt idx="377">
                <c:v>63</c:v>
              </c:pt>
              <c:pt idx="378">
                <c:v>63.166666666666664</c:v>
              </c:pt>
              <c:pt idx="379">
                <c:v>63.333333333333336</c:v>
              </c:pt>
              <c:pt idx="380">
                <c:v>63.5</c:v>
              </c:pt>
              <c:pt idx="381">
                <c:v>63.666666666666664</c:v>
              </c:pt>
              <c:pt idx="382">
                <c:v>63.833333333333336</c:v>
              </c:pt>
              <c:pt idx="383">
                <c:v>64</c:v>
              </c:pt>
              <c:pt idx="384">
                <c:v>64.16666666666667</c:v>
              </c:pt>
              <c:pt idx="385">
                <c:v>64.33333333333333</c:v>
              </c:pt>
              <c:pt idx="386">
                <c:v>64.5</c:v>
              </c:pt>
              <c:pt idx="387">
                <c:v>64.66666666666667</c:v>
              </c:pt>
              <c:pt idx="388">
                <c:v>64.83333333333333</c:v>
              </c:pt>
              <c:pt idx="389">
                <c:v>65</c:v>
              </c:pt>
              <c:pt idx="390">
                <c:v>65.16666666666667</c:v>
              </c:pt>
              <c:pt idx="391">
                <c:v>65.33333333333333</c:v>
              </c:pt>
              <c:pt idx="392">
                <c:v>65.5</c:v>
              </c:pt>
              <c:pt idx="393">
                <c:v>65.66666666666667</c:v>
              </c:pt>
              <c:pt idx="394">
                <c:v>65.83333333333333</c:v>
              </c:pt>
              <c:pt idx="395">
                <c:v>66</c:v>
              </c:pt>
              <c:pt idx="396">
                <c:v>66.16666666666667</c:v>
              </c:pt>
              <c:pt idx="397">
                <c:v>66.33333333333333</c:v>
              </c:pt>
              <c:pt idx="398">
                <c:v>66.5</c:v>
              </c:pt>
              <c:pt idx="399">
                <c:v>66.66666666666667</c:v>
              </c:pt>
              <c:pt idx="400">
                <c:v>66.83333333333333</c:v>
              </c:pt>
              <c:pt idx="401">
                <c:v>67</c:v>
              </c:pt>
              <c:pt idx="402">
                <c:v>67.16666666666667</c:v>
              </c:pt>
              <c:pt idx="403">
                <c:v>67.33333333333333</c:v>
              </c:pt>
              <c:pt idx="404">
                <c:v>67.5</c:v>
              </c:pt>
              <c:pt idx="405">
                <c:v>67.66666666666667</c:v>
              </c:pt>
              <c:pt idx="406">
                <c:v>67.83333333333333</c:v>
              </c:pt>
              <c:pt idx="407">
                <c:v>68</c:v>
              </c:pt>
              <c:pt idx="408">
                <c:v>68.16666666666667</c:v>
              </c:pt>
              <c:pt idx="409">
                <c:v>68.33333333333333</c:v>
              </c:pt>
              <c:pt idx="410">
                <c:v>68.5</c:v>
              </c:pt>
              <c:pt idx="411">
                <c:v>68.66666666666667</c:v>
              </c:pt>
              <c:pt idx="412">
                <c:v>68.83333333333333</c:v>
              </c:pt>
              <c:pt idx="413">
                <c:v>69</c:v>
              </c:pt>
              <c:pt idx="414">
                <c:v>69.16666666666667</c:v>
              </c:pt>
              <c:pt idx="415">
                <c:v>69.33333333333333</c:v>
              </c:pt>
              <c:pt idx="416">
                <c:v>69.5</c:v>
              </c:pt>
              <c:pt idx="417">
                <c:v>69.66666666666667</c:v>
              </c:pt>
              <c:pt idx="418">
                <c:v>69.83333333333333</c:v>
              </c:pt>
              <c:pt idx="419">
                <c:v>70</c:v>
              </c:pt>
              <c:pt idx="420">
                <c:v>70.16666666666667</c:v>
              </c:pt>
              <c:pt idx="421">
                <c:v>70.33333333333333</c:v>
              </c:pt>
              <c:pt idx="422">
                <c:v>70.5</c:v>
              </c:pt>
              <c:pt idx="423">
                <c:v>70.66666666666667</c:v>
              </c:pt>
              <c:pt idx="424">
                <c:v>70.83333333333333</c:v>
              </c:pt>
              <c:pt idx="425">
                <c:v>71</c:v>
              </c:pt>
              <c:pt idx="426">
                <c:v>71.16666666666667</c:v>
              </c:pt>
              <c:pt idx="427">
                <c:v>71.33333333333333</c:v>
              </c:pt>
              <c:pt idx="428">
                <c:v>71.5</c:v>
              </c:pt>
              <c:pt idx="429">
                <c:v>71.66666666666667</c:v>
              </c:pt>
              <c:pt idx="430">
                <c:v>71.83333333333333</c:v>
              </c:pt>
              <c:pt idx="431">
                <c:v>72</c:v>
              </c:pt>
              <c:pt idx="432">
                <c:v>72.16666666666667</c:v>
              </c:pt>
              <c:pt idx="433">
                <c:v>72.33333333333333</c:v>
              </c:pt>
              <c:pt idx="434">
                <c:v>72.5</c:v>
              </c:pt>
              <c:pt idx="435">
                <c:v>72.66666666666667</c:v>
              </c:pt>
              <c:pt idx="436">
                <c:v>72.83333333333333</c:v>
              </c:pt>
              <c:pt idx="437">
                <c:v>73</c:v>
              </c:pt>
              <c:pt idx="438">
                <c:v>73.16666666666667</c:v>
              </c:pt>
              <c:pt idx="439">
                <c:v>73.33333333333333</c:v>
              </c:pt>
              <c:pt idx="440">
                <c:v>73.5</c:v>
              </c:pt>
              <c:pt idx="441">
                <c:v>73.66666666666667</c:v>
              </c:pt>
              <c:pt idx="442">
                <c:v>73.83333333333333</c:v>
              </c:pt>
              <c:pt idx="443">
                <c:v>74</c:v>
              </c:pt>
              <c:pt idx="444">
                <c:v>74.16666666666667</c:v>
              </c:pt>
              <c:pt idx="445">
                <c:v>74.33333333333333</c:v>
              </c:pt>
              <c:pt idx="446">
                <c:v>74.5</c:v>
              </c:pt>
              <c:pt idx="447">
                <c:v>74.66666666666667</c:v>
              </c:pt>
              <c:pt idx="448">
                <c:v>74.83333333333333</c:v>
              </c:pt>
              <c:pt idx="449">
                <c:v>75</c:v>
              </c:pt>
              <c:pt idx="450">
                <c:v>75.16666666666667</c:v>
              </c:pt>
              <c:pt idx="451">
                <c:v>75.33333333333333</c:v>
              </c:pt>
              <c:pt idx="452">
                <c:v>75.5</c:v>
              </c:pt>
              <c:pt idx="453">
                <c:v>75.66666666666667</c:v>
              </c:pt>
              <c:pt idx="454">
                <c:v>75.83333333333333</c:v>
              </c:pt>
              <c:pt idx="455">
                <c:v>76</c:v>
              </c:pt>
              <c:pt idx="456">
                <c:v>76.16666666666667</c:v>
              </c:pt>
              <c:pt idx="457">
                <c:v>76.33333333333333</c:v>
              </c:pt>
              <c:pt idx="458">
                <c:v>76.5</c:v>
              </c:pt>
              <c:pt idx="459">
                <c:v>76.66666666666667</c:v>
              </c:pt>
              <c:pt idx="460">
                <c:v>76.83333333333333</c:v>
              </c:pt>
              <c:pt idx="461">
                <c:v>77</c:v>
              </c:pt>
              <c:pt idx="462">
                <c:v>77.16666666666667</c:v>
              </c:pt>
              <c:pt idx="463">
                <c:v>77.33333333333333</c:v>
              </c:pt>
              <c:pt idx="464">
                <c:v>77.5</c:v>
              </c:pt>
              <c:pt idx="465">
                <c:v>77.66666666666667</c:v>
              </c:pt>
              <c:pt idx="466">
                <c:v>77.83333333333333</c:v>
              </c:pt>
              <c:pt idx="467">
                <c:v>78</c:v>
              </c:pt>
              <c:pt idx="468">
                <c:v>78.16666666666667</c:v>
              </c:pt>
              <c:pt idx="469">
                <c:v>78.33333333333333</c:v>
              </c:pt>
              <c:pt idx="470">
                <c:v>78.5</c:v>
              </c:pt>
              <c:pt idx="471">
                <c:v>78.66666666666667</c:v>
              </c:pt>
              <c:pt idx="472">
                <c:v>78.83333333333333</c:v>
              </c:pt>
              <c:pt idx="473">
                <c:v>79</c:v>
              </c:pt>
              <c:pt idx="474">
                <c:v>79.16666666666667</c:v>
              </c:pt>
              <c:pt idx="475">
                <c:v>79.33333333333333</c:v>
              </c:pt>
              <c:pt idx="476">
                <c:v>79.5</c:v>
              </c:pt>
              <c:pt idx="477">
                <c:v>79.66666666666667</c:v>
              </c:pt>
              <c:pt idx="478">
                <c:v>79.83333333333333</c:v>
              </c:pt>
              <c:pt idx="479">
                <c:v>80</c:v>
              </c:pt>
              <c:pt idx="480">
                <c:v>80.16666666666667</c:v>
              </c:pt>
              <c:pt idx="481">
                <c:v>80.33333333333333</c:v>
              </c:pt>
              <c:pt idx="482">
                <c:v>80.5</c:v>
              </c:pt>
              <c:pt idx="483">
                <c:v>80.66666666666667</c:v>
              </c:pt>
              <c:pt idx="484">
                <c:v>80.83333333333333</c:v>
              </c:pt>
              <c:pt idx="485">
                <c:v>81</c:v>
              </c:pt>
              <c:pt idx="486">
                <c:v>81.16666666666667</c:v>
              </c:pt>
              <c:pt idx="487">
                <c:v>81.33333333333333</c:v>
              </c:pt>
              <c:pt idx="488">
                <c:v>81.5</c:v>
              </c:pt>
              <c:pt idx="489">
                <c:v>81.66666666666667</c:v>
              </c:pt>
              <c:pt idx="490">
                <c:v>81.83333333333333</c:v>
              </c:pt>
              <c:pt idx="491">
                <c:v>82</c:v>
              </c:pt>
              <c:pt idx="492">
                <c:v>82.16666666666667</c:v>
              </c:pt>
              <c:pt idx="493">
                <c:v>82.33333333333333</c:v>
              </c:pt>
              <c:pt idx="494">
                <c:v>82.5</c:v>
              </c:pt>
              <c:pt idx="495">
                <c:v>82.66666666666667</c:v>
              </c:pt>
              <c:pt idx="496">
                <c:v>82.83333333333333</c:v>
              </c:pt>
              <c:pt idx="497">
                <c:v>83</c:v>
              </c:pt>
              <c:pt idx="498">
                <c:v>83.16666666666667</c:v>
              </c:pt>
              <c:pt idx="499">
                <c:v>83.33333333333333</c:v>
              </c:pt>
              <c:pt idx="500">
                <c:v>83.5</c:v>
              </c:pt>
              <c:pt idx="501">
                <c:v>83.66666666666667</c:v>
              </c:pt>
              <c:pt idx="502">
                <c:v>83.83333333333333</c:v>
              </c:pt>
              <c:pt idx="503">
                <c:v>84</c:v>
              </c:pt>
              <c:pt idx="504">
                <c:v>84.16666666666667</c:v>
              </c:pt>
              <c:pt idx="505">
                <c:v>84.33333333333333</c:v>
              </c:pt>
              <c:pt idx="506">
                <c:v>84.5</c:v>
              </c:pt>
              <c:pt idx="507">
                <c:v>84.66666666666667</c:v>
              </c:pt>
              <c:pt idx="508">
                <c:v>84.83333333333333</c:v>
              </c:pt>
              <c:pt idx="509">
                <c:v>85</c:v>
              </c:pt>
              <c:pt idx="510">
                <c:v>85.16666666666667</c:v>
              </c:pt>
              <c:pt idx="511">
                <c:v>85.33333333333333</c:v>
              </c:pt>
              <c:pt idx="512">
                <c:v>85.5</c:v>
              </c:pt>
              <c:pt idx="513">
                <c:v>85.66666666666667</c:v>
              </c:pt>
              <c:pt idx="514">
                <c:v>85.83333333333333</c:v>
              </c:pt>
              <c:pt idx="515">
                <c:v>86</c:v>
              </c:pt>
              <c:pt idx="516">
                <c:v>86.16666666666667</c:v>
              </c:pt>
              <c:pt idx="517">
                <c:v>86.33333333333333</c:v>
              </c:pt>
              <c:pt idx="518">
                <c:v>86.5</c:v>
              </c:pt>
              <c:pt idx="519">
                <c:v>86.66666666666667</c:v>
              </c:pt>
              <c:pt idx="520">
                <c:v>86.83333333333333</c:v>
              </c:pt>
              <c:pt idx="521">
                <c:v>87</c:v>
              </c:pt>
              <c:pt idx="522">
                <c:v>87.16666666666667</c:v>
              </c:pt>
              <c:pt idx="523">
                <c:v>87.33333333333333</c:v>
              </c:pt>
              <c:pt idx="524">
                <c:v>87.5</c:v>
              </c:pt>
              <c:pt idx="525">
                <c:v>87.66666666666667</c:v>
              </c:pt>
              <c:pt idx="526">
                <c:v>87.83333333333333</c:v>
              </c:pt>
              <c:pt idx="527">
                <c:v>88</c:v>
              </c:pt>
              <c:pt idx="528">
                <c:v>88.16666666666667</c:v>
              </c:pt>
              <c:pt idx="529">
                <c:v>88.33333333333333</c:v>
              </c:pt>
              <c:pt idx="530">
                <c:v>88.5</c:v>
              </c:pt>
              <c:pt idx="531">
                <c:v>88.66666666666667</c:v>
              </c:pt>
              <c:pt idx="532">
                <c:v>88.83333333333333</c:v>
              </c:pt>
              <c:pt idx="533">
                <c:v>89</c:v>
              </c:pt>
              <c:pt idx="534">
                <c:v>89.16666666666667</c:v>
              </c:pt>
              <c:pt idx="535">
                <c:v>89.33333333333333</c:v>
              </c:pt>
              <c:pt idx="536">
                <c:v>89.5</c:v>
              </c:pt>
              <c:pt idx="537">
                <c:v>89.66666666666667</c:v>
              </c:pt>
              <c:pt idx="538">
                <c:v>89.83333333333333</c:v>
              </c:pt>
              <c:pt idx="539">
                <c:v>90</c:v>
              </c:pt>
              <c:pt idx="540">
                <c:v>90.16666666666667</c:v>
              </c:pt>
              <c:pt idx="541">
                <c:v>90.33333333333333</c:v>
              </c:pt>
              <c:pt idx="542">
                <c:v>90.5</c:v>
              </c:pt>
              <c:pt idx="543">
                <c:v>90.66666666666667</c:v>
              </c:pt>
              <c:pt idx="544">
                <c:v>90.83333333333333</c:v>
              </c:pt>
              <c:pt idx="545">
                <c:v>91</c:v>
              </c:pt>
              <c:pt idx="546">
                <c:v>91.16666666666667</c:v>
              </c:pt>
              <c:pt idx="547">
                <c:v>91.33333333333333</c:v>
              </c:pt>
              <c:pt idx="548">
                <c:v>91.5</c:v>
              </c:pt>
              <c:pt idx="549">
                <c:v>91.66666666666667</c:v>
              </c:pt>
              <c:pt idx="550">
                <c:v>91.83333333333333</c:v>
              </c:pt>
              <c:pt idx="551">
                <c:v>92</c:v>
              </c:pt>
              <c:pt idx="552">
                <c:v>92.16666666666667</c:v>
              </c:pt>
              <c:pt idx="553">
                <c:v>92.33333333333333</c:v>
              </c:pt>
              <c:pt idx="554">
                <c:v>92.5</c:v>
              </c:pt>
              <c:pt idx="555">
                <c:v>92.66666666666667</c:v>
              </c:pt>
              <c:pt idx="556">
                <c:v>92.83333333333333</c:v>
              </c:pt>
              <c:pt idx="557">
                <c:v>93</c:v>
              </c:pt>
              <c:pt idx="558">
                <c:v>93.16666666666667</c:v>
              </c:pt>
              <c:pt idx="559">
                <c:v>93.33333333333333</c:v>
              </c:pt>
              <c:pt idx="560">
                <c:v>93.5</c:v>
              </c:pt>
              <c:pt idx="561">
                <c:v>93.66666666666667</c:v>
              </c:pt>
              <c:pt idx="562">
                <c:v>93.83333333333333</c:v>
              </c:pt>
              <c:pt idx="563">
                <c:v>94</c:v>
              </c:pt>
              <c:pt idx="564">
                <c:v>94.16666666666667</c:v>
              </c:pt>
              <c:pt idx="565">
                <c:v>94.33333333333333</c:v>
              </c:pt>
              <c:pt idx="566">
                <c:v>94.5</c:v>
              </c:pt>
              <c:pt idx="567">
                <c:v>94.66666666666667</c:v>
              </c:pt>
              <c:pt idx="568">
                <c:v>94.83333333333333</c:v>
              </c:pt>
              <c:pt idx="569">
                <c:v>95</c:v>
              </c:pt>
              <c:pt idx="570">
                <c:v>95.16666666666667</c:v>
              </c:pt>
              <c:pt idx="571">
                <c:v>95.33333333333333</c:v>
              </c:pt>
              <c:pt idx="572">
                <c:v>95.5</c:v>
              </c:pt>
              <c:pt idx="573">
                <c:v>95.66666666666667</c:v>
              </c:pt>
              <c:pt idx="574">
                <c:v>95.83333333333333</c:v>
              </c:pt>
              <c:pt idx="575">
                <c:v>96</c:v>
              </c:pt>
              <c:pt idx="576">
                <c:v>96.16666666666667</c:v>
              </c:pt>
              <c:pt idx="577">
                <c:v>96.33333333333333</c:v>
              </c:pt>
              <c:pt idx="578">
                <c:v>96.5</c:v>
              </c:pt>
              <c:pt idx="579">
                <c:v>96.66666666666667</c:v>
              </c:pt>
              <c:pt idx="580">
                <c:v>96.83333333333333</c:v>
              </c:pt>
              <c:pt idx="581">
                <c:v>97</c:v>
              </c:pt>
              <c:pt idx="582">
                <c:v>97.16666666666667</c:v>
              </c:pt>
              <c:pt idx="583">
                <c:v>97.33333333333333</c:v>
              </c:pt>
              <c:pt idx="584">
                <c:v>97.5</c:v>
              </c:pt>
              <c:pt idx="585">
                <c:v>97.66666666666667</c:v>
              </c:pt>
              <c:pt idx="586">
                <c:v>97.83333333333333</c:v>
              </c:pt>
              <c:pt idx="587">
                <c:v>98</c:v>
              </c:pt>
              <c:pt idx="588">
                <c:v>98.16666666666667</c:v>
              </c:pt>
              <c:pt idx="589">
                <c:v>98.33333333333333</c:v>
              </c:pt>
              <c:pt idx="590">
                <c:v>98.5</c:v>
              </c:pt>
              <c:pt idx="591">
                <c:v>98.66666666666667</c:v>
              </c:pt>
              <c:pt idx="592">
                <c:v>98.83333333333333</c:v>
              </c:pt>
              <c:pt idx="593">
                <c:v>99</c:v>
              </c:pt>
              <c:pt idx="594">
                <c:v>99.16666666666667</c:v>
              </c:pt>
              <c:pt idx="595">
                <c:v>99.33333333333333</c:v>
              </c:pt>
              <c:pt idx="596">
                <c:v>99.5</c:v>
              </c:pt>
              <c:pt idx="597">
                <c:v>99.66666666666667</c:v>
              </c:pt>
              <c:pt idx="598">
                <c:v>99.83333333333333</c:v>
              </c:pt>
              <c:pt idx="599">
                <c:v>100</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Cumulative paths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50112"/>
      </c:valAx>
      <c:valAx>
        <c:axId val="48650112"/>
        <c:scaling>
          <c:orientation val="minMax"/>
          <c:max val="0.3"/>
          <c:min val="-7"/>
        </c:scaling>
        <c:delete val="0"/>
        <c:axPos val="b"/>
        <c:majorGridlines>
          <c:spPr>
            <a:ln xmlns:a="http://schemas.openxmlformats.org/drawingml/2006/main" w="9525">
              <a:solidFill>
                <a:srgbClr val="E6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log₁₀(paid / original risk)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C3355F-E677-474C-95E9-655F57593EF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How should we spend the next query?</a:t>
            </a:r>
          </a:p>
        </p:txBody>
      </p:sp>
      <p:sp>
        <p:nvSpPr>
          <p:cNvPr id="2" name="">
            <a:extLst xmlns:a="http://schemas.openxmlformats.org/drawingml/2006/main">
              <a:ext uri="{FF2B5EF4-FFF2-40B4-BE49-F238E27FC236}">
                <a16:creationId xmlns:a16="http://schemas.microsoft.com/office/drawing/2014/main" id="{7512FEAD-C4E1-4F75-9F87-EEE9244DBB0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59D076E-7D0A-461D-98C7-F3FE1F362C30}"/>
              </a:ext>
            </a:extLst>
          </p:cNvPr>
          <p:cNvSpPr>
            <a:spLocks xmlns:a="http://schemas.openxmlformats.org/drawingml/2006/main" noGrp="1"/>
          </p:cNvSpPr>
          <p:nvPr/>
        </p:nvSpPr>
        <p:spPr>
          <a:xfrm xmlns:a="http://schemas.openxmlformats.org/drawingml/2006/main">
            <a:off x="619125" y="159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92D3C"/>
                </a:solidFill>
                <a:latin typeface="Helvetica Neue"/>
                <a:ea typeface="Helvetica Neue"/>
                <a:cs typeface="Helvetica Neue"/>
              </a:defRPr>
            </a:pPr>
            <a:r>
              <a:rPr sz="3600" b="1">
                <a:solidFill>
                  <a:srgbClr val="192D3C"/>
                </a:solidFill>
                <a:latin typeface="Helvetica Neue"/>
                <a:ea typeface="Helvetica Neue"/>
                <a:cs typeface="Helvetica Neue"/>
              </a:rPr>
              <a:t>Adaptive Hutch++</a:t>
            </a:r>
          </a:p>
        </p:txBody>
      </p:sp>
      <p:sp>
        <p:nvSpPr>
          <p:cNvPr id="4" name="">
            <a:extLst xmlns:a="http://schemas.openxmlformats.org/drawingml/2006/main">
              <a:ext uri="{FF2B5EF4-FFF2-40B4-BE49-F238E27FC236}">
                <a16:creationId xmlns:a16="http://schemas.microsoft.com/office/drawing/2014/main" id="{3865DE50-C3D9-498A-9B96-016457944D31}"/>
              </a:ext>
            </a:extLst>
          </p:cNvPr>
          <p:cNvSpPr>
            <a:spLocks xmlns:a="http://schemas.openxmlformats.org/drawingml/2006/main" noGrp="1"/>
          </p:cNvSpPr>
          <p:nvPr/>
        </p:nvSpPr>
        <p:spPr>
          <a:xfrm xmlns:a="http://schemas.openxmlformats.org/drawingml/2006/main">
            <a:off x="638175" y="234315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586974"/>
                </a:solidFill>
                <a:latin typeface="Helvetica Neue"/>
                <a:ea typeface="Helvetica Neue"/>
                <a:cs typeface="Helvetica Neue"/>
              </a:defRPr>
            </a:pPr>
            <a:r>
              <a:rPr sz="2025" b="0">
                <a:solidFill>
                  <a:srgbClr val="586974"/>
                </a:solidFill>
                <a:latin typeface="Helvetica Neue"/>
                <a:ea typeface="Helvetica Neue"/>
                <a:cs typeface="Helvetica Neue"/>
              </a:rPr>
              <a:t>A guided research discussion with Swati</a:t>
            </a:r>
          </a:p>
        </p:txBody>
      </p:sp>
      <p:sp>
        <p:nvSpPr>
          <p:cNvPr id="5" name="">
            <a:extLst xmlns:a="http://schemas.openxmlformats.org/drawingml/2006/main">
              <a:ext uri="{FF2B5EF4-FFF2-40B4-BE49-F238E27FC236}">
                <a16:creationId xmlns:a16="http://schemas.microsoft.com/office/drawing/2014/main" id="{97C3F3E0-953A-4A41-8C6D-0ADBCF426979}"/>
              </a:ext>
            </a:extLst>
          </p:cNvPr>
          <p:cNvSpPr>
            <a:spLocks xmlns:a="http://schemas.openxmlformats.org/drawingml/2006/main" noGrp="1"/>
          </p:cNvSpPr>
          <p:nvPr/>
        </p:nvSpPr>
        <p:spPr>
          <a:xfrm xmlns:a="http://schemas.openxmlformats.org/drawingml/2006/main">
            <a:off x="647700" y="3924300"/>
            <a:ext cx="2905125" cy="13335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6" name="">
            <a:extLst xmlns:a="http://schemas.openxmlformats.org/drawingml/2006/main">
              <a:ext uri="{FF2B5EF4-FFF2-40B4-BE49-F238E27FC236}">
                <a16:creationId xmlns:a16="http://schemas.microsoft.com/office/drawing/2014/main" id="{6EB0195A-A706-44B6-80A8-3B4E56EAFB9B}"/>
              </a:ext>
            </a:extLst>
          </p:cNvPr>
          <p:cNvSpPr>
            <a:spLocks xmlns:a="http://schemas.openxmlformats.org/drawingml/2006/main" noGrp="1"/>
          </p:cNvSpPr>
          <p:nvPr/>
        </p:nvSpPr>
        <p:spPr>
          <a:xfrm xmlns:a="http://schemas.openxmlformats.org/drawingml/2006/main">
            <a:off x="819150" y="4038600"/>
            <a:ext cx="2562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One matrix-vector query</a:t>
            </a:r>
          </a:p>
        </p:txBody>
      </p:sp>
      <p:sp>
        <p:nvSpPr>
          <p:cNvPr id="7" name="">
            <a:extLst xmlns:a="http://schemas.openxmlformats.org/drawingml/2006/main">
              <a:ext uri="{FF2B5EF4-FFF2-40B4-BE49-F238E27FC236}">
                <a16:creationId xmlns:a16="http://schemas.microsoft.com/office/drawing/2014/main" id="{CF20C24F-E993-4862-AD90-D48EECAF785F}"/>
              </a:ext>
            </a:extLst>
          </p:cNvPr>
          <p:cNvSpPr>
            <a:spLocks xmlns:a="http://schemas.openxmlformats.org/drawingml/2006/main" noGrp="1"/>
          </p:cNvSpPr>
          <p:nvPr/>
        </p:nvSpPr>
        <p:spPr>
          <a:xfrm xmlns:a="http://schemas.openxmlformats.org/drawingml/2006/main">
            <a:off x="819150" y="4505325"/>
            <a:ext cx="25622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Our limited resource</a:t>
            </a:r>
          </a:p>
        </p:txBody>
      </p:sp>
      <p:sp>
        <p:nvSpPr>
          <p:cNvPr id="8" name="">
            <a:extLst xmlns:a="http://schemas.openxmlformats.org/drawingml/2006/main">
              <a:ext uri="{FF2B5EF4-FFF2-40B4-BE49-F238E27FC236}">
                <a16:creationId xmlns:a16="http://schemas.microsoft.com/office/drawing/2014/main" id="{33AB7340-B114-4CBB-8B6A-7760649E50D6}"/>
              </a:ext>
            </a:extLst>
          </p:cNvPr>
          <p:cNvSpPr>
            <a:spLocks xmlns:a="http://schemas.openxmlformats.org/drawingml/2006/main" noGrp="1"/>
          </p:cNvSpPr>
          <p:nvPr/>
        </p:nvSpPr>
        <p:spPr>
          <a:xfrm xmlns:a="http://schemas.openxmlformats.org/drawingml/2006/main">
            <a:off x="4724400" y="3333750"/>
            <a:ext cx="3381375" cy="120015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9" name="">
            <a:extLst xmlns:a="http://schemas.openxmlformats.org/drawingml/2006/main">
              <a:ext uri="{FF2B5EF4-FFF2-40B4-BE49-F238E27FC236}">
                <a16:creationId xmlns:a16="http://schemas.microsoft.com/office/drawing/2014/main" id="{3134B9AD-FB38-4377-9603-FEFA2B96D9A4}"/>
              </a:ext>
            </a:extLst>
          </p:cNvPr>
          <p:cNvSpPr>
            <a:spLocks xmlns:a="http://schemas.openxmlformats.org/drawingml/2006/main" noGrp="1"/>
          </p:cNvSpPr>
          <p:nvPr/>
        </p:nvSpPr>
        <p:spPr>
          <a:xfrm xmlns:a="http://schemas.openxmlformats.org/drawingml/2006/main">
            <a:off x="4895850" y="3448050"/>
            <a:ext cx="3038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Improve capture</a:t>
            </a:r>
          </a:p>
        </p:txBody>
      </p:sp>
      <p:sp>
        <p:nvSpPr>
          <p:cNvPr id="10" name="">
            <a:extLst xmlns:a="http://schemas.openxmlformats.org/drawingml/2006/main">
              <a:ext uri="{FF2B5EF4-FFF2-40B4-BE49-F238E27FC236}">
                <a16:creationId xmlns:a16="http://schemas.microsoft.com/office/drawing/2014/main" id="{DDED54F9-6B07-4DC3-A719-0540039BE3E7}"/>
              </a:ext>
            </a:extLst>
          </p:cNvPr>
          <p:cNvSpPr>
            <a:spLocks xmlns:a="http://schemas.openxmlformats.org/drawingml/2006/main" noGrp="1"/>
          </p:cNvSpPr>
          <p:nvPr/>
        </p:nvSpPr>
        <p:spPr>
          <a:xfrm xmlns:a="http://schemas.openxmlformats.org/drawingml/2006/main">
            <a:off x="4895850" y="3914775"/>
            <a:ext cx="3038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Leave less to estimate</a:t>
            </a:r>
          </a:p>
        </p:txBody>
      </p:sp>
      <p:sp>
        <p:nvSpPr>
          <p:cNvPr id="11" name="">
            <a:extLst xmlns:a="http://schemas.openxmlformats.org/drawingml/2006/main">
              <a:ext uri="{FF2B5EF4-FFF2-40B4-BE49-F238E27FC236}">
                <a16:creationId xmlns:a16="http://schemas.microsoft.com/office/drawing/2014/main" id="{D2034D3F-6E20-4847-AD91-2E5B66562DBE}"/>
              </a:ext>
            </a:extLst>
          </p:cNvPr>
          <p:cNvSpPr>
            <a:spLocks xmlns:a="http://schemas.openxmlformats.org/drawingml/2006/main" noGrp="1"/>
          </p:cNvSpPr>
          <p:nvPr/>
        </p:nvSpPr>
        <p:spPr>
          <a:xfrm xmlns:a="http://schemas.openxmlformats.org/drawingml/2006/main">
            <a:off x="8239125" y="4762500"/>
            <a:ext cx="3286125" cy="120015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12" name="">
            <a:extLst xmlns:a="http://schemas.openxmlformats.org/drawingml/2006/main">
              <a:ext uri="{FF2B5EF4-FFF2-40B4-BE49-F238E27FC236}">
                <a16:creationId xmlns:a16="http://schemas.microsoft.com/office/drawing/2014/main" id="{EDA35602-2CE8-44ED-BF0A-640BEEC72630}"/>
              </a:ext>
            </a:extLst>
          </p:cNvPr>
          <p:cNvSpPr>
            <a:spLocks xmlns:a="http://schemas.openxmlformats.org/drawingml/2006/main" noGrp="1"/>
          </p:cNvSpPr>
          <p:nvPr/>
        </p:nvSpPr>
        <p:spPr>
          <a:xfrm xmlns:a="http://schemas.openxmlformats.org/drawingml/2006/main">
            <a:off x="8410575" y="4876800"/>
            <a:ext cx="2943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Average the residual</a:t>
            </a:r>
          </a:p>
        </p:txBody>
      </p:sp>
      <p:sp>
        <p:nvSpPr>
          <p:cNvPr id="13" name="">
            <a:extLst xmlns:a="http://schemas.openxmlformats.org/drawingml/2006/main">
              <a:ext uri="{FF2B5EF4-FFF2-40B4-BE49-F238E27FC236}">
                <a16:creationId xmlns:a16="http://schemas.microsoft.com/office/drawing/2014/main" id="{32B94F1E-234E-44DC-8765-E4953EF40B93}"/>
              </a:ext>
            </a:extLst>
          </p:cNvPr>
          <p:cNvSpPr>
            <a:spLocks xmlns:a="http://schemas.openxmlformats.org/drawingml/2006/main" noGrp="1"/>
          </p:cNvSpPr>
          <p:nvPr/>
        </p:nvSpPr>
        <p:spPr>
          <a:xfrm xmlns:a="http://schemas.openxmlformats.org/drawingml/2006/main">
            <a:off x="8410575" y="5343525"/>
            <a:ext cx="2943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Reduce sampling noise</a:t>
            </a:r>
          </a:p>
        </p:txBody>
      </p:sp>
      <p:cxnSp>
        <p:nvCxnSpPr>
          <p:cNvPr id="29" name=""/>
          <p:cNvCxnSpPr>
            <a:stCxn xmlns:a="http://schemas.openxmlformats.org/drawingml/2006/main" id="5" idx="3"/>
            <a:endCxn xmlns:a="http://schemas.openxmlformats.org/drawingml/2006/main" id="8" idx="1"/>
          </p:cNvCxnSpPr>
          <p:nvPr/>
        </p:nvCxnSpPr>
        <p:spPr>
          <a:xfrm xmlns:a="http://schemas.openxmlformats.org/drawingml/2006/main" flipV="1">
            <a:off x="3552825" y="3933825"/>
            <a:ext cx="1171575" cy="657225"/>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30" name=""/>
          <p:cNvCxnSpPr>
            <a:stCxn xmlns:a="http://schemas.openxmlformats.org/drawingml/2006/main" id="5" idx="3"/>
            <a:endCxn xmlns:a="http://schemas.openxmlformats.org/drawingml/2006/main" id="11" idx="1"/>
          </p:cNvCxnSpPr>
          <p:nvPr/>
        </p:nvCxnSpPr>
        <p:spPr>
          <a:xfrm xmlns:a="http://schemas.openxmlformats.org/drawingml/2006/main">
            <a:off x="3552825" y="4591050"/>
            <a:ext cx="4686300" cy="771525"/>
          </a:xfrm>
          <a:prstGeom xmlns:a="http://schemas.openxmlformats.org/drawingml/2006/main" prst="bentConnector3">
            <a:avLst>
              <a:gd name="adj1" fmla="val 4878"/>
            </a:avLst>
          </a:prstGeom>
          <a:ln xmlns:a="http://schemas.openxmlformats.org/drawingml/2006/main" w="23813">
            <a:solidFill>
              <a:srgbClr val="31688E"/>
            </a:solidFill>
            <a:tailEnd type="triangle" w="sm" len="sm"/>
          </a:ln>
        </p:spPr>
      </p:cxnSp>
    </p:spTree>
    <p:extLst>
      <p:ext uri="{BB962C8B-B14F-4D97-AF65-F5344CB8AC3E}">
        <p14:creationId xmlns:p14="http://schemas.microsoft.com/office/powerpoint/2010/main" val="17041626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3A946E2-23CD-4BA1-9306-193DBABBBA1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target is the trace</a:t>
            </a:r>
          </a:p>
        </p:txBody>
      </p:sp>
      <p:sp>
        <p:nvSpPr>
          <p:cNvPr id="2" name="">
            <a:extLst xmlns:a="http://schemas.openxmlformats.org/drawingml/2006/main">
              <a:ext uri="{FF2B5EF4-FFF2-40B4-BE49-F238E27FC236}">
                <a16:creationId xmlns:a16="http://schemas.microsoft.com/office/drawing/2014/main" id="{543FA822-54EE-408C-B2E4-7E14BB3839D1}"/>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We can apply A to a vector, but want to avoid inspecting every entry.</a:t>
            </a:r>
          </a:p>
        </p:txBody>
      </p:sp>
      <p:sp>
        <p:nvSpPr>
          <p:cNvPr id="3" name="">
            <a:extLst xmlns:a="http://schemas.openxmlformats.org/drawingml/2006/main">
              <a:ext uri="{FF2B5EF4-FFF2-40B4-BE49-F238E27FC236}">
                <a16:creationId xmlns:a16="http://schemas.microsoft.com/office/drawing/2014/main" id="{49F1B2BA-79CE-45FF-9192-D31ADA1C31B3}"/>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36771FD-D0EE-40B1-86F6-23D0FA181864}"/>
              </a:ext>
            </a:extLst>
          </p:cNvPr>
          <p:cNvSpPr>
            <a:spLocks xmlns:a="http://schemas.openxmlformats.org/drawingml/2006/main" noGrp="1"/>
          </p:cNvSpPr>
          <p:nvPr/>
        </p:nvSpPr>
        <p:spPr>
          <a:xfrm xmlns:a="http://schemas.openxmlformats.org/drawingml/2006/main">
            <a:off x="790575" y="214312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67D9BF-265D-451F-B940-33C44505E32C}"/>
              </a:ext>
            </a:extLst>
          </p:cNvPr>
          <p:cNvSpPr>
            <a:spLocks xmlns:a="http://schemas.openxmlformats.org/drawingml/2006/main" noGrp="1"/>
          </p:cNvSpPr>
          <p:nvPr/>
        </p:nvSpPr>
        <p:spPr>
          <a:xfrm xmlns:a="http://schemas.openxmlformats.org/drawingml/2006/main">
            <a:off x="79057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43DF94E3-B400-4374-AAB1-88DEAE57E362}"/>
              </a:ext>
            </a:extLst>
          </p:cNvPr>
          <p:cNvSpPr>
            <a:spLocks xmlns:a="http://schemas.openxmlformats.org/drawingml/2006/main" noGrp="1"/>
          </p:cNvSpPr>
          <p:nvPr/>
        </p:nvSpPr>
        <p:spPr>
          <a:xfrm xmlns:a="http://schemas.openxmlformats.org/drawingml/2006/main">
            <a:off x="1685925" y="21431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98ABE8-02E9-4F51-85F8-F76B9EBE5F61}"/>
              </a:ext>
            </a:extLst>
          </p:cNvPr>
          <p:cNvSpPr>
            <a:spLocks xmlns:a="http://schemas.openxmlformats.org/drawingml/2006/main" noGrp="1"/>
          </p:cNvSpPr>
          <p:nvPr/>
        </p:nvSpPr>
        <p:spPr>
          <a:xfrm xmlns:a="http://schemas.openxmlformats.org/drawingml/2006/main">
            <a:off x="168592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C62D2C3E-658C-4706-843A-BDDA0CE08553}"/>
              </a:ext>
            </a:extLst>
          </p:cNvPr>
          <p:cNvSpPr>
            <a:spLocks xmlns:a="http://schemas.openxmlformats.org/drawingml/2006/main" noGrp="1"/>
          </p:cNvSpPr>
          <p:nvPr/>
        </p:nvSpPr>
        <p:spPr>
          <a:xfrm xmlns:a="http://schemas.openxmlformats.org/drawingml/2006/main">
            <a:off x="2581275" y="21431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608DDD-0EEB-4DF0-840C-6C5F528A4D84}"/>
              </a:ext>
            </a:extLst>
          </p:cNvPr>
          <p:cNvSpPr>
            <a:spLocks xmlns:a="http://schemas.openxmlformats.org/drawingml/2006/main" noGrp="1"/>
          </p:cNvSpPr>
          <p:nvPr/>
        </p:nvSpPr>
        <p:spPr>
          <a:xfrm xmlns:a="http://schemas.openxmlformats.org/drawingml/2006/main">
            <a:off x="2581275" y="21431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B8B0923E-A5BE-4C78-B730-4D4A3178D96F}"/>
              </a:ext>
            </a:extLst>
          </p:cNvPr>
          <p:cNvSpPr>
            <a:spLocks xmlns:a="http://schemas.openxmlformats.org/drawingml/2006/main" noGrp="1"/>
          </p:cNvSpPr>
          <p:nvPr/>
        </p:nvSpPr>
        <p:spPr>
          <a:xfrm xmlns:a="http://schemas.openxmlformats.org/drawingml/2006/main">
            <a:off x="790575" y="303847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4D5F6A-79BB-44C9-A8F6-B0FEEBD9B4D8}"/>
              </a:ext>
            </a:extLst>
          </p:cNvPr>
          <p:cNvSpPr>
            <a:spLocks xmlns:a="http://schemas.openxmlformats.org/drawingml/2006/main" noGrp="1"/>
          </p:cNvSpPr>
          <p:nvPr/>
        </p:nvSpPr>
        <p:spPr>
          <a:xfrm xmlns:a="http://schemas.openxmlformats.org/drawingml/2006/main">
            <a:off x="79057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3D03B36B-82AE-488C-9D6A-11786F238670}"/>
              </a:ext>
            </a:extLst>
          </p:cNvPr>
          <p:cNvSpPr>
            <a:spLocks xmlns:a="http://schemas.openxmlformats.org/drawingml/2006/main" noGrp="1"/>
          </p:cNvSpPr>
          <p:nvPr/>
        </p:nvSpPr>
        <p:spPr>
          <a:xfrm xmlns:a="http://schemas.openxmlformats.org/drawingml/2006/main">
            <a:off x="1685925" y="303847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EE5842-0E2A-4E14-9666-18C56DF2258F}"/>
              </a:ext>
            </a:extLst>
          </p:cNvPr>
          <p:cNvSpPr>
            <a:spLocks xmlns:a="http://schemas.openxmlformats.org/drawingml/2006/main" noGrp="1"/>
          </p:cNvSpPr>
          <p:nvPr/>
        </p:nvSpPr>
        <p:spPr>
          <a:xfrm xmlns:a="http://schemas.openxmlformats.org/drawingml/2006/main">
            <a:off x="168592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02A0888E-3314-454F-AE87-9B10EEF614E2}"/>
              </a:ext>
            </a:extLst>
          </p:cNvPr>
          <p:cNvSpPr>
            <a:spLocks xmlns:a="http://schemas.openxmlformats.org/drawingml/2006/main" noGrp="1"/>
          </p:cNvSpPr>
          <p:nvPr/>
        </p:nvSpPr>
        <p:spPr>
          <a:xfrm xmlns:a="http://schemas.openxmlformats.org/drawingml/2006/main">
            <a:off x="2581275" y="303847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66F4185-5FE2-4E99-8A30-07BD427DA715}"/>
              </a:ext>
            </a:extLst>
          </p:cNvPr>
          <p:cNvSpPr>
            <a:spLocks xmlns:a="http://schemas.openxmlformats.org/drawingml/2006/main" noGrp="1"/>
          </p:cNvSpPr>
          <p:nvPr/>
        </p:nvSpPr>
        <p:spPr>
          <a:xfrm xmlns:a="http://schemas.openxmlformats.org/drawingml/2006/main">
            <a:off x="2581275" y="303847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3B3F363B-8E15-41E3-9F52-E5C0FF8D53D3}"/>
              </a:ext>
            </a:extLst>
          </p:cNvPr>
          <p:cNvSpPr>
            <a:spLocks xmlns:a="http://schemas.openxmlformats.org/drawingml/2006/main" noGrp="1"/>
          </p:cNvSpPr>
          <p:nvPr/>
        </p:nvSpPr>
        <p:spPr>
          <a:xfrm xmlns:a="http://schemas.openxmlformats.org/drawingml/2006/main">
            <a:off x="790575" y="39338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7BD6CBC-D0D9-46BD-BED8-E45D31C3C241}"/>
              </a:ext>
            </a:extLst>
          </p:cNvPr>
          <p:cNvSpPr>
            <a:spLocks xmlns:a="http://schemas.openxmlformats.org/drawingml/2006/main" noGrp="1"/>
          </p:cNvSpPr>
          <p:nvPr/>
        </p:nvSpPr>
        <p:spPr>
          <a:xfrm xmlns:a="http://schemas.openxmlformats.org/drawingml/2006/main">
            <a:off x="79057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B31B9157-594F-402B-AA36-D1C1899B6B0B}"/>
              </a:ext>
            </a:extLst>
          </p:cNvPr>
          <p:cNvSpPr>
            <a:spLocks xmlns:a="http://schemas.openxmlformats.org/drawingml/2006/main" noGrp="1"/>
          </p:cNvSpPr>
          <p:nvPr/>
        </p:nvSpPr>
        <p:spPr>
          <a:xfrm xmlns:a="http://schemas.openxmlformats.org/drawingml/2006/main">
            <a:off x="1685925" y="3933825"/>
            <a:ext cx="847725" cy="8477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587E09E-8782-4BE3-A8F7-EA718AF6E52E}"/>
              </a:ext>
            </a:extLst>
          </p:cNvPr>
          <p:cNvSpPr>
            <a:spLocks xmlns:a="http://schemas.openxmlformats.org/drawingml/2006/main" noGrp="1"/>
          </p:cNvSpPr>
          <p:nvPr/>
        </p:nvSpPr>
        <p:spPr>
          <a:xfrm xmlns:a="http://schemas.openxmlformats.org/drawingml/2006/main">
            <a:off x="168592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79DF7CBD-551E-49C6-ACD7-A304C599D97C}"/>
              </a:ext>
            </a:extLst>
          </p:cNvPr>
          <p:cNvSpPr>
            <a:spLocks xmlns:a="http://schemas.openxmlformats.org/drawingml/2006/main" noGrp="1"/>
          </p:cNvSpPr>
          <p:nvPr/>
        </p:nvSpPr>
        <p:spPr>
          <a:xfrm xmlns:a="http://schemas.openxmlformats.org/drawingml/2006/main">
            <a:off x="2581275" y="3933825"/>
            <a:ext cx="847725" cy="8477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1CD3B6D-4B80-472B-8350-D5207044F2A0}"/>
              </a:ext>
            </a:extLst>
          </p:cNvPr>
          <p:cNvSpPr>
            <a:spLocks xmlns:a="http://schemas.openxmlformats.org/drawingml/2006/main" noGrp="1"/>
          </p:cNvSpPr>
          <p:nvPr/>
        </p:nvSpPr>
        <p:spPr>
          <a:xfrm xmlns:a="http://schemas.openxmlformats.org/drawingml/2006/main">
            <a:off x="2581275" y="3933825"/>
            <a:ext cx="847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77603CE4-C3F4-493B-A6C6-3DF75EA70312}"/>
              </a:ext>
            </a:extLst>
          </p:cNvPr>
          <p:cNvSpPr>
            <a:spLocks xmlns:a="http://schemas.openxmlformats.org/drawingml/2006/main" noGrp="1"/>
          </p:cNvSpPr>
          <p:nvPr/>
        </p:nvSpPr>
        <p:spPr>
          <a:xfrm xmlns:a="http://schemas.openxmlformats.org/drawingml/2006/main">
            <a:off x="628650" y="5086350"/>
            <a:ext cx="521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37847F"/>
                </a:solidFill>
                <a:latin typeface="Helvetica Neue"/>
                <a:ea typeface="Helvetica Neue"/>
                <a:cs typeface="Helvetica Neue"/>
              </a:defRPr>
            </a:pPr>
            <a:r>
              <a:rPr sz="2700" b="1">
                <a:solidFill>
                  <a:srgbClr val="37847F"/>
                </a:solidFill>
                <a:latin typeface="Helvetica Neue"/>
                <a:ea typeface="Helvetica Neue"/>
                <a:cs typeface="Helvetica Neue"/>
              </a:rPr>
              <a:t>tr(A) = 4 + 2 + 1 = 7</a:t>
            </a:r>
          </a:p>
        </p:txBody>
      </p:sp>
      <p:sp>
        <p:nvSpPr>
          <p:cNvPr id="23" name="">
            <a:extLst xmlns:a="http://schemas.openxmlformats.org/drawingml/2006/main">
              <a:ext uri="{FF2B5EF4-FFF2-40B4-BE49-F238E27FC236}">
                <a16:creationId xmlns:a16="http://schemas.microsoft.com/office/drawing/2014/main" id="{84753C42-B16A-4FE0-94DD-F2AE85248C31}"/>
              </a:ext>
            </a:extLst>
          </p:cNvPr>
          <p:cNvSpPr>
            <a:spLocks xmlns:a="http://schemas.openxmlformats.org/drawingml/2006/main" noGrp="1"/>
          </p:cNvSpPr>
          <p:nvPr/>
        </p:nvSpPr>
        <p:spPr>
          <a:xfrm xmlns:a="http://schemas.openxmlformats.org/drawingml/2006/main">
            <a:off x="4810125" y="2276475"/>
            <a:ext cx="2428875" cy="12573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24" name="">
            <a:extLst xmlns:a="http://schemas.openxmlformats.org/drawingml/2006/main">
              <a:ext uri="{FF2B5EF4-FFF2-40B4-BE49-F238E27FC236}">
                <a16:creationId xmlns:a16="http://schemas.microsoft.com/office/drawing/2014/main" id="{779555F2-AE42-4EC2-8DEB-08A75BB0AEB3}"/>
              </a:ext>
            </a:extLst>
          </p:cNvPr>
          <p:cNvSpPr>
            <a:spLocks xmlns:a="http://schemas.openxmlformats.org/drawingml/2006/main" noGrp="1"/>
          </p:cNvSpPr>
          <p:nvPr/>
        </p:nvSpPr>
        <p:spPr>
          <a:xfrm xmlns:a="http://schemas.openxmlformats.org/drawingml/2006/main">
            <a:off x="4981575" y="2390775"/>
            <a:ext cx="2085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Input vector v</a:t>
            </a:r>
          </a:p>
        </p:txBody>
      </p:sp>
      <p:sp>
        <p:nvSpPr>
          <p:cNvPr id="25" name="">
            <a:extLst xmlns:a="http://schemas.openxmlformats.org/drawingml/2006/main">
              <a:ext uri="{FF2B5EF4-FFF2-40B4-BE49-F238E27FC236}">
                <a16:creationId xmlns:a16="http://schemas.microsoft.com/office/drawing/2014/main" id="{629E2C81-BFD0-4AD1-BDAF-2F8A582131A4}"/>
              </a:ext>
            </a:extLst>
          </p:cNvPr>
          <p:cNvSpPr>
            <a:spLocks xmlns:a="http://schemas.openxmlformats.org/drawingml/2006/main" noGrp="1"/>
          </p:cNvSpPr>
          <p:nvPr/>
        </p:nvSpPr>
        <p:spPr>
          <a:xfrm xmlns:a="http://schemas.openxmlformats.org/drawingml/2006/main">
            <a:off x="4981575" y="2857500"/>
            <a:ext cx="20859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One chosen direction</a:t>
            </a:r>
          </a:p>
        </p:txBody>
      </p:sp>
      <p:sp>
        <p:nvSpPr>
          <p:cNvPr id="26" name="">
            <a:extLst xmlns:a="http://schemas.openxmlformats.org/drawingml/2006/main">
              <a:ext uri="{FF2B5EF4-FFF2-40B4-BE49-F238E27FC236}">
                <a16:creationId xmlns:a16="http://schemas.microsoft.com/office/drawing/2014/main" id="{2C8793F5-3394-412D-9170-9616F1854057}"/>
              </a:ext>
            </a:extLst>
          </p:cNvPr>
          <p:cNvSpPr>
            <a:spLocks xmlns:a="http://schemas.openxmlformats.org/drawingml/2006/main" noGrp="1"/>
          </p:cNvSpPr>
          <p:nvPr/>
        </p:nvSpPr>
        <p:spPr>
          <a:xfrm xmlns:a="http://schemas.openxmlformats.org/drawingml/2006/main">
            <a:off x="8848725" y="2276475"/>
            <a:ext cx="2667000" cy="12573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27" name="">
            <a:extLst xmlns:a="http://schemas.openxmlformats.org/drawingml/2006/main">
              <a:ext uri="{FF2B5EF4-FFF2-40B4-BE49-F238E27FC236}">
                <a16:creationId xmlns:a16="http://schemas.microsoft.com/office/drawing/2014/main" id="{21899F47-C464-4FB7-8F73-9035B7EACAE6}"/>
              </a:ext>
            </a:extLst>
          </p:cNvPr>
          <p:cNvSpPr>
            <a:spLocks xmlns:a="http://schemas.openxmlformats.org/drawingml/2006/main" noGrp="1"/>
          </p:cNvSpPr>
          <p:nvPr/>
        </p:nvSpPr>
        <p:spPr>
          <a:xfrm xmlns:a="http://schemas.openxmlformats.org/drawingml/2006/main">
            <a:off x="9020175" y="2390775"/>
            <a:ext cx="2324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Matrix oracle</a:t>
            </a:r>
          </a:p>
        </p:txBody>
      </p:sp>
      <p:sp>
        <p:nvSpPr>
          <p:cNvPr id="28" name="">
            <a:extLst xmlns:a="http://schemas.openxmlformats.org/drawingml/2006/main">
              <a:ext uri="{FF2B5EF4-FFF2-40B4-BE49-F238E27FC236}">
                <a16:creationId xmlns:a16="http://schemas.microsoft.com/office/drawing/2014/main" id="{FD4B1399-3FE3-4255-9DAB-875F29216FA7}"/>
              </a:ext>
            </a:extLst>
          </p:cNvPr>
          <p:cNvSpPr>
            <a:spLocks xmlns:a="http://schemas.openxmlformats.org/drawingml/2006/main" noGrp="1"/>
          </p:cNvSpPr>
          <p:nvPr/>
        </p:nvSpPr>
        <p:spPr>
          <a:xfrm xmlns:a="http://schemas.openxmlformats.org/drawingml/2006/main">
            <a:off x="9020175" y="2857500"/>
            <a:ext cx="2324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Returns Av</a:t>
            </a:r>
          </a:p>
        </p:txBody>
      </p:sp>
      <p:cxnSp>
        <p:nvCxnSpPr>
          <p:cNvPr id="61" name=""/>
          <p:cNvCxnSpPr>
            <a:stCxn xmlns:a="http://schemas.openxmlformats.org/drawingml/2006/main" id="23" idx="3"/>
            <a:endCxn xmlns:a="http://schemas.openxmlformats.org/drawingml/2006/main" id="26" idx="1"/>
          </p:cNvCxnSpPr>
          <p:nvPr/>
        </p:nvCxnSpPr>
        <p:spPr>
          <a:xfrm xmlns:a="http://schemas.openxmlformats.org/drawingml/2006/main">
            <a:off x="7239000" y="2905125"/>
            <a:ext cx="1609725"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30" name="">
            <a:extLst xmlns:a="http://schemas.openxmlformats.org/drawingml/2006/main">
              <a:ext uri="{FF2B5EF4-FFF2-40B4-BE49-F238E27FC236}">
                <a16:creationId xmlns:a16="http://schemas.microsoft.com/office/drawing/2014/main" id="{F7A72F36-20C9-4EB7-959C-BD5367407048}"/>
              </a:ext>
            </a:extLst>
          </p:cNvPr>
          <p:cNvSpPr>
            <a:spLocks xmlns:a="http://schemas.openxmlformats.org/drawingml/2006/main" noGrp="1"/>
          </p:cNvSpPr>
          <p:nvPr/>
        </p:nvSpPr>
        <p:spPr>
          <a:xfrm xmlns:a="http://schemas.openxmlformats.org/drawingml/2006/main">
            <a:off x="4981575" y="4124325"/>
            <a:ext cx="6191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A random probe gives one noisy</a:t>
            </a:r>
          </a:p>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observation gᵀAg of the trace.</a:t>
            </a:r>
          </a:p>
        </p:txBody>
      </p:sp>
      <p:sp>
        <p:nvSpPr>
          <p:cNvPr id="31" name="">
            <a:extLst xmlns:a="http://schemas.openxmlformats.org/drawingml/2006/main">
              <a:ext uri="{FF2B5EF4-FFF2-40B4-BE49-F238E27FC236}">
                <a16:creationId xmlns:a16="http://schemas.microsoft.com/office/drawing/2014/main" id="{53364565-709F-4F07-AA3C-D9A693606981}"/>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48EF107-9F5F-4F7A-954E-8D7ED21C0269}"/>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For an isotropic probe, E[ggᵀ] = I, so E[gᵀAg] = tr(A). The matrix example is schematic.</a:t>
            </a:r>
          </a:p>
        </p:txBody>
      </p:sp>
    </p:spTree>
    <p:extLst>
      <p:ext uri="{BB962C8B-B14F-4D97-AF65-F5344CB8AC3E}">
        <p14:creationId xmlns:p14="http://schemas.microsoft.com/office/powerpoint/2010/main" val="7865971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7D71723-0EE2-4826-973D-62C70B4AD3A6}"/>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Hutch++ captures part and estimates the rest</a:t>
            </a:r>
          </a:p>
        </p:txBody>
      </p:sp>
      <p:sp>
        <p:nvSpPr>
          <p:cNvPr id="2" name="">
            <a:extLst xmlns:a="http://schemas.openxmlformats.org/drawingml/2006/main">
              <a:ext uri="{FF2B5EF4-FFF2-40B4-BE49-F238E27FC236}">
                <a16:creationId xmlns:a16="http://schemas.microsoft.com/office/drawing/2014/main" id="{7E64FB7A-6048-4B4E-87F4-ABF104754270}"/>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Random test vectors S produce AS. Its orthonormal directions form Q.</a:t>
            </a:r>
          </a:p>
        </p:txBody>
      </p:sp>
      <p:sp>
        <p:nvSpPr>
          <p:cNvPr id="3" name="">
            <a:extLst xmlns:a="http://schemas.openxmlformats.org/drawingml/2006/main">
              <a:ext uri="{FF2B5EF4-FFF2-40B4-BE49-F238E27FC236}">
                <a16:creationId xmlns:a16="http://schemas.microsoft.com/office/drawing/2014/main" id="{E5A7B9D1-00EF-4F41-B21B-D6D83512A23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3AAFF979-EE17-4810-BB1B-6AC30326B33D}"/>
              </a:ext>
            </a:extLst>
          </p:cNvPr>
          <p:cNvSpPr>
            <a:spLocks xmlns:a="http://schemas.openxmlformats.org/drawingml/2006/main" noGrp="1"/>
          </p:cNvSpPr>
          <p:nvPr/>
        </p:nvSpPr>
        <p:spPr>
          <a:xfrm xmlns:a="http://schemas.openxmlformats.org/drawingml/2006/main">
            <a:off x="619125" y="2057400"/>
            <a:ext cx="3714750" cy="14192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0764639B-8368-4DDB-9A1B-419535CC0AB7}"/>
              </a:ext>
            </a:extLst>
          </p:cNvPr>
          <p:cNvSpPr>
            <a:spLocks xmlns:a="http://schemas.openxmlformats.org/drawingml/2006/main" noGrp="1"/>
          </p:cNvSpPr>
          <p:nvPr/>
        </p:nvSpPr>
        <p:spPr>
          <a:xfrm xmlns:a="http://schemas.openxmlformats.org/drawingml/2006/main">
            <a:off x="790575" y="2171700"/>
            <a:ext cx="3371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Range sketch AS</a:t>
            </a:r>
          </a:p>
        </p:txBody>
      </p:sp>
      <p:sp>
        <p:nvSpPr>
          <p:cNvPr id="6" name="">
            <a:extLst xmlns:a="http://schemas.openxmlformats.org/drawingml/2006/main">
              <a:ext uri="{FF2B5EF4-FFF2-40B4-BE49-F238E27FC236}">
                <a16:creationId xmlns:a16="http://schemas.microsoft.com/office/drawing/2014/main" id="{BE4E06EB-FB7A-4FE3-8D74-FC1CAD78AF87}"/>
              </a:ext>
            </a:extLst>
          </p:cNvPr>
          <p:cNvSpPr>
            <a:spLocks xmlns:a="http://schemas.openxmlformats.org/drawingml/2006/main" noGrp="1"/>
          </p:cNvSpPr>
          <p:nvPr/>
        </p:nvSpPr>
        <p:spPr>
          <a:xfrm xmlns:a="http://schemas.openxmlformats.org/drawingml/2006/main">
            <a:off x="790575" y="2638425"/>
            <a:ext cx="33718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Build an orthonormal basis Q</a:t>
            </a:r>
          </a:p>
        </p:txBody>
      </p:sp>
      <p:sp>
        <p:nvSpPr>
          <p:cNvPr id="7" name="">
            <a:extLst xmlns:a="http://schemas.openxmlformats.org/drawingml/2006/main">
              <a:ext uri="{FF2B5EF4-FFF2-40B4-BE49-F238E27FC236}">
                <a16:creationId xmlns:a16="http://schemas.microsoft.com/office/drawing/2014/main" id="{0C466E12-2DC6-4C16-9F15-6EA35527B678}"/>
              </a:ext>
            </a:extLst>
          </p:cNvPr>
          <p:cNvSpPr>
            <a:spLocks xmlns:a="http://schemas.openxmlformats.org/drawingml/2006/main" noGrp="1"/>
          </p:cNvSpPr>
          <p:nvPr/>
        </p:nvSpPr>
        <p:spPr>
          <a:xfrm xmlns:a="http://schemas.openxmlformats.org/drawingml/2006/main">
            <a:off x="6515100" y="1962150"/>
            <a:ext cx="4972050" cy="11906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2E84CF3E-3464-4A05-B133-4D26626D4D08}"/>
              </a:ext>
            </a:extLst>
          </p:cNvPr>
          <p:cNvSpPr>
            <a:spLocks xmlns:a="http://schemas.openxmlformats.org/drawingml/2006/main" noGrp="1"/>
          </p:cNvSpPr>
          <p:nvPr/>
        </p:nvSpPr>
        <p:spPr>
          <a:xfrm xmlns:a="http://schemas.openxmlformats.org/drawingml/2006/main">
            <a:off x="6686550" y="2076450"/>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Captured trace</a:t>
            </a:r>
          </a:p>
        </p:txBody>
      </p:sp>
      <p:sp>
        <p:nvSpPr>
          <p:cNvPr id="9" name="">
            <a:extLst xmlns:a="http://schemas.openxmlformats.org/drawingml/2006/main">
              <a:ext uri="{FF2B5EF4-FFF2-40B4-BE49-F238E27FC236}">
                <a16:creationId xmlns:a16="http://schemas.microsoft.com/office/drawing/2014/main" id="{BD65FF95-8C3D-4A3A-BE9C-7020DB80B5EE}"/>
              </a:ext>
            </a:extLst>
          </p:cNvPr>
          <p:cNvSpPr>
            <a:spLocks xmlns:a="http://schemas.openxmlformats.org/drawingml/2006/main" noGrp="1"/>
          </p:cNvSpPr>
          <p:nvPr/>
        </p:nvSpPr>
        <p:spPr>
          <a:xfrm xmlns:a="http://schemas.openxmlformats.org/drawingml/2006/main">
            <a:off x="6686550" y="2543175"/>
            <a:ext cx="4629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Compute tr(QᵀAQ)</a:t>
            </a:r>
          </a:p>
        </p:txBody>
      </p:sp>
      <p:sp>
        <p:nvSpPr>
          <p:cNvPr id="10" name="">
            <a:extLst xmlns:a="http://schemas.openxmlformats.org/drawingml/2006/main">
              <a:ext uri="{FF2B5EF4-FFF2-40B4-BE49-F238E27FC236}">
                <a16:creationId xmlns:a16="http://schemas.microsoft.com/office/drawing/2014/main" id="{73EAAB34-978D-4D91-8A30-DB57ECEB6989}"/>
              </a:ext>
            </a:extLst>
          </p:cNvPr>
          <p:cNvSpPr>
            <a:spLocks xmlns:a="http://schemas.openxmlformats.org/drawingml/2006/main" noGrp="1"/>
          </p:cNvSpPr>
          <p:nvPr/>
        </p:nvSpPr>
        <p:spPr>
          <a:xfrm xmlns:a="http://schemas.openxmlformats.org/drawingml/2006/main">
            <a:off x="6515100" y="4019550"/>
            <a:ext cx="4972050" cy="13049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23C1F058-34BE-42FC-9DAC-45C18E7F2985}"/>
              </a:ext>
            </a:extLst>
          </p:cNvPr>
          <p:cNvSpPr>
            <a:spLocks xmlns:a="http://schemas.openxmlformats.org/drawingml/2006/main" noGrp="1"/>
          </p:cNvSpPr>
          <p:nvPr/>
        </p:nvSpPr>
        <p:spPr>
          <a:xfrm xmlns:a="http://schemas.openxmlformats.org/drawingml/2006/main">
            <a:off x="6686550" y="4133850"/>
            <a:ext cx="462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Residual trace</a:t>
            </a:r>
          </a:p>
        </p:txBody>
      </p:sp>
      <p:sp>
        <p:nvSpPr>
          <p:cNvPr id="12" name="">
            <a:extLst xmlns:a="http://schemas.openxmlformats.org/drawingml/2006/main">
              <a:ext uri="{FF2B5EF4-FFF2-40B4-BE49-F238E27FC236}">
                <a16:creationId xmlns:a16="http://schemas.microsoft.com/office/drawing/2014/main" id="{0FE5D145-D4EC-4AF7-9B59-5DB161E2312F}"/>
              </a:ext>
            </a:extLst>
          </p:cNvPr>
          <p:cNvSpPr>
            <a:spLocks xmlns:a="http://schemas.openxmlformats.org/drawingml/2006/main" noGrp="1"/>
          </p:cNvSpPr>
          <p:nvPr/>
        </p:nvSpPr>
        <p:spPr>
          <a:xfrm xmlns:a="http://schemas.openxmlformats.org/drawingml/2006/main">
            <a:off x="6686550" y="4600575"/>
            <a:ext cx="4629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Average fresh projected probes</a:t>
            </a:r>
          </a:p>
        </p:txBody>
      </p:sp>
      <p:cxnSp>
        <p:nvCxnSpPr>
          <p:cNvPr id="30" name=""/>
          <p:cNvCxnSpPr>
            <a:stCxn xmlns:a="http://schemas.openxmlformats.org/drawingml/2006/main" id="4" idx="3"/>
            <a:endCxn xmlns:a="http://schemas.openxmlformats.org/drawingml/2006/main" id="7" idx="1"/>
          </p:cNvCxnSpPr>
          <p:nvPr/>
        </p:nvCxnSpPr>
        <p:spPr>
          <a:xfrm xmlns:a="http://schemas.openxmlformats.org/drawingml/2006/main" flipV="1">
            <a:off x="4333875" y="2557463"/>
            <a:ext cx="2181225" cy="20955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31" name=""/>
          <p:cNvCxnSpPr>
            <a:stCxn xmlns:a="http://schemas.openxmlformats.org/drawingml/2006/main" id="4" idx="3"/>
            <a:endCxn xmlns:a="http://schemas.openxmlformats.org/drawingml/2006/main" id="10" idx="1"/>
          </p:cNvCxnSpPr>
          <p:nvPr/>
        </p:nvCxnSpPr>
        <p:spPr>
          <a:xfrm xmlns:a="http://schemas.openxmlformats.org/drawingml/2006/main">
            <a:off x="4333875" y="2767013"/>
            <a:ext cx="2181225" cy="190500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sp>
        <p:nvSpPr>
          <p:cNvPr id="15" name="">
            <a:extLst xmlns:a="http://schemas.openxmlformats.org/drawingml/2006/main">
              <a:ext uri="{FF2B5EF4-FFF2-40B4-BE49-F238E27FC236}">
                <a16:creationId xmlns:a16="http://schemas.microsoft.com/office/drawing/2014/main" id="{BD7DCDE6-3685-4CB8-A84C-8A29938F32A4}"/>
              </a:ext>
            </a:extLst>
          </p:cNvPr>
          <p:cNvSpPr>
            <a:spLocks xmlns:a="http://schemas.openxmlformats.org/drawingml/2006/main" noGrp="1"/>
          </p:cNvSpPr>
          <p:nvPr/>
        </p:nvSpPr>
        <p:spPr>
          <a:xfrm xmlns:a="http://schemas.openxmlformats.org/drawingml/2006/main">
            <a:off x="619125" y="5486400"/>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92D3C"/>
                </a:solidFill>
                <a:latin typeface="Helvetica Neue"/>
                <a:ea typeface="Helvetica Neue"/>
                <a:cs typeface="Helvetica Neue"/>
              </a:defRPr>
            </a:pPr>
            <a:r>
              <a:rPr sz="2550" b="1">
                <a:solidFill>
                  <a:srgbClr val="192D3C"/>
                </a:solidFill>
                <a:latin typeface="Helvetica Neue"/>
                <a:ea typeface="Helvetica Neue"/>
                <a:cs typeface="Helvetica Neue"/>
              </a:rPr>
              <a:t>Estimate = captured trace + residual estimate</a:t>
            </a:r>
          </a:p>
        </p:txBody>
      </p:sp>
      <p:sp>
        <p:nvSpPr>
          <p:cNvPr id="16" name="">
            <a:extLst xmlns:a="http://schemas.openxmlformats.org/drawingml/2006/main">
              <a:ext uri="{FF2B5EF4-FFF2-40B4-BE49-F238E27FC236}">
                <a16:creationId xmlns:a16="http://schemas.microsoft.com/office/drawing/2014/main" id="{04F2BD75-0D9D-49E2-AE86-170FCB583DE3}"/>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A596906-090E-4043-8990-3A28AB7FCDBF}"/>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Fresh isotropic probes make the residual estimate unbiased, even after choosing Q adaptively.</a:t>
            </a:r>
          </a:p>
        </p:txBody>
      </p:sp>
    </p:spTree>
    <p:extLst>
      <p:ext uri="{BB962C8B-B14F-4D97-AF65-F5344CB8AC3E}">
        <p14:creationId xmlns:p14="http://schemas.microsoft.com/office/powerpoint/2010/main" val="15403786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7787193-75F4-4B8B-A7F6-2A9143440263}"/>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Every query belongs in the budget</a:t>
            </a:r>
          </a:p>
        </p:txBody>
      </p:sp>
      <p:sp>
        <p:nvSpPr>
          <p:cNvPr id="2" name="">
            <a:extLst xmlns:a="http://schemas.openxmlformats.org/drawingml/2006/main">
              <a:ext uri="{FF2B5EF4-FFF2-40B4-BE49-F238E27FC236}">
                <a16:creationId xmlns:a16="http://schemas.microsoft.com/office/drawing/2014/main" id="{BDABAAF6-ADBB-4929-947B-1674276F9658}"/>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Attempted sketch columns and accepted directions are different counts.</a:t>
            </a:r>
          </a:p>
        </p:txBody>
      </p:sp>
      <p:sp>
        <p:nvSpPr>
          <p:cNvPr id="3" name="">
            <a:extLst xmlns:a="http://schemas.openxmlformats.org/drawingml/2006/main">
              <a:ext uri="{FF2B5EF4-FFF2-40B4-BE49-F238E27FC236}">
                <a16:creationId xmlns:a16="http://schemas.microsoft.com/office/drawing/2014/main" id="{57E3B640-FE22-47E4-9B58-0157DFE8876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194F2789-F4C8-46ED-A427-0ED264EDF9F0}"/>
              </a:ext>
            </a:extLst>
          </p:cNvPr>
          <p:cNvSpPr>
            <a:spLocks xmlns:a="http://schemas.openxmlformats.org/drawingml/2006/main" noGrp="1"/>
          </p:cNvSpPr>
          <p:nvPr/>
        </p:nvSpPr>
        <p:spPr>
          <a:xfrm xmlns:a="http://schemas.openxmlformats.org/drawingml/2006/main">
            <a:off x="619125" y="2105025"/>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q sketch products</a:t>
            </a:r>
          </a:p>
        </p:txBody>
      </p:sp>
      <p:sp>
        <p:nvSpPr>
          <p:cNvPr id="5" name="">
            <a:extLst xmlns:a="http://schemas.openxmlformats.org/drawingml/2006/main">
              <a:ext uri="{FF2B5EF4-FFF2-40B4-BE49-F238E27FC236}">
                <a16:creationId xmlns:a16="http://schemas.microsoft.com/office/drawing/2014/main" id="{0A325BF8-9358-48F5-84AC-2940BC858B1D}"/>
              </a:ext>
            </a:extLst>
          </p:cNvPr>
          <p:cNvSpPr>
            <a:spLocks xmlns:a="http://schemas.openxmlformats.org/drawingml/2006/main" noGrp="1"/>
          </p:cNvSpPr>
          <p:nvPr/>
        </p:nvSpPr>
        <p:spPr>
          <a:xfrm xmlns:a="http://schemas.openxmlformats.org/drawingml/2006/main">
            <a:off x="4476750" y="210502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r basis products</a:t>
            </a:r>
          </a:p>
        </p:txBody>
      </p:sp>
      <p:sp>
        <p:nvSpPr>
          <p:cNvPr id="6" name="">
            <a:extLst xmlns:a="http://schemas.openxmlformats.org/drawingml/2006/main">
              <a:ext uri="{FF2B5EF4-FFF2-40B4-BE49-F238E27FC236}">
                <a16:creationId xmlns:a16="http://schemas.microsoft.com/office/drawing/2014/main" id="{65E38F8E-B428-4D61-8BAE-8FA5363EDCC0}"/>
              </a:ext>
            </a:extLst>
          </p:cNvPr>
          <p:cNvSpPr>
            <a:spLocks xmlns:a="http://schemas.openxmlformats.org/drawingml/2006/main" noGrp="1"/>
          </p:cNvSpPr>
          <p:nvPr/>
        </p:nvSpPr>
        <p:spPr>
          <a:xfrm xmlns:a="http://schemas.openxmlformats.org/drawingml/2006/main">
            <a:off x="8096250" y="2105025"/>
            <a:ext cx="3486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ℓ residual probes</a:t>
            </a:r>
          </a:p>
        </p:txBody>
      </p:sp>
      <p:sp>
        <p:nvSpPr>
          <p:cNvPr id="7" name="">
            <a:extLst xmlns:a="http://schemas.openxmlformats.org/drawingml/2006/main">
              <a:ext uri="{FF2B5EF4-FFF2-40B4-BE49-F238E27FC236}">
                <a16:creationId xmlns:a16="http://schemas.microsoft.com/office/drawing/2014/main" id="{F7FA31E6-FBA5-4829-89B1-0C1A7B840D28}"/>
              </a:ext>
            </a:extLst>
          </p:cNvPr>
          <p:cNvSpPr>
            <a:spLocks xmlns:a="http://schemas.openxmlformats.org/drawingml/2006/main" noGrp="1"/>
          </p:cNvSpPr>
          <p:nvPr/>
        </p:nvSpPr>
        <p:spPr>
          <a:xfrm xmlns:a="http://schemas.openxmlformats.org/drawingml/2006/main">
            <a:off x="619125" y="26479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Build AS</a:t>
            </a:r>
          </a:p>
        </p:txBody>
      </p:sp>
      <p:sp>
        <p:nvSpPr>
          <p:cNvPr id="8" name="">
            <a:extLst xmlns:a="http://schemas.openxmlformats.org/drawingml/2006/main">
              <a:ext uri="{FF2B5EF4-FFF2-40B4-BE49-F238E27FC236}">
                <a16:creationId xmlns:a16="http://schemas.microsoft.com/office/drawing/2014/main" id="{229137CD-C968-4B0E-8820-9CDFF8BFDCE0}"/>
              </a:ext>
            </a:extLst>
          </p:cNvPr>
          <p:cNvSpPr>
            <a:spLocks xmlns:a="http://schemas.openxmlformats.org/drawingml/2006/main" noGrp="1"/>
          </p:cNvSpPr>
          <p:nvPr/>
        </p:nvSpPr>
        <p:spPr>
          <a:xfrm xmlns:a="http://schemas.openxmlformats.org/drawingml/2006/main">
            <a:off x="4476750" y="26479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Cache AQ</a:t>
            </a:r>
          </a:p>
        </p:txBody>
      </p:sp>
      <p:sp>
        <p:nvSpPr>
          <p:cNvPr id="9" name="">
            <a:extLst xmlns:a="http://schemas.openxmlformats.org/drawingml/2006/main">
              <a:ext uri="{FF2B5EF4-FFF2-40B4-BE49-F238E27FC236}">
                <a16:creationId xmlns:a16="http://schemas.microsoft.com/office/drawing/2014/main" id="{D2F5DB32-44CE-4648-B3E9-1D49D2FF2236}"/>
              </a:ext>
            </a:extLst>
          </p:cNvPr>
          <p:cNvSpPr>
            <a:spLocks xmlns:a="http://schemas.openxmlformats.org/drawingml/2006/main" noGrp="1"/>
          </p:cNvSpPr>
          <p:nvPr/>
        </p:nvSpPr>
        <p:spPr>
          <a:xfrm xmlns:a="http://schemas.openxmlformats.org/drawingml/2006/main">
            <a:off x="8096250" y="2647950"/>
            <a:ext cx="34861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92D3C"/>
                </a:solidFill>
                <a:latin typeface="Helvetica Neue"/>
                <a:ea typeface="Helvetica Neue"/>
                <a:cs typeface="Helvetica Neue"/>
              </a:defRPr>
            </a:pPr>
            <a:r>
              <a:rPr sz="2025" b="0">
                <a:solidFill>
                  <a:srgbClr val="192D3C"/>
                </a:solidFill>
                <a:latin typeface="Helvetica Neue"/>
                <a:ea typeface="Helvetica Neue"/>
                <a:cs typeface="Helvetica Neue"/>
              </a:rPr>
              <a:t>Estimate what remains</a:t>
            </a:r>
          </a:p>
        </p:txBody>
      </p:sp>
      <p:sp>
        <p:nvSpPr>
          <p:cNvPr id="10" name="">
            <a:extLst xmlns:a="http://schemas.openxmlformats.org/drawingml/2006/main">
              <a:ext uri="{FF2B5EF4-FFF2-40B4-BE49-F238E27FC236}">
                <a16:creationId xmlns:a16="http://schemas.microsoft.com/office/drawing/2014/main" id="{7BB9B9C5-C377-4039-868B-93633D9DFA3B}"/>
              </a:ext>
            </a:extLst>
          </p:cNvPr>
          <p:cNvSpPr>
            <a:spLocks xmlns:a="http://schemas.openxmlformats.org/drawingml/2006/main" noGrp="1"/>
          </p:cNvSpPr>
          <p:nvPr/>
        </p:nvSpPr>
        <p:spPr>
          <a:xfrm xmlns:a="http://schemas.openxmlformats.org/drawingml/2006/main">
            <a:off x="619125" y="3457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92D3C"/>
                </a:solidFill>
                <a:latin typeface="Helvetica Neue"/>
                <a:ea typeface="Helvetica Neue"/>
                <a:cs typeface="Helvetica Neue"/>
              </a:defRPr>
            </a:pPr>
            <a:r>
              <a:rPr sz="3600" b="1">
                <a:solidFill>
                  <a:srgbClr val="192D3C"/>
                </a:solidFill>
                <a:latin typeface="Helvetica Neue"/>
                <a:ea typeface="Helvetica Neue"/>
                <a:cs typeface="Helvetica Neue"/>
              </a:rPr>
              <a:t>q + r + ℓ = m</a:t>
            </a:r>
          </a:p>
        </p:txBody>
      </p:sp>
      <p:sp>
        <p:nvSpPr>
          <p:cNvPr id="11" name="">
            <a:extLst xmlns:a="http://schemas.openxmlformats.org/drawingml/2006/main">
              <a:ext uri="{FF2B5EF4-FFF2-40B4-BE49-F238E27FC236}">
                <a16:creationId xmlns:a16="http://schemas.microsoft.com/office/drawing/2014/main" id="{0A0D8729-038B-4740-8A82-DAD8BC6CAF2B}"/>
              </a:ext>
            </a:extLst>
          </p:cNvPr>
          <p:cNvSpPr>
            <a:spLocks xmlns:a="http://schemas.openxmlformats.org/drawingml/2006/main" noGrp="1"/>
          </p:cNvSpPr>
          <p:nvPr/>
        </p:nvSpPr>
        <p:spPr>
          <a:xfrm xmlns:a="http://schemas.openxmlformats.org/drawingml/2006/main">
            <a:off x="628650" y="4505325"/>
            <a:ext cx="1017984"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BD37D6-A7C2-4375-BC36-74E2CF1A6432}"/>
              </a:ext>
            </a:extLst>
          </p:cNvPr>
          <p:cNvSpPr>
            <a:spLocks xmlns:a="http://schemas.openxmlformats.org/drawingml/2006/main" noGrp="1"/>
          </p:cNvSpPr>
          <p:nvPr/>
        </p:nvSpPr>
        <p:spPr>
          <a:xfrm xmlns:a="http://schemas.openxmlformats.org/drawingml/2006/main">
            <a:off x="628650" y="457200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13" name="">
            <a:extLst xmlns:a="http://schemas.openxmlformats.org/drawingml/2006/main">
              <a:ext uri="{FF2B5EF4-FFF2-40B4-BE49-F238E27FC236}">
                <a16:creationId xmlns:a16="http://schemas.microsoft.com/office/drawing/2014/main" id="{C9077783-DA2D-46DB-A006-7856436D5DE4}"/>
              </a:ext>
            </a:extLst>
          </p:cNvPr>
          <p:cNvSpPr>
            <a:spLocks xmlns:a="http://schemas.openxmlformats.org/drawingml/2006/main" noGrp="1"/>
          </p:cNvSpPr>
          <p:nvPr/>
        </p:nvSpPr>
        <p:spPr>
          <a:xfrm xmlns:a="http://schemas.openxmlformats.org/drawingml/2006/main">
            <a:off x="1646634" y="4505325"/>
            <a:ext cx="1017984"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917E26-4E6D-46D8-911C-5AE2324BFCDD}"/>
              </a:ext>
            </a:extLst>
          </p:cNvPr>
          <p:cNvSpPr>
            <a:spLocks xmlns:a="http://schemas.openxmlformats.org/drawingml/2006/main" noGrp="1"/>
          </p:cNvSpPr>
          <p:nvPr/>
        </p:nvSpPr>
        <p:spPr>
          <a:xfrm xmlns:a="http://schemas.openxmlformats.org/drawingml/2006/main">
            <a:off x="1646634" y="457200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15" name="">
            <a:extLst xmlns:a="http://schemas.openxmlformats.org/drawingml/2006/main">
              <a:ext uri="{FF2B5EF4-FFF2-40B4-BE49-F238E27FC236}">
                <a16:creationId xmlns:a16="http://schemas.microsoft.com/office/drawing/2014/main" id="{DE8B6DBB-2772-4205-8625-B7D6CC58F824}"/>
              </a:ext>
            </a:extLst>
          </p:cNvPr>
          <p:cNvSpPr>
            <a:spLocks xmlns:a="http://schemas.openxmlformats.org/drawingml/2006/main" noGrp="1"/>
          </p:cNvSpPr>
          <p:nvPr/>
        </p:nvSpPr>
        <p:spPr>
          <a:xfrm xmlns:a="http://schemas.openxmlformats.org/drawingml/2006/main">
            <a:off x="2664619" y="450532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92CBDC9-DA36-470E-BB33-C0CB6C08A9DF}"/>
              </a:ext>
            </a:extLst>
          </p:cNvPr>
          <p:cNvSpPr>
            <a:spLocks xmlns:a="http://schemas.openxmlformats.org/drawingml/2006/main" noGrp="1"/>
          </p:cNvSpPr>
          <p:nvPr/>
        </p:nvSpPr>
        <p:spPr>
          <a:xfrm xmlns:a="http://schemas.openxmlformats.org/drawingml/2006/main">
            <a:off x="2664619" y="457200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17" name="">
            <a:extLst xmlns:a="http://schemas.openxmlformats.org/drawingml/2006/main">
              <a:ext uri="{FF2B5EF4-FFF2-40B4-BE49-F238E27FC236}">
                <a16:creationId xmlns:a16="http://schemas.microsoft.com/office/drawing/2014/main" id="{E1592A01-4E3A-4078-BDE5-86DB0E026BB4}"/>
              </a:ext>
            </a:extLst>
          </p:cNvPr>
          <p:cNvSpPr>
            <a:spLocks xmlns:a="http://schemas.openxmlformats.org/drawingml/2006/main" noGrp="1"/>
          </p:cNvSpPr>
          <p:nvPr/>
        </p:nvSpPr>
        <p:spPr>
          <a:xfrm xmlns:a="http://schemas.openxmlformats.org/drawingml/2006/main">
            <a:off x="628650" y="52673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15 sketch + 15 basis + 130 residual = 160 total</a:t>
            </a:r>
          </a:p>
        </p:txBody>
      </p:sp>
      <p:sp>
        <p:nvSpPr>
          <p:cNvPr id="18" name="">
            <a:extLst xmlns:a="http://schemas.openxmlformats.org/drawingml/2006/main">
              <a:ext uri="{FF2B5EF4-FFF2-40B4-BE49-F238E27FC236}">
                <a16:creationId xmlns:a16="http://schemas.microsoft.com/office/drawing/2014/main" id="{FF09BB90-7160-40D7-86C4-3C4EEE561DFB}"/>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B0DDEF-2400-4050-AB4E-A494CCBCC89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 rejected direction still costs a query. Only when r = q does ℓ = m − 2q.</a:t>
            </a:r>
          </a:p>
        </p:txBody>
      </p:sp>
    </p:spTree>
    <p:extLst>
      <p:ext uri="{BB962C8B-B14F-4D97-AF65-F5344CB8AC3E}">
        <p14:creationId xmlns:p14="http://schemas.microsoft.com/office/powerpoint/2010/main" val="6253042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BD15E0-18AA-4FCA-985E-8C627F132926}"/>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original idea: predict the remaining tail</a:t>
            </a:r>
          </a:p>
        </p:txBody>
      </p:sp>
      <p:sp>
        <p:nvSpPr>
          <p:cNvPr id="2" name="">
            <a:extLst xmlns:a="http://schemas.openxmlformats.org/drawingml/2006/main">
              <a:ext uri="{FF2B5EF4-FFF2-40B4-BE49-F238E27FC236}">
                <a16:creationId xmlns:a16="http://schemas.microsoft.com/office/drawing/2014/main" id="{AF9EC74F-1009-4B46-BE9A-7E335D4EC0D3}"/>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Assume we capture the q leading eigenvectors perfectly.</a:t>
            </a:r>
          </a:p>
        </p:txBody>
      </p:sp>
      <p:sp>
        <p:nvSpPr>
          <p:cNvPr id="3" name="">
            <a:extLst xmlns:a="http://schemas.openxmlformats.org/drawingml/2006/main">
              <a:ext uri="{FF2B5EF4-FFF2-40B4-BE49-F238E27FC236}">
                <a16:creationId xmlns:a16="http://schemas.microsoft.com/office/drawing/2014/main" id="{2C1C45D3-60FF-47AE-B9BD-B349E023BC6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05</a:t>
            </a:r>
          </a:p>
        </p:txBody>
      </p:sp>
      <p:graphicFrame>
        <p:nvGraphicFramePr>
          <p:cNvPr id="13" name="Chart"/>
          <p:cNvGraphicFramePr/>
          <p:nvPr/>
        </p:nvGraphicFramePr>
        <p:xfrm>
          <a:off xmlns:a="http://schemas.openxmlformats.org/drawingml/2006/main" x="619125" y="1885950"/>
          <a:ext xmlns:a="http://schemas.openxmlformats.org/drawingml/2006/main" cx="6819900" cy="3476625"/>
        </p:xfrm>
        <a:graphic xmlns:a="http://schemas.openxmlformats.org/drawingml/2006/main">
          <a:graphicData uri="http://schemas.openxmlformats.org/drawingml/2006/chart">
            <c:chart xmlns:r="http://schemas.openxmlformats.org/officeDocument/2006/relationships" xmlns:c="http://schemas.openxmlformats.org/drawingml/2006/chart" r:id="R7f410a73d12b4588"/>
          </a:graphicData>
        </a:graphic>
      </p:graphicFrame>
      <p:sp>
        <p:nvSpPr>
          <p:cNvPr id="5" name="">
            <a:extLst xmlns:a="http://schemas.openxmlformats.org/drawingml/2006/main">
              <a:ext uri="{FF2B5EF4-FFF2-40B4-BE49-F238E27FC236}">
                <a16:creationId xmlns:a16="http://schemas.microsoft.com/office/drawing/2014/main" id="{424FD193-5D9E-406B-8177-80AE25A130B3}"/>
              </a:ext>
            </a:extLst>
          </p:cNvPr>
          <p:cNvSpPr>
            <a:spLocks xmlns:a="http://schemas.openxmlformats.org/drawingml/2006/main" noGrp="1"/>
          </p:cNvSpPr>
          <p:nvPr/>
        </p:nvSpPr>
        <p:spPr>
          <a:xfrm xmlns:a="http://schemas.openxmlformats.org/drawingml/2006/main">
            <a:off x="7781925" y="2333625"/>
            <a:ext cx="3676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7847F"/>
                </a:solidFill>
                <a:latin typeface="Helvetica Neue"/>
                <a:ea typeface="Helvetica Neue"/>
                <a:cs typeface="Helvetica Neue"/>
              </a:defRPr>
            </a:pPr>
            <a:r>
              <a:rPr sz="2550" b="1">
                <a:solidFill>
                  <a:srgbClr val="37847F"/>
                </a:solidFill>
                <a:latin typeface="Helvetica Neue"/>
                <a:ea typeface="Helvetica Neue"/>
                <a:cs typeface="Helvetica Neue"/>
              </a:rPr>
              <a:t>T(q): tail energy</a:t>
            </a:r>
          </a:p>
        </p:txBody>
      </p:sp>
      <p:sp>
        <p:nvSpPr>
          <p:cNvPr id="6" name="">
            <a:extLst xmlns:a="http://schemas.openxmlformats.org/drawingml/2006/main">
              <a:ext uri="{FF2B5EF4-FFF2-40B4-BE49-F238E27FC236}">
                <a16:creationId xmlns:a16="http://schemas.microsoft.com/office/drawing/2014/main" id="{55A238F6-39F5-439D-A318-5E1FAF66BB69}"/>
              </a:ext>
            </a:extLst>
          </p:cNvPr>
          <p:cNvSpPr>
            <a:spLocks xmlns:a="http://schemas.openxmlformats.org/drawingml/2006/main" noGrp="1"/>
          </p:cNvSpPr>
          <p:nvPr/>
        </p:nvSpPr>
        <p:spPr>
          <a:xfrm xmlns:a="http://schemas.openxmlformats.org/drawingml/2006/main">
            <a:off x="7781925" y="3238500"/>
            <a:ext cx="36766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Sum the squared eigenvalues</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left after index q.</a:t>
            </a:r>
          </a:p>
        </p:txBody>
      </p:sp>
      <p:sp>
        <p:nvSpPr>
          <p:cNvPr id="7" name="">
            <a:extLst xmlns:a="http://schemas.openxmlformats.org/drawingml/2006/main">
              <a:ext uri="{FF2B5EF4-FFF2-40B4-BE49-F238E27FC236}">
                <a16:creationId xmlns:a16="http://schemas.microsoft.com/office/drawing/2014/main" id="{F5D0CAC2-783B-4CB1-B613-CA2E4B00BFA5}"/>
              </a:ext>
            </a:extLst>
          </p:cNvPr>
          <p:cNvSpPr>
            <a:spLocks xmlns:a="http://schemas.openxmlformats.org/drawingml/2006/main" noGrp="1"/>
          </p:cNvSpPr>
          <p:nvPr/>
        </p:nvSpPr>
        <p:spPr>
          <a:xfrm xmlns:a="http://schemas.openxmlformats.org/drawingml/2006/main">
            <a:off x="7781925" y="4591050"/>
            <a:ext cx="3676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Here q = 3</a:t>
            </a:r>
          </a:p>
        </p:txBody>
      </p:sp>
      <p:sp>
        <p:nvSpPr>
          <p:cNvPr id="8" name="">
            <a:extLst xmlns:a="http://schemas.openxmlformats.org/drawingml/2006/main">
              <a:ext uri="{FF2B5EF4-FFF2-40B4-BE49-F238E27FC236}">
                <a16:creationId xmlns:a16="http://schemas.microsoft.com/office/drawing/2014/main" id="{93A7EC7C-2522-4E3B-BFF3-E0D6C3CF70D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74F147-C69F-431D-93F7-40336012F63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Illustrative spectrum. The precise definition is T(q) = ∑ over i &gt; q of λᵢ².</a:t>
            </a:r>
          </a:p>
        </p:txBody>
      </p:sp>
    </p:spTree>
    <p:extLst>
      <p:ext uri="{BB962C8B-B14F-4D97-AF65-F5344CB8AC3E}">
        <p14:creationId xmlns:p14="http://schemas.microsoft.com/office/powerpoint/2010/main" val="18809633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172607-9FF4-45CD-96F2-CC9CEB4172BB}"/>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More capture leaves fewer residual probes</a:t>
            </a:r>
          </a:p>
        </p:txBody>
      </p:sp>
      <p:sp>
        <p:nvSpPr>
          <p:cNvPr id="2" name="">
            <a:extLst xmlns:a="http://schemas.openxmlformats.org/drawingml/2006/main">
              <a:ext uri="{FF2B5EF4-FFF2-40B4-BE49-F238E27FC236}">
                <a16:creationId xmlns:a16="http://schemas.microsoft.com/office/drawing/2014/main" id="{7A64422D-2439-495F-A7B3-744633E70CFB}"/>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Risk means expected squared estimation error. We balance tail and sample count.</a:t>
            </a:r>
          </a:p>
        </p:txBody>
      </p:sp>
      <p:sp>
        <p:nvSpPr>
          <p:cNvPr id="3" name="">
            <a:extLst xmlns:a="http://schemas.openxmlformats.org/drawingml/2006/main">
              <a:ext uri="{FF2B5EF4-FFF2-40B4-BE49-F238E27FC236}">
                <a16:creationId xmlns:a16="http://schemas.microsoft.com/office/drawing/2014/main" id="{D7BF9A09-83D8-4187-9858-8D978A444ADF}"/>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06</a:t>
            </a:r>
          </a:p>
        </p:txBody>
      </p:sp>
      <p:graphicFrame>
        <p:nvGraphicFramePr>
          <p:cNvPr id="12" name="Chart"/>
          <p:cNvGraphicFramePr/>
          <p:nvPr/>
        </p:nvGraphicFramePr>
        <p:xfrm>
          <a:off xmlns:a="http://schemas.openxmlformats.org/drawingml/2006/main" x="600075" y="2219325"/>
          <a:ext xmlns:a="http://schemas.openxmlformats.org/drawingml/2006/main" cx="4857750" cy="2962275"/>
        </p:xfrm>
        <a:graphic xmlns:a="http://schemas.openxmlformats.org/drawingml/2006/main">
          <a:graphicData uri="http://schemas.openxmlformats.org/drawingml/2006/chart">
            <c:chart xmlns:r="http://schemas.openxmlformats.org/officeDocument/2006/relationships" xmlns:c="http://schemas.openxmlformats.org/drawingml/2006/chart" r:id="Rc485f45c6b53417c"/>
          </a:graphicData>
        </a:graphic>
      </p:graphicFrame>
      <p:graphicFrame>
        <p:nvGraphicFramePr>
          <p:cNvPr id="13" name="Chart"/>
          <p:cNvGraphicFramePr/>
          <p:nvPr/>
        </p:nvGraphicFramePr>
        <p:xfrm>
          <a:off xmlns:a="http://schemas.openxmlformats.org/drawingml/2006/main" x="6343650" y="2219325"/>
          <a:ext xmlns:a="http://schemas.openxmlformats.org/drawingml/2006/main" cx="5219700" cy="2962275"/>
        </p:xfrm>
        <a:graphic xmlns:a="http://schemas.openxmlformats.org/drawingml/2006/main">
          <a:graphicData uri="http://schemas.openxmlformats.org/drawingml/2006/chart">
            <c:chart xmlns:r="http://schemas.openxmlformats.org/officeDocument/2006/relationships" xmlns:c="http://schemas.openxmlformats.org/drawingml/2006/chart" r:id="Rad7eb36b5b784900"/>
          </a:graphicData>
        </a:graphic>
      </p:graphicFrame>
      <p:sp>
        <p:nvSpPr>
          <p:cNvPr id="6" name="">
            <a:extLst xmlns:a="http://schemas.openxmlformats.org/drawingml/2006/main">
              <a:ext uri="{FF2B5EF4-FFF2-40B4-BE49-F238E27FC236}">
                <a16:creationId xmlns:a16="http://schemas.microsoft.com/office/drawing/2014/main" id="{E3BBB20A-D4C2-42AA-B15F-198381708715}"/>
              </a:ext>
            </a:extLst>
          </p:cNvPr>
          <p:cNvSpPr>
            <a:spLocks xmlns:a="http://schemas.openxmlformats.org/drawingml/2006/main" noGrp="1"/>
          </p:cNvSpPr>
          <p:nvPr/>
        </p:nvSpPr>
        <p:spPr>
          <a:xfrm xmlns:a="http://schemas.openxmlformats.org/drawingml/2006/main">
            <a:off x="628650" y="52863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31688E"/>
                </a:solidFill>
                <a:latin typeface="Helvetica Neue"/>
                <a:ea typeface="Helvetica Neue"/>
                <a:cs typeface="Helvetica Neue"/>
              </a:defRPr>
            </a:pPr>
            <a:r>
              <a:rPr sz="2475" b="1">
                <a:solidFill>
                  <a:srgbClr val="31688E"/>
                </a:solidFill>
                <a:latin typeface="Helvetica Neue"/>
                <a:ea typeface="Helvetica Neue"/>
                <a:cs typeface="Helvetica Neue"/>
              </a:rPr>
              <a:t>Choose q to minimize  2 × estimated tail / (m − 2q)</a:t>
            </a:r>
          </a:p>
        </p:txBody>
      </p:sp>
      <p:sp>
        <p:nvSpPr>
          <p:cNvPr id="7" name="">
            <a:extLst xmlns:a="http://schemas.openxmlformats.org/drawingml/2006/main">
              <a:ext uri="{FF2B5EF4-FFF2-40B4-BE49-F238E27FC236}">
                <a16:creationId xmlns:a16="http://schemas.microsoft.com/office/drawing/2014/main" id="{7B8805F4-D2A5-4997-A47B-5A58F3E1CF29}"/>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9CF25A-ECFD-459F-86F1-F14FF3246D7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Ideal Gaussian model: λᵢ = 1/i, d = 500, m = 160, r = q. Analytical illustration, not experimental data.</a:t>
            </a:r>
          </a:p>
        </p:txBody>
      </p:sp>
    </p:spTree>
    <p:extLst>
      <p:ext uri="{BB962C8B-B14F-4D97-AF65-F5344CB8AC3E}">
        <p14:creationId xmlns:p14="http://schemas.microsoft.com/office/powerpoint/2010/main" val="1678708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D1B6812-BEDB-4C35-9461-F2AFA1C3EC9A}"/>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One more useful direction must earn its cost</a:t>
            </a:r>
          </a:p>
        </p:txBody>
      </p:sp>
      <p:sp>
        <p:nvSpPr>
          <p:cNvPr id="2" name="">
            <a:extLst xmlns:a="http://schemas.openxmlformats.org/drawingml/2006/main">
              <a:ext uri="{FF2B5EF4-FFF2-40B4-BE49-F238E27FC236}">
                <a16:creationId xmlns:a16="http://schemas.microsoft.com/office/drawing/2014/main" id="{5C3902F4-B9A1-4784-9A00-69EC002FAB29}"/>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Running example: m = 160, with q = r = 15.</a:t>
            </a:r>
          </a:p>
        </p:txBody>
      </p:sp>
      <p:sp>
        <p:nvSpPr>
          <p:cNvPr id="3" name="">
            <a:extLst xmlns:a="http://schemas.openxmlformats.org/drawingml/2006/main">
              <a:ext uri="{FF2B5EF4-FFF2-40B4-BE49-F238E27FC236}">
                <a16:creationId xmlns:a16="http://schemas.microsoft.com/office/drawing/2014/main" id="{2DC5262A-F625-4E67-8B01-B457C043981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17B47C5-3456-48D0-ABC4-3E0DF14BD8D2}"/>
              </a:ext>
            </a:extLst>
          </p:cNvPr>
          <p:cNvSpPr>
            <a:spLocks xmlns:a="http://schemas.openxmlformats.org/drawingml/2006/main" noGrp="1"/>
          </p:cNvSpPr>
          <p:nvPr/>
        </p:nvSpPr>
        <p:spPr>
          <a:xfrm xmlns:a="http://schemas.openxmlformats.org/drawingml/2006/main">
            <a:off x="619125" y="202882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Before</a:t>
            </a:r>
          </a:p>
        </p:txBody>
      </p:sp>
      <p:sp>
        <p:nvSpPr>
          <p:cNvPr id="5" name="">
            <a:extLst xmlns:a="http://schemas.openxmlformats.org/drawingml/2006/main">
              <a:ext uri="{FF2B5EF4-FFF2-40B4-BE49-F238E27FC236}">
                <a16:creationId xmlns:a16="http://schemas.microsoft.com/office/drawing/2014/main" id="{D27C921C-06E9-45C1-8D76-904DF123AEDE}"/>
              </a:ext>
            </a:extLst>
          </p:cNvPr>
          <p:cNvSpPr>
            <a:spLocks xmlns:a="http://schemas.openxmlformats.org/drawingml/2006/main" noGrp="1"/>
          </p:cNvSpPr>
          <p:nvPr/>
        </p:nvSpPr>
        <p:spPr>
          <a:xfrm xmlns:a="http://schemas.openxmlformats.org/drawingml/2006/main">
            <a:off x="619125" y="2581275"/>
            <a:ext cx="1017984"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6DDF7D-86ED-448D-B7BF-FACAFB1F9743}"/>
              </a:ext>
            </a:extLst>
          </p:cNvPr>
          <p:cNvSpPr>
            <a:spLocks xmlns:a="http://schemas.openxmlformats.org/drawingml/2006/main" noGrp="1"/>
          </p:cNvSpPr>
          <p:nvPr/>
        </p:nvSpPr>
        <p:spPr>
          <a:xfrm xmlns:a="http://schemas.openxmlformats.org/drawingml/2006/main">
            <a:off x="619125" y="264795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7" name="">
            <a:extLst xmlns:a="http://schemas.openxmlformats.org/drawingml/2006/main">
              <a:ext uri="{FF2B5EF4-FFF2-40B4-BE49-F238E27FC236}">
                <a16:creationId xmlns:a16="http://schemas.microsoft.com/office/drawing/2014/main" id="{8C6137F0-A213-45A1-A963-114931CA0BED}"/>
              </a:ext>
            </a:extLst>
          </p:cNvPr>
          <p:cNvSpPr>
            <a:spLocks xmlns:a="http://schemas.openxmlformats.org/drawingml/2006/main" noGrp="1"/>
          </p:cNvSpPr>
          <p:nvPr/>
        </p:nvSpPr>
        <p:spPr>
          <a:xfrm xmlns:a="http://schemas.openxmlformats.org/drawingml/2006/main">
            <a:off x="1637109" y="2581275"/>
            <a:ext cx="1017984"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5CA80A-7823-4B02-AF6D-9DE384F1E7A2}"/>
              </a:ext>
            </a:extLst>
          </p:cNvPr>
          <p:cNvSpPr>
            <a:spLocks xmlns:a="http://schemas.openxmlformats.org/drawingml/2006/main" noGrp="1"/>
          </p:cNvSpPr>
          <p:nvPr/>
        </p:nvSpPr>
        <p:spPr>
          <a:xfrm xmlns:a="http://schemas.openxmlformats.org/drawingml/2006/main">
            <a:off x="1637109" y="2647950"/>
            <a:ext cx="1017984"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15</a:t>
            </a:r>
          </a:p>
        </p:txBody>
      </p:sp>
      <p:sp>
        <p:nvSpPr>
          <p:cNvPr id="9" name="">
            <a:extLst xmlns:a="http://schemas.openxmlformats.org/drawingml/2006/main">
              <a:ext uri="{FF2B5EF4-FFF2-40B4-BE49-F238E27FC236}">
                <a16:creationId xmlns:a16="http://schemas.microsoft.com/office/drawing/2014/main" id="{3D3CBFD8-0862-415E-B9B2-1E2BB64689D9}"/>
              </a:ext>
            </a:extLst>
          </p:cNvPr>
          <p:cNvSpPr>
            <a:spLocks xmlns:a="http://schemas.openxmlformats.org/drawingml/2006/main" noGrp="1"/>
          </p:cNvSpPr>
          <p:nvPr/>
        </p:nvSpPr>
        <p:spPr>
          <a:xfrm xmlns:a="http://schemas.openxmlformats.org/drawingml/2006/main">
            <a:off x="2655094" y="258127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097E7E-DD7F-4D63-9F16-47C264139D40}"/>
              </a:ext>
            </a:extLst>
          </p:cNvPr>
          <p:cNvSpPr>
            <a:spLocks xmlns:a="http://schemas.openxmlformats.org/drawingml/2006/main" noGrp="1"/>
          </p:cNvSpPr>
          <p:nvPr/>
        </p:nvSpPr>
        <p:spPr>
          <a:xfrm xmlns:a="http://schemas.openxmlformats.org/drawingml/2006/main">
            <a:off x="2655094" y="264795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11" name="">
            <a:extLst xmlns:a="http://schemas.openxmlformats.org/drawingml/2006/main">
              <a:ext uri="{FF2B5EF4-FFF2-40B4-BE49-F238E27FC236}">
                <a16:creationId xmlns:a16="http://schemas.microsoft.com/office/drawing/2014/main" id="{BCF39ED5-CC17-4ABE-81AB-F2250B553E0D}"/>
              </a:ext>
            </a:extLst>
          </p:cNvPr>
          <p:cNvSpPr>
            <a:spLocks xmlns:a="http://schemas.openxmlformats.org/drawingml/2006/main" noGrp="1"/>
          </p:cNvSpPr>
          <p:nvPr/>
        </p:nvSpPr>
        <p:spPr>
          <a:xfrm xmlns:a="http://schemas.openxmlformats.org/drawingml/2006/main">
            <a:off x="619125" y="3467100"/>
            <a:ext cx="923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After one accepted direction</a:t>
            </a:r>
          </a:p>
        </p:txBody>
      </p:sp>
      <p:sp>
        <p:nvSpPr>
          <p:cNvPr id="12" name="">
            <a:extLst xmlns:a="http://schemas.openxmlformats.org/drawingml/2006/main">
              <a:ext uri="{FF2B5EF4-FFF2-40B4-BE49-F238E27FC236}">
                <a16:creationId xmlns:a16="http://schemas.microsoft.com/office/drawing/2014/main" id="{515FDD6C-FB8E-4FC2-9EE1-0986774C9CA0}"/>
              </a:ext>
            </a:extLst>
          </p:cNvPr>
          <p:cNvSpPr>
            <a:spLocks xmlns:a="http://schemas.openxmlformats.org/drawingml/2006/main" noGrp="1"/>
          </p:cNvSpPr>
          <p:nvPr/>
        </p:nvSpPr>
        <p:spPr>
          <a:xfrm xmlns:a="http://schemas.openxmlformats.org/drawingml/2006/main">
            <a:off x="619125" y="4010025"/>
            <a:ext cx="1085850"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629C74-30D9-4725-A4C2-42698B98BCD2}"/>
              </a:ext>
            </a:extLst>
          </p:cNvPr>
          <p:cNvSpPr>
            <a:spLocks xmlns:a="http://schemas.openxmlformats.org/drawingml/2006/main" noGrp="1"/>
          </p:cNvSpPr>
          <p:nvPr/>
        </p:nvSpPr>
        <p:spPr>
          <a:xfrm xmlns:a="http://schemas.openxmlformats.org/drawingml/2006/main">
            <a:off x="619125" y="4076700"/>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4" name="">
            <a:extLst xmlns:a="http://schemas.openxmlformats.org/drawingml/2006/main">
              <a:ext uri="{FF2B5EF4-FFF2-40B4-BE49-F238E27FC236}">
                <a16:creationId xmlns:a16="http://schemas.microsoft.com/office/drawing/2014/main" id="{959F67AF-D9DE-4FC4-85CC-7F2DC7DF21C5}"/>
              </a:ext>
            </a:extLst>
          </p:cNvPr>
          <p:cNvSpPr>
            <a:spLocks xmlns:a="http://schemas.openxmlformats.org/drawingml/2006/main" noGrp="1"/>
          </p:cNvSpPr>
          <p:nvPr/>
        </p:nvSpPr>
        <p:spPr>
          <a:xfrm xmlns:a="http://schemas.openxmlformats.org/drawingml/2006/main">
            <a:off x="1704975" y="4010025"/>
            <a:ext cx="1085850"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7A6FA6D-04FB-4E41-942D-979A798E6CE1}"/>
              </a:ext>
            </a:extLst>
          </p:cNvPr>
          <p:cNvSpPr>
            <a:spLocks xmlns:a="http://schemas.openxmlformats.org/drawingml/2006/main" noGrp="1"/>
          </p:cNvSpPr>
          <p:nvPr/>
        </p:nvSpPr>
        <p:spPr>
          <a:xfrm xmlns:a="http://schemas.openxmlformats.org/drawingml/2006/main">
            <a:off x="1704975" y="4076700"/>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6" name="">
            <a:extLst xmlns:a="http://schemas.openxmlformats.org/drawingml/2006/main">
              <a:ext uri="{FF2B5EF4-FFF2-40B4-BE49-F238E27FC236}">
                <a16:creationId xmlns:a16="http://schemas.microsoft.com/office/drawing/2014/main" id="{48939569-0169-434B-9EC8-19C81F343169}"/>
              </a:ext>
            </a:extLst>
          </p:cNvPr>
          <p:cNvSpPr>
            <a:spLocks xmlns:a="http://schemas.openxmlformats.org/drawingml/2006/main" noGrp="1"/>
          </p:cNvSpPr>
          <p:nvPr/>
        </p:nvSpPr>
        <p:spPr>
          <a:xfrm xmlns:a="http://schemas.openxmlformats.org/drawingml/2006/main">
            <a:off x="2790825" y="4010025"/>
            <a:ext cx="8686800"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B84BACE-070B-422B-9D13-4225ACC1A940}"/>
              </a:ext>
            </a:extLst>
          </p:cNvPr>
          <p:cNvSpPr>
            <a:spLocks xmlns:a="http://schemas.openxmlformats.org/drawingml/2006/main" noGrp="1"/>
          </p:cNvSpPr>
          <p:nvPr/>
        </p:nvSpPr>
        <p:spPr>
          <a:xfrm xmlns:a="http://schemas.openxmlformats.org/drawingml/2006/main">
            <a:off x="2790825" y="4076700"/>
            <a:ext cx="8686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128</a:t>
            </a:r>
          </a:p>
        </p:txBody>
      </p:sp>
      <p:sp>
        <p:nvSpPr>
          <p:cNvPr id="18" name="">
            <a:extLst xmlns:a="http://schemas.openxmlformats.org/drawingml/2006/main">
              <a:ext uri="{FF2B5EF4-FFF2-40B4-BE49-F238E27FC236}">
                <a16:creationId xmlns:a16="http://schemas.microsoft.com/office/drawing/2014/main" id="{3DE94AC7-41D7-4A33-8970-20D73CF2AFE9}"/>
              </a:ext>
            </a:extLst>
          </p:cNvPr>
          <p:cNvSpPr>
            <a:spLocks xmlns:a="http://schemas.openxmlformats.org/drawingml/2006/main" noGrp="1"/>
          </p:cNvSpPr>
          <p:nvPr/>
        </p:nvSpPr>
        <p:spPr>
          <a:xfrm xmlns:a="http://schemas.openxmlformats.org/drawingml/2006/main">
            <a:off x="619125" y="5010150"/>
            <a:ext cx="5648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92D3C"/>
                </a:solidFill>
                <a:latin typeface="Helvetica Neue"/>
                <a:ea typeface="Helvetica Neue"/>
                <a:cs typeface="Helvetica Neue"/>
              </a:defRPr>
            </a:pPr>
            <a:r>
              <a:rPr sz="2550" b="1">
                <a:solidFill>
                  <a:srgbClr val="192D3C"/>
                </a:solidFill>
                <a:latin typeface="Helvetica Neue"/>
                <a:ea typeface="Helvetica Neue"/>
                <a:cs typeface="Helvetica Neue"/>
              </a:rPr>
              <a:t>130 → 128 residual probes</a:t>
            </a:r>
          </a:p>
        </p:txBody>
      </p:sp>
      <p:sp>
        <p:nvSpPr>
          <p:cNvPr id="19" name="">
            <a:extLst xmlns:a="http://schemas.openxmlformats.org/drawingml/2006/main">
              <a:ext uri="{FF2B5EF4-FFF2-40B4-BE49-F238E27FC236}">
                <a16:creationId xmlns:a16="http://schemas.microsoft.com/office/drawing/2014/main" id="{6A03E12C-635D-4B65-839D-BE699AFE60BA}"/>
              </a:ext>
            </a:extLst>
          </p:cNvPr>
          <p:cNvSpPr>
            <a:spLocks xmlns:a="http://schemas.openxmlformats.org/drawingml/2006/main" noGrp="1"/>
          </p:cNvSpPr>
          <p:nvPr/>
        </p:nvSpPr>
        <p:spPr>
          <a:xfrm xmlns:a="http://schemas.openxmlformats.org/drawingml/2006/main">
            <a:off x="6467475" y="489585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Required energy reduction:</a:t>
            </a:r>
          </a:p>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more than about 1.54%</a:t>
            </a:r>
          </a:p>
        </p:txBody>
      </p:sp>
      <p:sp>
        <p:nvSpPr>
          <p:cNvPr id="20" name="">
            <a:extLst xmlns:a="http://schemas.openxmlformats.org/drawingml/2006/main">
              <a:ext uri="{FF2B5EF4-FFF2-40B4-BE49-F238E27FC236}">
                <a16:creationId xmlns:a16="http://schemas.microsoft.com/office/drawing/2014/main" id="{09AA26E8-976A-4A2C-8438-41A6727BA852}"/>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24A999-3F3A-40FD-B0F4-DD0D8F6047C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exact threshold is 2/130. This comparison assumes a successful rank gain and positive residual energy.</a:t>
            </a:r>
          </a:p>
        </p:txBody>
      </p:sp>
    </p:spTree>
    <p:extLst>
      <p:ext uri="{BB962C8B-B14F-4D97-AF65-F5344CB8AC3E}">
        <p14:creationId xmlns:p14="http://schemas.microsoft.com/office/powerpoint/2010/main" val="15041527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9CF2FD-4745-41AF-B917-1329385515D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right dimension can still capture the wrong space</a:t>
            </a:r>
          </a:p>
        </p:txBody>
      </p:sp>
      <p:sp>
        <p:nvSpPr>
          <p:cNvPr id="2" name="">
            <a:extLst xmlns:a="http://schemas.openxmlformats.org/drawingml/2006/main">
              <a:ext uri="{FF2B5EF4-FFF2-40B4-BE49-F238E27FC236}">
                <a16:creationId xmlns:a16="http://schemas.microsoft.com/office/drawing/2014/main" id="{7A91B715-6338-4EC5-9C0C-205EC341D5D6}"/>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ideal model assumes perfect alignment. A randomized basis may be tilted.</a:t>
            </a:r>
          </a:p>
        </p:txBody>
      </p:sp>
      <p:sp>
        <p:nvSpPr>
          <p:cNvPr id="3" name="">
            <a:extLst xmlns:a="http://schemas.openxmlformats.org/drawingml/2006/main">
              <a:ext uri="{FF2B5EF4-FFF2-40B4-BE49-F238E27FC236}">
                <a16:creationId xmlns:a16="http://schemas.microsoft.com/office/drawing/2014/main" id="{E5365B36-8C1A-41C5-80E8-06881BB1582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9a6769e8f4a4afe"/>
          <a:stretch xmlns:a="http://schemas.openxmlformats.org/drawingml/2006/main"/>
        </p:blipFill>
        <p:spPr>
          <a:xfrm xmlns:a="http://schemas.openxmlformats.org/drawingml/2006/main">
            <a:off x="2714833" y="1695450"/>
            <a:ext cx="6752810" cy="3800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D8A2E8-596C-4700-ABFA-C1B080AFD65F}"/>
              </a:ext>
            </a:extLst>
          </p:cNvPr>
          <p:cNvSpPr>
            <a:spLocks xmlns:a="http://schemas.openxmlformats.org/drawingml/2006/main" noGrp="1"/>
          </p:cNvSpPr>
          <p:nvPr/>
        </p:nvSpPr>
        <p:spPr>
          <a:xfrm xmlns:a="http://schemas.openxmlformats.org/drawingml/2006/main">
            <a:off x="638175" y="5410200"/>
            <a:ext cx="5210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37847F"/>
                </a:solidFill>
                <a:latin typeface="Helvetica Neue"/>
                <a:ea typeface="Helvetica Neue"/>
                <a:cs typeface="Helvetica Neue"/>
              </a:defRPr>
            </a:pPr>
            <a:r>
              <a:rPr sz="2325" b="1">
                <a:solidFill>
                  <a:srgbClr val="37847F"/>
                </a:solidFill>
                <a:latin typeface="Helvetica Neue"/>
                <a:ea typeface="Helvetica Neue"/>
                <a:cs typeface="Helvetica Neue"/>
              </a:rPr>
              <a:t>Ideal capture</a:t>
            </a:r>
          </a:p>
        </p:txBody>
      </p:sp>
      <p:sp>
        <p:nvSpPr>
          <p:cNvPr id="6" name="">
            <a:extLst xmlns:a="http://schemas.openxmlformats.org/drawingml/2006/main">
              <a:ext uri="{FF2B5EF4-FFF2-40B4-BE49-F238E27FC236}">
                <a16:creationId xmlns:a16="http://schemas.microsoft.com/office/drawing/2014/main" id="{1E78E151-F9AC-467F-B7D3-DCF4188C2EB0}"/>
              </a:ext>
            </a:extLst>
          </p:cNvPr>
          <p:cNvSpPr>
            <a:spLocks xmlns:a="http://schemas.openxmlformats.org/drawingml/2006/main" noGrp="1"/>
          </p:cNvSpPr>
          <p:nvPr/>
        </p:nvSpPr>
        <p:spPr>
          <a:xfrm xmlns:a="http://schemas.openxmlformats.org/drawingml/2006/main">
            <a:off x="6200775" y="54102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Same dimension, imperfect capture</a:t>
            </a:r>
          </a:p>
        </p:txBody>
      </p:sp>
      <p:sp>
        <p:nvSpPr>
          <p:cNvPr id="7" name="">
            <a:extLst xmlns:a="http://schemas.openxmlformats.org/drawingml/2006/main">
              <a:ext uri="{FF2B5EF4-FFF2-40B4-BE49-F238E27FC236}">
                <a16:creationId xmlns:a16="http://schemas.microsoft.com/office/drawing/2014/main" id="{C1E16785-3D12-4DAE-9158-8FD852A7D623}"/>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3C9ECD8-07D3-4140-B275-FE6C8879BA58}"/>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Conceptual geometry, not measured angles. Teal: target subspace. Blue: captured subspace.</a:t>
            </a:r>
          </a:p>
        </p:txBody>
      </p:sp>
    </p:spTree>
    <p:extLst>
      <p:ext uri="{BB962C8B-B14F-4D97-AF65-F5344CB8AC3E}">
        <p14:creationId xmlns:p14="http://schemas.microsoft.com/office/powerpoint/2010/main" val="14805930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953C3F5-8810-45D8-94C0-21E40ABF85D0}"/>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One extra column repaired rare bad captures</a:t>
            </a:r>
          </a:p>
        </p:txBody>
      </p:sp>
      <p:sp>
        <p:nvSpPr>
          <p:cNvPr id="2" name="">
            <a:extLst xmlns:a="http://schemas.openxmlformats.org/drawingml/2006/main">
              <a:ext uri="{FF2B5EF4-FFF2-40B4-BE49-F238E27FC236}">
                <a16:creationId xmlns:a16="http://schemas.microsoft.com/office/drawing/2014/main" id="{4780F7E6-5EDE-47A4-8193-FCDFDA3F4531}"/>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Gaussian risk: d = 500, k = 15, η = 10⁻⁶, m = 160; 200 paths.</a:t>
            </a:r>
          </a:p>
        </p:txBody>
      </p:sp>
      <p:sp>
        <p:nvSpPr>
          <p:cNvPr id="3" name="">
            <a:extLst xmlns:a="http://schemas.openxmlformats.org/drawingml/2006/main">
              <a:ext uri="{FF2B5EF4-FFF2-40B4-BE49-F238E27FC236}">
                <a16:creationId xmlns:a16="http://schemas.microsoft.com/office/drawing/2014/main" id="{CFA44843-C64B-4B1E-9F13-816A7BE9F1DE}"/>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09</a:t>
            </a:r>
          </a:p>
        </p:txBody>
      </p:sp>
      <p:graphicFrame>
        <p:nvGraphicFramePr>
          <p:cNvPr id="18" name="Chart"/>
          <p:cNvGraphicFramePr/>
          <p:nvPr/>
        </p:nvGraphicFramePr>
        <p:xfrm>
          <a:off xmlns:a="http://schemas.openxmlformats.org/drawingml/2006/main" x="638175" y="2047875"/>
          <a:ext xmlns:a="http://schemas.openxmlformats.org/drawingml/2006/main" cx="6143625" cy="3381375"/>
        </p:xfrm>
        <a:graphic xmlns:a="http://schemas.openxmlformats.org/drawingml/2006/main">
          <a:graphicData uri="http://schemas.openxmlformats.org/drawingml/2006/chart">
            <c:chart xmlns:r="http://schemas.openxmlformats.org/officeDocument/2006/relationships" xmlns:c="http://schemas.openxmlformats.org/drawingml/2006/chart" r:id="Rd1de499963244975"/>
          </a:graphicData>
        </a:graphic>
      </p:graphicFrame>
      <p:sp>
        <p:nvSpPr>
          <p:cNvPr id="5" name="">
            <a:extLst xmlns:a="http://schemas.openxmlformats.org/drawingml/2006/main">
              <a:ext uri="{FF2B5EF4-FFF2-40B4-BE49-F238E27FC236}">
                <a16:creationId xmlns:a16="http://schemas.microsoft.com/office/drawing/2014/main" id="{C1F0FF8B-5C6E-48B9-97E1-7AF01E7753DB}"/>
              </a:ext>
            </a:extLst>
          </p:cNvPr>
          <p:cNvSpPr>
            <a:spLocks xmlns:a="http://schemas.openxmlformats.org/drawingml/2006/main" noGrp="1"/>
          </p:cNvSpPr>
          <p:nvPr/>
        </p:nvSpPr>
        <p:spPr>
          <a:xfrm xmlns:a="http://schemas.openxmlformats.org/drawingml/2006/main">
            <a:off x="7372350" y="2057400"/>
            <a:ext cx="4143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Full accepted rank</a:t>
            </a:r>
          </a:p>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at both allocations</a:t>
            </a:r>
          </a:p>
        </p:txBody>
      </p:sp>
      <p:sp>
        <p:nvSpPr>
          <p:cNvPr id="6" name="">
            <a:extLst xmlns:a="http://schemas.openxmlformats.org/drawingml/2006/main">
              <a:ext uri="{FF2B5EF4-FFF2-40B4-BE49-F238E27FC236}">
                <a16:creationId xmlns:a16="http://schemas.microsoft.com/office/drawing/2014/main" id="{F1E641F3-321D-4EC1-985F-C9661C510FC5}"/>
              </a:ext>
            </a:extLst>
          </p:cNvPr>
          <p:cNvSpPr>
            <a:spLocks xmlns:a="http://schemas.openxmlformats.org/drawingml/2006/main" noGrp="1"/>
          </p:cNvSpPr>
          <p:nvPr/>
        </p:nvSpPr>
        <p:spPr>
          <a:xfrm xmlns:a="http://schemas.openxmlformats.org/drawingml/2006/main">
            <a:off x="7362825" y="3371850"/>
            <a:ext cx="4143375" cy="99060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7" name="">
            <a:extLst xmlns:a="http://schemas.openxmlformats.org/drawingml/2006/main">
              <a:ext uri="{FF2B5EF4-FFF2-40B4-BE49-F238E27FC236}">
                <a16:creationId xmlns:a16="http://schemas.microsoft.com/office/drawing/2014/main" id="{136C99FD-9C38-436D-BD3A-17F2ADCFE44E}"/>
              </a:ext>
            </a:extLst>
          </p:cNvPr>
          <p:cNvSpPr>
            <a:spLocks xmlns:a="http://schemas.openxmlformats.org/drawingml/2006/main" noGrp="1"/>
          </p:cNvSpPr>
          <p:nvPr/>
        </p:nvSpPr>
        <p:spPr>
          <a:xfrm xmlns:a="http://schemas.openxmlformats.org/drawingml/2006/main">
            <a:off x="7534275" y="3486150"/>
            <a:ext cx="3800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15 columns</a:t>
            </a:r>
          </a:p>
        </p:txBody>
      </p:sp>
      <p:sp>
        <p:nvSpPr>
          <p:cNvPr id="8" name="">
            <a:extLst xmlns:a="http://schemas.openxmlformats.org/drawingml/2006/main">
              <a:ext uri="{FF2B5EF4-FFF2-40B4-BE49-F238E27FC236}">
                <a16:creationId xmlns:a16="http://schemas.microsoft.com/office/drawing/2014/main" id="{CE9584B1-23E3-4714-9BBD-CFED4ADFFAAE}"/>
              </a:ext>
            </a:extLst>
          </p:cNvPr>
          <p:cNvSpPr>
            <a:spLocks xmlns:a="http://schemas.openxmlformats.org/drawingml/2006/main" noGrp="1"/>
          </p:cNvSpPr>
          <p:nvPr/>
        </p:nvSpPr>
        <p:spPr>
          <a:xfrm xmlns:a="http://schemas.openxmlformats.org/drawingml/2006/main">
            <a:off x="7534275" y="3952875"/>
            <a:ext cx="3800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No spare signal column</a:t>
            </a:r>
          </a:p>
        </p:txBody>
      </p:sp>
      <p:sp>
        <p:nvSpPr>
          <p:cNvPr id="9" name="">
            <a:extLst xmlns:a="http://schemas.openxmlformats.org/drawingml/2006/main">
              <a:ext uri="{FF2B5EF4-FFF2-40B4-BE49-F238E27FC236}">
                <a16:creationId xmlns:a16="http://schemas.microsoft.com/office/drawing/2014/main" id="{7AF23138-9785-4AC6-9F0C-EA2FEFFE6744}"/>
              </a:ext>
            </a:extLst>
          </p:cNvPr>
          <p:cNvSpPr>
            <a:spLocks xmlns:a="http://schemas.openxmlformats.org/drawingml/2006/main" noGrp="1"/>
          </p:cNvSpPr>
          <p:nvPr/>
        </p:nvSpPr>
        <p:spPr>
          <a:xfrm xmlns:a="http://schemas.openxmlformats.org/drawingml/2006/main">
            <a:off x="7362825" y="4791075"/>
            <a:ext cx="4143375" cy="9906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0" name="">
            <a:extLst xmlns:a="http://schemas.openxmlformats.org/drawingml/2006/main">
              <a:ext uri="{FF2B5EF4-FFF2-40B4-BE49-F238E27FC236}">
                <a16:creationId xmlns:a16="http://schemas.microsoft.com/office/drawing/2014/main" id="{024EFF68-6EBD-48C3-8E5E-B2FD812629DD}"/>
              </a:ext>
            </a:extLst>
          </p:cNvPr>
          <p:cNvSpPr>
            <a:spLocks xmlns:a="http://schemas.openxmlformats.org/drawingml/2006/main" noGrp="1"/>
          </p:cNvSpPr>
          <p:nvPr/>
        </p:nvSpPr>
        <p:spPr>
          <a:xfrm xmlns:a="http://schemas.openxmlformats.org/drawingml/2006/main">
            <a:off x="7534275" y="4905375"/>
            <a:ext cx="38004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16 columns</a:t>
            </a:r>
          </a:p>
        </p:txBody>
      </p:sp>
      <p:sp>
        <p:nvSpPr>
          <p:cNvPr id="11" name="">
            <a:extLst xmlns:a="http://schemas.openxmlformats.org/drawingml/2006/main">
              <a:ext uri="{FF2B5EF4-FFF2-40B4-BE49-F238E27FC236}">
                <a16:creationId xmlns:a16="http://schemas.microsoft.com/office/drawing/2014/main" id="{710EC06A-B42C-4C5A-B344-199DA0B6104B}"/>
              </a:ext>
            </a:extLst>
          </p:cNvPr>
          <p:cNvSpPr>
            <a:spLocks xmlns:a="http://schemas.openxmlformats.org/drawingml/2006/main" noGrp="1"/>
          </p:cNvSpPr>
          <p:nvPr/>
        </p:nvSpPr>
        <p:spPr>
          <a:xfrm xmlns:a="http://schemas.openxmlformats.org/drawingml/2006/main">
            <a:off x="7534275" y="5372100"/>
            <a:ext cx="3800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An extra chance to capture it</a:t>
            </a:r>
          </a:p>
        </p:txBody>
      </p:sp>
      <p:cxnSp>
        <p:nvCxnSpPr>
          <p:cNvPr id="26" name=""/>
          <p:cNvCxnSpPr>
            <a:stCxn xmlns:a="http://schemas.openxmlformats.org/drawingml/2006/main" id="6" idx="2"/>
            <a:endCxn xmlns:a="http://schemas.openxmlformats.org/drawingml/2006/main" id="9" idx="0"/>
          </p:cNvCxnSpPr>
          <p:nvPr/>
        </p:nvCxnSpPr>
        <p:spPr>
          <a:xfrm xmlns:a="http://schemas.openxmlformats.org/drawingml/2006/main">
            <a:off x="9434513" y="4362450"/>
            <a:ext cx="0" cy="428625"/>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3" name="">
            <a:extLst xmlns:a="http://schemas.openxmlformats.org/drawingml/2006/main">
              <a:ext uri="{FF2B5EF4-FFF2-40B4-BE49-F238E27FC236}">
                <a16:creationId xmlns:a16="http://schemas.microsoft.com/office/drawing/2014/main" id="{042C0A8F-A1D2-40AD-A49A-0273915FCA47}"/>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90DC9BD-134C-446B-9CF6-49651B52FD46}"/>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Finite empirical means. Medians often preferred 15; exactly one extra column is not a universal optimum.</a:t>
            </a:r>
          </a:p>
        </p:txBody>
      </p:sp>
    </p:spTree>
    <p:extLst>
      <p:ext uri="{BB962C8B-B14F-4D97-AF65-F5344CB8AC3E}">
        <p14:creationId xmlns:p14="http://schemas.microsoft.com/office/powerpoint/2010/main" val="4184507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4D0951-EBF2-490A-846C-1EFDD2AE524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Why study Rademacher probes specifically?</a:t>
            </a:r>
          </a:p>
        </p:txBody>
      </p:sp>
      <p:sp>
        <p:nvSpPr>
          <p:cNvPr id="2" name="">
            <a:extLst xmlns:a="http://schemas.openxmlformats.org/drawingml/2006/main">
              <a:ext uri="{FF2B5EF4-FFF2-40B4-BE49-F238E27FC236}">
                <a16:creationId xmlns:a16="http://schemas.microsoft.com/office/drawing/2014/main" id="{226023DA-0AB1-4219-82DB-AD510A7B51DF}"/>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Rademacher means independent random signs: each coordinate is +1 or −1.</a:t>
            </a:r>
          </a:p>
        </p:txBody>
      </p:sp>
      <p:sp>
        <p:nvSpPr>
          <p:cNvPr id="3" name="">
            <a:extLst xmlns:a="http://schemas.openxmlformats.org/drawingml/2006/main">
              <a:ext uri="{FF2B5EF4-FFF2-40B4-BE49-F238E27FC236}">
                <a16:creationId xmlns:a16="http://schemas.microsoft.com/office/drawing/2014/main" id="{BD4A2551-1AC6-4450-B694-38AE9AD3D36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6EA82F49-B690-4F05-80F4-2441D4B24E8F}"/>
              </a:ext>
            </a:extLst>
          </p:cNvPr>
          <p:cNvSpPr>
            <a:spLocks xmlns:a="http://schemas.openxmlformats.org/drawingml/2006/main" noGrp="1"/>
          </p:cNvSpPr>
          <p:nvPr/>
        </p:nvSpPr>
        <p:spPr>
          <a:xfrm xmlns:a="http://schemas.openxmlformats.org/drawingml/2006/main">
            <a:off x="781050" y="2219325"/>
            <a:ext cx="962025" cy="9620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AC24CF-A469-4E59-9C00-04DAFC0460B6}"/>
              </a:ext>
            </a:extLst>
          </p:cNvPr>
          <p:cNvSpPr>
            <a:spLocks xmlns:a="http://schemas.openxmlformats.org/drawingml/2006/main" noGrp="1"/>
          </p:cNvSpPr>
          <p:nvPr/>
        </p:nvSpPr>
        <p:spPr>
          <a:xfrm xmlns:a="http://schemas.openxmlformats.org/drawingml/2006/main">
            <a:off x="781050" y="221932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AA9D06AA-5FFE-47CC-83C4-1B7FEF4F4245}"/>
              </a:ext>
            </a:extLst>
          </p:cNvPr>
          <p:cNvSpPr>
            <a:spLocks xmlns:a="http://schemas.openxmlformats.org/drawingml/2006/main" noGrp="1"/>
          </p:cNvSpPr>
          <p:nvPr/>
        </p:nvSpPr>
        <p:spPr>
          <a:xfrm xmlns:a="http://schemas.openxmlformats.org/drawingml/2006/main">
            <a:off x="1790700" y="2219325"/>
            <a:ext cx="962025" cy="9620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92226D-F6DF-4702-9EA2-65CEC9327DBD}"/>
              </a:ext>
            </a:extLst>
          </p:cNvPr>
          <p:cNvSpPr>
            <a:spLocks xmlns:a="http://schemas.openxmlformats.org/drawingml/2006/main" noGrp="1"/>
          </p:cNvSpPr>
          <p:nvPr/>
        </p:nvSpPr>
        <p:spPr>
          <a:xfrm xmlns:a="http://schemas.openxmlformats.org/drawingml/2006/main">
            <a:off x="1790700" y="221932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0</a:t>
            </a:r>
          </a:p>
        </p:txBody>
      </p:sp>
      <p:sp>
        <p:nvSpPr>
          <p:cNvPr id="8" name="">
            <a:extLst xmlns:a="http://schemas.openxmlformats.org/drawingml/2006/main">
              <a:ext uri="{FF2B5EF4-FFF2-40B4-BE49-F238E27FC236}">
                <a16:creationId xmlns:a16="http://schemas.microsoft.com/office/drawing/2014/main" id="{CF5FD0A8-4A4F-4859-98B3-A166304B525C}"/>
              </a:ext>
            </a:extLst>
          </p:cNvPr>
          <p:cNvSpPr>
            <a:spLocks xmlns:a="http://schemas.openxmlformats.org/drawingml/2006/main" noGrp="1"/>
          </p:cNvSpPr>
          <p:nvPr/>
        </p:nvSpPr>
        <p:spPr>
          <a:xfrm xmlns:a="http://schemas.openxmlformats.org/drawingml/2006/main">
            <a:off x="781050" y="3228975"/>
            <a:ext cx="962025" cy="962025"/>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299C499-8DC0-4783-B343-864A2469D89F}"/>
              </a:ext>
            </a:extLst>
          </p:cNvPr>
          <p:cNvSpPr>
            <a:spLocks xmlns:a="http://schemas.openxmlformats.org/drawingml/2006/main" noGrp="1"/>
          </p:cNvSpPr>
          <p:nvPr/>
        </p:nvSpPr>
        <p:spPr>
          <a:xfrm xmlns:a="http://schemas.openxmlformats.org/drawingml/2006/main">
            <a:off x="781050" y="322897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0</a:t>
            </a:r>
          </a:p>
        </p:txBody>
      </p:sp>
      <p:sp>
        <p:nvSpPr>
          <p:cNvPr id="10" name="">
            <a:extLst xmlns:a="http://schemas.openxmlformats.org/drawingml/2006/main">
              <a:ext uri="{FF2B5EF4-FFF2-40B4-BE49-F238E27FC236}">
                <a16:creationId xmlns:a16="http://schemas.microsoft.com/office/drawing/2014/main" id="{0D337DF8-A6A8-4F14-A715-8CD0127366B5}"/>
              </a:ext>
            </a:extLst>
          </p:cNvPr>
          <p:cNvSpPr>
            <a:spLocks xmlns:a="http://schemas.openxmlformats.org/drawingml/2006/main" noGrp="1"/>
          </p:cNvSpPr>
          <p:nvPr/>
        </p:nvSpPr>
        <p:spPr>
          <a:xfrm xmlns:a="http://schemas.openxmlformats.org/drawingml/2006/main">
            <a:off x="1790700" y="3228975"/>
            <a:ext cx="962025" cy="96202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21CC66-10AB-4972-89F0-94BC96B8C533}"/>
              </a:ext>
            </a:extLst>
          </p:cNvPr>
          <p:cNvSpPr>
            <a:spLocks xmlns:a="http://schemas.openxmlformats.org/drawingml/2006/main" noGrp="1"/>
          </p:cNvSpPr>
          <p:nvPr/>
        </p:nvSpPr>
        <p:spPr>
          <a:xfrm xmlns:a="http://schemas.openxmlformats.org/drawingml/2006/main">
            <a:off x="1790700" y="3228975"/>
            <a:ext cx="9620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34B4143C-6907-41C8-ACD9-DDC1115325D2}"/>
              </a:ext>
            </a:extLst>
          </p:cNvPr>
          <p:cNvSpPr>
            <a:spLocks xmlns:a="http://schemas.openxmlformats.org/drawingml/2006/main" noGrp="1"/>
          </p:cNvSpPr>
          <p:nvPr/>
        </p:nvSpPr>
        <p:spPr>
          <a:xfrm xmlns:a="http://schemas.openxmlformats.org/drawingml/2006/main">
            <a:off x="2867025" y="2790825"/>
            <a:ext cx="61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192D3C"/>
                </a:solidFill>
                <a:latin typeface="Helvetica Neue"/>
                <a:ea typeface="Helvetica Neue"/>
                <a:cs typeface="Helvetica Neue"/>
              </a:defRPr>
            </a:pPr>
            <a:r>
              <a:rPr sz="3375" b="1">
                <a:solidFill>
                  <a:srgbClr val="192D3C"/>
                </a:solidFill>
                <a:latin typeface="Helvetica Neue"/>
                <a:ea typeface="Helvetica Neue"/>
                <a:cs typeface="Helvetica Neue"/>
              </a:rPr>
              <a:t>H</a:t>
            </a:r>
          </a:p>
        </p:txBody>
      </p:sp>
      <p:graphicFrame>
        <p:nvGraphicFramePr>
          <p:cNvPr id="30" name=""/>
          <p:cNvGraphicFramePr/>
          <p:nvPr/>
        </p:nvGraphicFramePr>
        <p:xfrm>
          <a:off xmlns:a="http://schemas.openxmlformats.org/drawingml/2006/main" x="4333875" y="2038350"/>
          <a:ext xmlns:a="http://schemas.openxmlformats.org/drawingml/2006/main" cx="6800850" cy="3019425"/>
        </p:xfrm>
        <a:graphic xmlns:a="http://schemas.openxmlformats.org/drawingml/2006/main">
          <a:graphicData uri="http://schemas.openxmlformats.org/drawingml/2006/table">
            <a:tbl>
              <a:tblPr/>
              <a:tblGrid>
                <a:gridCol w="1905000"/>
                <a:gridCol w="1905000"/>
                <a:gridCol w="2990850"/>
              </a:tblGrid>
              <a:tr h="603885">
                <a:tc>
                  <a:txBody>
                    <a:bodyPr/>
                    <a:lstStyle/>
                    <a:p>
                      <a:r>
                        <a:rPr sz="1875" b="1">
                          <a:solidFill>
                            <a:srgbClr val="FFFFFF"/>
                          </a:solidFill>
                          <a:latin typeface="Helvetica Neue"/>
                          <a:ea typeface="Helvetica Neue"/>
                          <a:cs typeface="Helvetica Neue"/>
                        </a:rPr>
                        <a:t>g₁</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g₂</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gᵀHg</a:t>
                      </a:r>
                    </a:p>
                  </a:txBody>
                  <a:tcPr marL="91440" marR="91440" marT="45720" marB="45720">
                    <a:solidFill>
                      <a:srgbClr val="31688E"/>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r h="603885">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−1</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3</a:t>
                      </a:r>
                    </a:p>
                  </a:txBody>
                  <a:tcPr marL="91440" marR="91440" marT="45720" marB="45720">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67C633B2-6918-4C72-804C-06F0598BE43C}"/>
              </a:ext>
            </a:extLst>
          </p:cNvPr>
          <p:cNvSpPr>
            <a:spLocks xmlns:a="http://schemas.openxmlformats.org/drawingml/2006/main" noGrp="1"/>
          </p:cNvSpPr>
          <p:nvPr/>
        </p:nvSpPr>
        <p:spPr>
          <a:xfrm xmlns:a="http://schemas.openxmlformats.org/drawingml/2006/main">
            <a:off x="704850" y="5353050"/>
            <a:ext cx="6629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2g₁² + g₂² = 3 every time</a:t>
            </a:r>
          </a:p>
        </p:txBody>
      </p:sp>
      <p:sp>
        <p:nvSpPr>
          <p:cNvPr id="15" name="">
            <a:extLst xmlns:a="http://schemas.openxmlformats.org/drawingml/2006/main">
              <a:ext uri="{FF2B5EF4-FFF2-40B4-BE49-F238E27FC236}">
                <a16:creationId xmlns:a16="http://schemas.microsoft.com/office/drawing/2014/main" id="{A1DFDAF1-5994-4318-9FED-8394ED8DC97E}"/>
              </a:ext>
            </a:extLst>
          </p:cNvPr>
          <p:cNvSpPr>
            <a:spLocks xmlns:a="http://schemas.openxmlformats.org/drawingml/2006/main" noGrp="1"/>
          </p:cNvSpPr>
          <p:nvPr/>
        </p:nvSpPr>
        <p:spPr>
          <a:xfrm xmlns:a="http://schemas.openxmlformats.org/drawingml/2006/main">
            <a:off x="8162925" y="5353050"/>
            <a:ext cx="32670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Zero variance</a:t>
            </a:r>
          </a:p>
        </p:txBody>
      </p:sp>
      <p:sp>
        <p:nvSpPr>
          <p:cNvPr id="16" name="">
            <a:extLst xmlns:a="http://schemas.openxmlformats.org/drawingml/2006/main">
              <a:ext uri="{FF2B5EF4-FFF2-40B4-BE49-F238E27FC236}">
                <a16:creationId xmlns:a16="http://schemas.microsoft.com/office/drawing/2014/main" id="{933DF21F-6266-469B-A673-CCDF3D33438C}"/>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361DC26-E14D-4636-8A51-C7A2B0E33F45}"/>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For this same H, Gaussian quadratic-form variance is 10. Probe law changes the exact risk.</a:t>
            </a:r>
          </a:p>
        </p:txBody>
      </p:sp>
    </p:spTree>
    <p:extLst>
      <p:ext uri="{BB962C8B-B14F-4D97-AF65-F5344CB8AC3E}">
        <p14:creationId xmlns:p14="http://schemas.microsoft.com/office/powerpoint/2010/main" val="2970638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8428516-51CF-476E-86CD-3328C34FA80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For random signs, only off-diagonal entries cause noise</a:t>
            </a:r>
          </a:p>
        </p:txBody>
      </p:sp>
      <p:sp>
        <p:nvSpPr>
          <p:cNvPr id="2" name="">
            <a:extLst xmlns:a="http://schemas.openxmlformats.org/drawingml/2006/main">
              <a:ext uri="{FF2B5EF4-FFF2-40B4-BE49-F238E27FC236}">
                <a16:creationId xmlns:a16="http://schemas.microsoft.com/office/drawing/2014/main" id="{6FB35357-13A1-4B84-B690-61E2BF9A90E1}"/>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Let H be the residual matrix after fixing the basis Q.</a:t>
            </a:r>
          </a:p>
        </p:txBody>
      </p:sp>
      <p:sp>
        <p:nvSpPr>
          <p:cNvPr id="3" name="">
            <a:extLst xmlns:a="http://schemas.openxmlformats.org/drawingml/2006/main">
              <a:ext uri="{FF2B5EF4-FFF2-40B4-BE49-F238E27FC236}">
                <a16:creationId xmlns:a16="http://schemas.microsoft.com/office/drawing/2014/main" id="{0316B351-4481-4110-8F47-EF972AB3D16A}"/>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5FA7C496-B858-466B-9C58-05496B70339C}"/>
              </a:ext>
            </a:extLst>
          </p:cNvPr>
          <p:cNvSpPr>
            <a:spLocks xmlns:a="http://schemas.openxmlformats.org/drawingml/2006/main" noGrp="1"/>
          </p:cNvSpPr>
          <p:nvPr/>
        </p:nvSpPr>
        <p:spPr>
          <a:xfrm xmlns:a="http://schemas.openxmlformats.org/drawingml/2006/main">
            <a:off x="781050" y="2076450"/>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ADB278-5AEE-46C7-947F-3F8C085D8486}"/>
              </a:ext>
            </a:extLst>
          </p:cNvPr>
          <p:cNvSpPr>
            <a:spLocks xmlns:a="http://schemas.openxmlformats.org/drawingml/2006/main" noGrp="1"/>
          </p:cNvSpPr>
          <p:nvPr/>
        </p:nvSpPr>
        <p:spPr>
          <a:xfrm xmlns:a="http://schemas.openxmlformats.org/drawingml/2006/main">
            <a:off x="781050"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h₁₁</a:t>
            </a:r>
          </a:p>
        </p:txBody>
      </p:sp>
      <p:sp>
        <p:nvSpPr>
          <p:cNvPr id="6" name="">
            <a:extLst xmlns:a="http://schemas.openxmlformats.org/drawingml/2006/main">
              <a:ext uri="{FF2B5EF4-FFF2-40B4-BE49-F238E27FC236}">
                <a16:creationId xmlns:a16="http://schemas.microsoft.com/office/drawing/2014/main" id="{98BE791B-1409-4F79-926A-087166B4DDC8}"/>
              </a:ext>
            </a:extLst>
          </p:cNvPr>
          <p:cNvSpPr>
            <a:spLocks xmlns:a="http://schemas.openxmlformats.org/drawingml/2006/main" noGrp="1"/>
          </p:cNvSpPr>
          <p:nvPr/>
        </p:nvSpPr>
        <p:spPr>
          <a:xfrm xmlns:a="http://schemas.openxmlformats.org/drawingml/2006/main">
            <a:off x="1724025" y="207645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9C20FF-7C4D-44C7-9C85-38056830E437}"/>
              </a:ext>
            </a:extLst>
          </p:cNvPr>
          <p:cNvSpPr>
            <a:spLocks xmlns:a="http://schemas.openxmlformats.org/drawingml/2006/main" noGrp="1"/>
          </p:cNvSpPr>
          <p:nvPr/>
        </p:nvSpPr>
        <p:spPr>
          <a:xfrm xmlns:a="http://schemas.openxmlformats.org/drawingml/2006/main">
            <a:off x="1724025"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h₁₂</a:t>
            </a:r>
          </a:p>
        </p:txBody>
      </p:sp>
      <p:sp>
        <p:nvSpPr>
          <p:cNvPr id="8" name="">
            <a:extLst xmlns:a="http://schemas.openxmlformats.org/drawingml/2006/main">
              <a:ext uri="{FF2B5EF4-FFF2-40B4-BE49-F238E27FC236}">
                <a16:creationId xmlns:a16="http://schemas.microsoft.com/office/drawing/2014/main" id="{4A326D68-DDB4-4676-8CED-403440D16F2B}"/>
              </a:ext>
            </a:extLst>
          </p:cNvPr>
          <p:cNvSpPr>
            <a:spLocks xmlns:a="http://schemas.openxmlformats.org/drawingml/2006/main" noGrp="1"/>
          </p:cNvSpPr>
          <p:nvPr/>
        </p:nvSpPr>
        <p:spPr>
          <a:xfrm xmlns:a="http://schemas.openxmlformats.org/drawingml/2006/main">
            <a:off x="2667000" y="207645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DE017D-C58D-4D05-979C-5759E0DD369B}"/>
              </a:ext>
            </a:extLst>
          </p:cNvPr>
          <p:cNvSpPr>
            <a:spLocks xmlns:a="http://schemas.openxmlformats.org/drawingml/2006/main" noGrp="1"/>
          </p:cNvSpPr>
          <p:nvPr/>
        </p:nvSpPr>
        <p:spPr>
          <a:xfrm xmlns:a="http://schemas.openxmlformats.org/drawingml/2006/main">
            <a:off x="2667000" y="207645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h₁₃</a:t>
            </a:r>
          </a:p>
        </p:txBody>
      </p:sp>
      <p:sp>
        <p:nvSpPr>
          <p:cNvPr id="10" name="">
            <a:extLst xmlns:a="http://schemas.openxmlformats.org/drawingml/2006/main">
              <a:ext uri="{FF2B5EF4-FFF2-40B4-BE49-F238E27FC236}">
                <a16:creationId xmlns:a16="http://schemas.microsoft.com/office/drawing/2014/main" id="{2DE60543-BD78-4420-9220-0EC58FE98A57}"/>
              </a:ext>
            </a:extLst>
          </p:cNvPr>
          <p:cNvSpPr>
            <a:spLocks xmlns:a="http://schemas.openxmlformats.org/drawingml/2006/main" noGrp="1"/>
          </p:cNvSpPr>
          <p:nvPr/>
        </p:nvSpPr>
        <p:spPr>
          <a:xfrm xmlns:a="http://schemas.openxmlformats.org/drawingml/2006/main">
            <a:off x="781050" y="3019425"/>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AC88466-2C53-4451-8B00-34592B49EFD4}"/>
              </a:ext>
            </a:extLst>
          </p:cNvPr>
          <p:cNvSpPr>
            <a:spLocks xmlns:a="http://schemas.openxmlformats.org/drawingml/2006/main" noGrp="1"/>
          </p:cNvSpPr>
          <p:nvPr/>
        </p:nvSpPr>
        <p:spPr>
          <a:xfrm xmlns:a="http://schemas.openxmlformats.org/drawingml/2006/main">
            <a:off x="781050"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h₁₂</a:t>
            </a:r>
          </a:p>
        </p:txBody>
      </p:sp>
      <p:sp>
        <p:nvSpPr>
          <p:cNvPr id="12" name="">
            <a:extLst xmlns:a="http://schemas.openxmlformats.org/drawingml/2006/main">
              <a:ext uri="{FF2B5EF4-FFF2-40B4-BE49-F238E27FC236}">
                <a16:creationId xmlns:a16="http://schemas.microsoft.com/office/drawing/2014/main" id="{D7383B98-F7F1-443D-844C-149159AD7FF9}"/>
              </a:ext>
            </a:extLst>
          </p:cNvPr>
          <p:cNvSpPr>
            <a:spLocks xmlns:a="http://schemas.openxmlformats.org/drawingml/2006/main" noGrp="1"/>
          </p:cNvSpPr>
          <p:nvPr/>
        </p:nvSpPr>
        <p:spPr>
          <a:xfrm xmlns:a="http://schemas.openxmlformats.org/drawingml/2006/main">
            <a:off x="1724025" y="3019425"/>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BBA728-B250-4DDD-9B49-FA70E237926E}"/>
              </a:ext>
            </a:extLst>
          </p:cNvPr>
          <p:cNvSpPr>
            <a:spLocks xmlns:a="http://schemas.openxmlformats.org/drawingml/2006/main" noGrp="1"/>
          </p:cNvSpPr>
          <p:nvPr/>
        </p:nvSpPr>
        <p:spPr>
          <a:xfrm xmlns:a="http://schemas.openxmlformats.org/drawingml/2006/main">
            <a:off x="1724025"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h₂₂</a:t>
            </a:r>
          </a:p>
        </p:txBody>
      </p:sp>
      <p:sp>
        <p:nvSpPr>
          <p:cNvPr id="14" name="">
            <a:extLst xmlns:a="http://schemas.openxmlformats.org/drawingml/2006/main">
              <a:ext uri="{FF2B5EF4-FFF2-40B4-BE49-F238E27FC236}">
                <a16:creationId xmlns:a16="http://schemas.microsoft.com/office/drawing/2014/main" id="{BCFA4DD0-D193-4908-BBC2-B402B1040F27}"/>
              </a:ext>
            </a:extLst>
          </p:cNvPr>
          <p:cNvSpPr>
            <a:spLocks xmlns:a="http://schemas.openxmlformats.org/drawingml/2006/main" noGrp="1"/>
          </p:cNvSpPr>
          <p:nvPr/>
        </p:nvSpPr>
        <p:spPr>
          <a:xfrm xmlns:a="http://schemas.openxmlformats.org/drawingml/2006/main">
            <a:off x="2667000" y="3019425"/>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7B668E-6127-49EF-A16E-DC29DE32F064}"/>
              </a:ext>
            </a:extLst>
          </p:cNvPr>
          <p:cNvSpPr>
            <a:spLocks xmlns:a="http://schemas.openxmlformats.org/drawingml/2006/main" noGrp="1"/>
          </p:cNvSpPr>
          <p:nvPr/>
        </p:nvSpPr>
        <p:spPr>
          <a:xfrm xmlns:a="http://schemas.openxmlformats.org/drawingml/2006/main">
            <a:off x="2667000" y="3019425"/>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h₂₃</a:t>
            </a:r>
          </a:p>
        </p:txBody>
      </p:sp>
      <p:sp>
        <p:nvSpPr>
          <p:cNvPr id="16" name="">
            <a:extLst xmlns:a="http://schemas.openxmlformats.org/drawingml/2006/main">
              <a:ext uri="{FF2B5EF4-FFF2-40B4-BE49-F238E27FC236}">
                <a16:creationId xmlns:a16="http://schemas.microsoft.com/office/drawing/2014/main" id="{BCA23AA9-4284-406B-96BF-8AE28DC9B446}"/>
              </a:ext>
            </a:extLst>
          </p:cNvPr>
          <p:cNvSpPr>
            <a:spLocks xmlns:a="http://schemas.openxmlformats.org/drawingml/2006/main" noGrp="1"/>
          </p:cNvSpPr>
          <p:nvPr/>
        </p:nvSpPr>
        <p:spPr>
          <a:xfrm xmlns:a="http://schemas.openxmlformats.org/drawingml/2006/main">
            <a:off x="781050" y="396240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0DBDAC-B69C-46A7-BD92-79A4533306A9}"/>
              </a:ext>
            </a:extLst>
          </p:cNvPr>
          <p:cNvSpPr>
            <a:spLocks xmlns:a="http://schemas.openxmlformats.org/drawingml/2006/main" noGrp="1"/>
          </p:cNvSpPr>
          <p:nvPr/>
        </p:nvSpPr>
        <p:spPr>
          <a:xfrm xmlns:a="http://schemas.openxmlformats.org/drawingml/2006/main">
            <a:off x="781050"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h₁₃</a:t>
            </a:r>
          </a:p>
        </p:txBody>
      </p:sp>
      <p:sp>
        <p:nvSpPr>
          <p:cNvPr id="18" name="">
            <a:extLst xmlns:a="http://schemas.openxmlformats.org/drawingml/2006/main">
              <a:ext uri="{FF2B5EF4-FFF2-40B4-BE49-F238E27FC236}">
                <a16:creationId xmlns:a16="http://schemas.microsoft.com/office/drawing/2014/main" id="{7057FDE5-E3CF-4610-B4E0-87E034AEA6C1}"/>
              </a:ext>
            </a:extLst>
          </p:cNvPr>
          <p:cNvSpPr>
            <a:spLocks xmlns:a="http://schemas.openxmlformats.org/drawingml/2006/main" noGrp="1"/>
          </p:cNvSpPr>
          <p:nvPr/>
        </p:nvSpPr>
        <p:spPr>
          <a:xfrm xmlns:a="http://schemas.openxmlformats.org/drawingml/2006/main">
            <a:off x="1724025" y="3962400"/>
            <a:ext cx="895350" cy="895350"/>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474D2DD-EB78-4B20-AF0A-E3D71D65AFBB}"/>
              </a:ext>
            </a:extLst>
          </p:cNvPr>
          <p:cNvSpPr>
            <a:spLocks xmlns:a="http://schemas.openxmlformats.org/drawingml/2006/main" noGrp="1"/>
          </p:cNvSpPr>
          <p:nvPr/>
        </p:nvSpPr>
        <p:spPr>
          <a:xfrm xmlns:a="http://schemas.openxmlformats.org/drawingml/2006/main">
            <a:off x="1724025"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h₂₃</a:t>
            </a:r>
          </a:p>
        </p:txBody>
      </p:sp>
      <p:sp>
        <p:nvSpPr>
          <p:cNvPr id="20" name="">
            <a:extLst xmlns:a="http://schemas.openxmlformats.org/drawingml/2006/main">
              <a:ext uri="{FF2B5EF4-FFF2-40B4-BE49-F238E27FC236}">
                <a16:creationId xmlns:a16="http://schemas.microsoft.com/office/drawing/2014/main" id="{82ECF395-E442-4382-8F3E-3043A924AA25}"/>
              </a:ext>
            </a:extLst>
          </p:cNvPr>
          <p:cNvSpPr>
            <a:spLocks xmlns:a="http://schemas.openxmlformats.org/drawingml/2006/main" noGrp="1"/>
          </p:cNvSpPr>
          <p:nvPr/>
        </p:nvSpPr>
        <p:spPr>
          <a:xfrm xmlns:a="http://schemas.openxmlformats.org/drawingml/2006/main">
            <a:off x="2667000" y="3962400"/>
            <a:ext cx="895350" cy="8953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3792A13-05BC-4EEA-8143-CE9EC31F8F41}"/>
              </a:ext>
            </a:extLst>
          </p:cNvPr>
          <p:cNvSpPr>
            <a:spLocks xmlns:a="http://schemas.openxmlformats.org/drawingml/2006/main" noGrp="1"/>
          </p:cNvSpPr>
          <p:nvPr/>
        </p:nvSpPr>
        <p:spPr>
          <a:xfrm xmlns:a="http://schemas.openxmlformats.org/drawingml/2006/main">
            <a:off x="2667000" y="3962400"/>
            <a:ext cx="89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h₃₃</a:t>
            </a:r>
          </a:p>
        </p:txBody>
      </p:sp>
      <p:sp>
        <p:nvSpPr>
          <p:cNvPr id="22" name="">
            <a:extLst xmlns:a="http://schemas.openxmlformats.org/drawingml/2006/main">
              <a:ext uri="{FF2B5EF4-FFF2-40B4-BE49-F238E27FC236}">
                <a16:creationId xmlns:a16="http://schemas.microsoft.com/office/drawing/2014/main" id="{8A5C0EFF-B4F2-4DCA-883F-90CBF6AF87F2}"/>
              </a:ext>
            </a:extLst>
          </p:cNvPr>
          <p:cNvSpPr>
            <a:spLocks xmlns:a="http://schemas.openxmlformats.org/drawingml/2006/main" noGrp="1"/>
          </p:cNvSpPr>
          <p:nvPr/>
        </p:nvSpPr>
        <p:spPr>
          <a:xfrm xmlns:a="http://schemas.openxmlformats.org/drawingml/2006/main">
            <a:off x="4362450" y="2047875"/>
            <a:ext cx="6924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Diagonal contribution</a:t>
            </a:r>
          </a:p>
        </p:txBody>
      </p:sp>
      <p:sp>
        <p:nvSpPr>
          <p:cNvPr id="23" name="">
            <a:extLst xmlns:a="http://schemas.openxmlformats.org/drawingml/2006/main">
              <a:ext uri="{FF2B5EF4-FFF2-40B4-BE49-F238E27FC236}">
                <a16:creationId xmlns:a16="http://schemas.microsoft.com/office/drawing/2014/main" id="{EA00DAD4-E5AD-4EF2-ADAF-C63CAB9B969D}"/>
              </a:ext>
            </a:extLst>
          </p:cNvPr>
          <p:cNvSpPr>
            <a:spLocks xmlns:a="http://schemas.openxmlformats.org/drawingml/2006/main" noGrp="1"/>
          </p:cNvSpPr>
          <p:nvPr/>
        </p:nvSpPr>
        <p:spPr>
          <a:xfrm xmlns:a="http://schemas.openxmlformats.org/drawingml/2006/main">
            <a:off x="4362450" y="2609850"/>
            <a:ext cx="6924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586974"/>
                </a:solidFill>
                <a:latin typeface="Helvetica Neue"/>
                <a:ea typeface="Helvetica Neue"/>
                <a:cs typeface="Helvetica Neue"/>
              </a:defRPr>
            </a:pPr>
            <a:r>
              <a:rPr sz="2250" b="0">
                <a:solidFill>
                  <a:srgbClr val="586974"/>
                </a:solidFill>
                <a:latin typeface="Helvetica Neue"/>
                <a:ea typeface="Helvetica Neue"/>
                <a:cs typeface="Helvetica Neue"/>
              </a:rPr>
              <a:t>gᵢ² = 1, so it is deterministic</a:t>
            </a:r>
          </a:p>
        </p:txBody>
      </p:sp>
      <p:sp>
        <p:nvSpPr>
          <p:cNvPr id="24" name="">
            <a:extLst xmlns:a="http://schemas.openxmlformats.org/drawingml/2006/main">
              <a:ext uri="{FF2B5EF4-FFF2-40B4-BE49-F238E27FC236}">
                <a16:creationId xmlns:a16="http://schemas.microsoft.com/office/drawing/2014/main" id="{50CDB9B2-9252-4AD3-BFA4-03B0A79218DD}"/>
              </a:ext>
            </a:extLst>
          </p:cNvPr>
          <p:cNvSpPr>
            <a:spLocks xmlns:a="http://schemas.openxmlformats.org/drawingml/2006/main" noGrp="1"/>
          </p:cNvSpPr>
          <p:nvPr/>
        </p:nvSpPr>
        <p:spPr>
          <a:xfrm xmlns:a="http://schemas.openxmlformats.org/drawingml/2006/main">
            <a:off x="4362450" y="3543300"/>
            <a:ext cx="69246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Off-diagonal contribution</a:t>
            </a:r>
          </a:p>
        </p:txBody>
      </p:sp>
      <p:sp>
        <p:nvSpPr>
          <p:cNvPr id="25" name="">
            <a:extLst xmlns:a="http://schemas.openxmlformats.org/drawingml/2006/main">
              <a:ext uri="{FF2B5EF4-FFF2-40B4-BE49-F238E27FC236}">
                <a16:creationId xmlns:a16="http://schemas.microsoft.com/office/drawing/2014/main" id="{B19ABDD3-4A7D-4BA8-90C4-9053A83DAC74}"/>
              </a:ext>
            </a:extLst>
          </p:cNvPr>
          <p:cNvSpPr>
            <a:spLocks xmlns:a="http://schemas.openxmlformats.org/drawingml/2006/main" noGrp="1"/>
          </p:cNvSpPr>
          <p:nvPr/>
        </p:nvSpPr>
        <p:spPr>
          <a:xfrm xmlns:a="http://schemas.openxmlformats.org/drawingml/2006/main">
            <a:off x="4362450" y="4086225"/>
            <a:ext cx="69246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7847F"/>
                </a:solidFill>
                <a:latin typeface="Helvetica Neue"/>
                <a:ea typeface="Helvetica Neue"/>
                <a:cs typeface="Helvetica Neue"/>
              </a:defRPr>
            </a:pPr>
            <a:r>
              <a:rPr sz="2250" b="0">
                <a:solidFill>
                  <a:srgbClr val="37847F"/>
                </a:solidFill>
                <a:latin typeface="Helvetica Neue"/>
                <a:ea typeface="Helvetica Neue"/>
                <a:cs typeface="Helvetica Neue"/>
              </a:rPr>
              <a:t>Products gᵢgⱼ fluctuate</a:t>
            </a:r>
          </a:p>
        </p:txBody>
      </p:sp>
      <p:sp>
        <p:nvSpPr>
          <p:cNvPr id="26" name="">
            <a:extLst xmlns:a="http://schemas.openxmlformats.org/drawingml/2006/main">
              <a:ext uri="{FF2B5EF4-FFF2-40B4-BE49-F238E27FC236}">
                <a16:creationId xmlns:a16="http://schemas.microsoft.com/office/drawing/2014/main" id="{3BE3F345-631F-4C34-846D-8C3B08B9ABA2}"/>
              </a:ext>
            </a:extLst>
          </p:cNvPr>
          <p:cNvSpPr>
            <a:spLocks xmlns:a="http://schemas.openxmlformats.org/drawingml/2006/main" noGrp="1"/>
          </p:cNvSpPr>
          <p:nvPr/>
        </p:nvSpPr>
        <p:spPr>
          <a:xfrm xmlns:a="http://schemas.openxmlformats.org/drawingml/2006/main">
            <a:off x="666750" y="53340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1688E"/>
                </a:solidFill>
                <a:latin typeface="Helvetica Neue"/>
                <a:ea typeface="Helvetica Neue"/>
                <a:cs typeface="Helvetica Neue"/>
              </a:defRPr>
            </a:pPr>
            <a:r>
              <a:rPr sz="2550" b="1">
                <a:solidFill>
                  <a:srgbClr val="31688E"/>
                </a:solidFill>
                <a:latin typeface="Helvetica Neue"/>
                <a:ea typeface="Helvetica Neue"/>
                <a:cs typeface="Helvetica Neue"/>
              </a:rPr>
              <a:t>Rademacher risk = 2 × off-diagonal energy / ℓ</a:t>
            </a:r>
          </a:p>
        </p:txBody>
      </p:sp>
      <p:sp>
        <p:nvSpPr>
          <p:cNvPr id="27" name="">
            <a:extLst xmlns:a="http://schemas.openxmlformats.org/drawingml/2006/main">
              <a:ext uri="{FF2B5EF4-FFF2-40B4-BE49-F238E27FC236}">
                <a16:creationId xmlns:a16="http://schemas.microsoft.com/office/drawing/2014/main" id="{45ACBE81-7DE3-4FBA-BC4E-7378E21939D7}"/>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F4CBF3F-8BA6-45FC-8583-F39C39180625}"/>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Off-diagonal energy = sum of squared off-diagonal entries. The diagonal still contributes to the trace.</a:t>
            </a:r>
          </a:p>
        </p:txBody>
      </p:sp>
    </p:spTree>
    <p:extLst>
      <p:ext uri="{BB962C8B-B14F-4D97-AF65-F5344CB8AC3E}">
        <p14:creationId xmlns:p14="http://schemas.microsoft.com/office/powerpoint/2010/main" val="15688055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E878BF-4857-45F9-80E0-F0D74B6FD94E}"/>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Fresh observations can estimate the actual risk</a:t>
            </a:r>
          </a:p>
        </p:txBody>
      </p:sp>
      <p:sp>
        <p:nvSpPr>
          <p:cNvPr id="2" name="">
            <a:extLst xmlns:a="http://schemas.openxmlformats.org/drawingml/2006/main">
              <a:ext uri="{FF2B5EF4-FFF2-40B4-BE49-F238E27FC236}">
                <a16:creationId xmlns:a16="http://schemas.microsoft.com/office/drawing/2014/main" id="{83299A2C-CFED-4AAE-AA73-34F5B14F5BAA}"/>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For a fixed basis, collect Xⱼ = gⱼᵀHgⱼ and measure their spread.</a:t>
            </a:r>
          </a:p>
        </p:txBody>
      </p:sp>
      <p:sp>
        <p:nvSpPr>
          <p:cNvPr id="3" name="">
            <a:extLst xmlns:a="http://schemas.openxmlformats.org/drawingml/2006/main">
              <a:ext uri="{FF2B5EF4-FFF2-40B4-BE49-F238E27FC236}">
                <a16:creationId xmlns:a16="http://schemas.microsoft.com/office/drawing/2014/main" id="{9BBC4198-3D15-4E90-BA83-17E7E6AC0C99}"/>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12</a:t>
            </a:r>
          </a:p>
        </p:txBody>
      </p:sp>
      <p:graphicFrame>
        <p:nvGraphicFramePr>
          <p:cNvPr id="14" name="Chart"/>
          <p:cNvGraphicFramePr/>
          <p:nvPr/>
        </p:nvGraphicFramePr>
        <p:xfrm>
          <a:off xmlns:a="http://schemas.openxmlformats.org/drawingml/2006/main" x="619125" y="2105025"/>
          <a:ext xmlns:a="http://schemas.openxmlformats.org/drawingml/2006/main" cx="6381750" cy="3276600"/>
        </p:xfrm>
        <a:graphic xmlns:a="http://schemas.openxmlformats.org/drawingml/2006/main">
          <a:graphicData uri="http://schemas.openxmlformats.org/drawingml/2006/chart">
            <c:chart xmlns:r="http://schemas.openxmlformats.org/officeDocument/2006/relationships" xmlns:c="http://schemas.openxmlformats.org/drawingml/2006/chart" r:id="R00aa654aa5454e88"/>
          </a:graphicData>
        </a:graphic>
      </p:graphicFrame>
      <p:sp>
        <p:nvSpPr>
          <p:cNvPr id="5" name="">
            <a:extLst xmlns:a="http://schemas.openxmlformats.org/drawingml/2006/main">
              <a:ext uri="{FF2B5EF4-FFF2-40B4-BE49-F238E27FC236}">
                <a16:creationId xmlns:a16="http://schemas.microsoft.com/office/drawing/2014/main" id="{21BFBE84-E6D1-4762-8194-A7A39DB1EC6C}"/>
              </a:ext>
            </a:extLst>
          </p:cNvPr>
          <p:cNvSpPr>
            <a:spLocks xmlns:a="http://schemas.openxmlformats.org/drawingml/2006/main" noGrp="1"/>
          </p:cNvSpPr>
          <p:nvPr/>
        </p:nvSpPr>
        <p:spPr>
          <a:xfrm xmlns:a="http://schemas.openxmlformats.org/drawingml/2006/main">
            <a:off x="7591425" y="2228850"/>
            <a:ext cx="3838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Sample variance</a:t>
            </a:r>
          </a:p>
        </p:txBody>
      </p:sp>
      <p:sp>
        <p:nvSpPr>
          <p:cNvPr id="6" name="">
            <a:extLst xmlns:a="http://schemas.openxmlformats.org/drawingml/2006/main">
              <a:ext uri="{FF2B5EF4-FFF2-40B4-BE49-F238E27FC236}">
                <a16:creationId xmlns:a16="http://schemas.microsoft.com/office/drawing/2014/main" id="{BC11A8BA-B608-43EF-963D-615A708378BD}"/>
              </a:ext>
            </a:extLst>
          </p:cNvPr>
          <p:cNvSpPr>
            <a:spLocks xmlns:a="http://schemas.openxmlformats.org/drawingml/2006/main" noGrp="1"/>
          </p:cNvSpPr>
          <p:nvPr/>
        </p:nvSpPr>
        <p:spPr>
          <a:xfrm xmlns:a="http://schemas.openxmlformats.org/drawingml/2006/main">
            <a:off x="7591425" y="2800350"/>
            <a:ext cx="38385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37847F"/>
                </a:solidFill>
                <a:latin typeface="Helvetica Neue"/>
                <a:ea typeface="Helvetica Neue"/>
                <a:cs typeface="Helvetica Neue"/>
              </a:defRPr>
            </a:pPr>
            <a:r>
              <a:rPr sz="2325" b="1">
                <a:solidFill>
                  <a:srgbClr val="37847F"/>
                </a:solidFill>
                <a:latin typeface="Helvetica Neue"/>
                <a:ea typeface="Helvetica Neue"/>
                <a:cs typeface="Helvetica Neue"/>
              </a:rPr>
              <a:t>Estimates Var(X)</a:t>
            </a:r>
          </a:p>
        </p:txBody>
      </p:sp>
      <p:sp>
        <p:nvSpPr>
          <p:cNvPr id="7" name="">
            <a:extLst xmlns:a="http://schemas.openxmlformats.org/drawingml/2006/main">
              <a:ext uri="{FF2B5EF4-FFF2-40B4-BE49-F238E27FC236}">
                <a16:creationId xmlns:a16="http://schemas.microsoft.com/office/drawing/2014/main" id="{04CEB1B0-C554-46E6-9449-5B1D1D338D05}"/>
              </a:ext>
            </a:extLst>
          </p:cNvPr>
          <p:cNvSpPr>
            <a:spLocks xmlns:a="http://schemas.openxmlformats.org/drawingml/2006/main" noGrp="1"/>
          </p:cNvSpPr>
          <p:nvPr/>
        </p:nvSpPr>
        <p:spPr>
          <a:xfrm xmlns:a="http://schemas.openxmlformats.org/drawingml/2006/main">
            <a:off x="7591425" y="3895725"/>
            <a:ext cx="3838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Divide by ℓ</a:t>
            </a:r>
          </a:p>
        </p:txBody>
      </p:sp>
      <p:sp>
        <p:nvSpPr>
          <p:cNvPr id="8" name="">
            <a:extLst xmlns:a="http://schemas.openxmlformats.org/drawingml/2006/main">
              <a:ext uri="{FF2B5EF4-FFF2-40B4-BE49-F238E27FC236}">
                <a16:creationId xmlns:a16="http://schemas.microsoft.com/office/drawing/2014/main" id="{A68B63BE-3532-4B07-9993-7A732BD7D790}"/>
              </a:ext>
            </a:extLst>
          </p:cNvPr>
          <p:cNvSpPr>
            <a:spLocks xmlns:a="http://schemas.openxmlformats.org/drawingml/2006/main" noGrp="1"/>
          </p:cNvSpPr>
          <p:nvPr/>
        </p:nvSpPr>
        <p:spPr>
          <a:xfrm xmlns:a="http://schemas.openxmlformats.org/drawingml/2006/main">
            <a:off x="7591425" y="4467225"/>
            <a:ext cx="38385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Estimates trace MSE</a:t>
            </a:r>
          </a:p>
        </p:txBody>
      </p:sp>
      <p:sp>
        <p:nvSpPr>
          <p:cNvPr id="9" name="">
            <a:extLst xmlns:a="http://schemas.openxmlformats.org/drawingml/2006/main">
              <a:ext uri="{FF2B5EF4-FFF2-40B4-BE49-F238E27FC236}">
                <a16:creationId xmlns:a16="http://schemas.microsoft.com/office/drawing/2014/main" id="{B21A5D18-FE06-44B5-8C7A-CC290787C540}"/>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F385637-58D5-4E06-BE4E-F8C98EBB24C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Illustrative observations. Unbiased sample variance estimates σ²; σ²/ℓ is the exact conditional risk.</a:t>
            </a:r>
          </a:p>
        </p:txBody>
      </p:sp>
    </p:spTree>
    <p:extLst>
      <p:ext uri="{BB962C8B-B14F-4D97-AF65-F5344CB8AC3E}">
        <p14:creationId xmlns:p14="http://schemas.microsoft.com/office/powerpoint/2010/main" val="15237760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750BFB-AEE2-4CCB-ADEC-A7C4CAF58AB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same fresh probes can compare two bases</a:t>
            </a:r>
          </a:p>
        </p:txBody>
      </p:sp>
      <p:sp>
        <p:nvSpPr>
          <p:cNvPr id="2" name="">
            <a:extLst xmlns:a="http://schemas.openxmlformats.org/drawingml/2006/main">
              <a:ext uri="{FF2B5EF4-FFF2-40B4-BE49-F238E27FC236}">
                <a16:creationId xmlns:a16="http://schemas.microsoft.com/office/drawing/2014/main" id="{EA6E5509-3D6D-4B20-A358-967D2314B02B}"/>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candidate and baseline already exist before these probes arrive.</a:t>
            </a:r>
          </a:p>
        </p:txBody>
      </p:sp>
      <p:sp>
        <p:nvSpPr>
          <p:cNvPr id="3" name="">
            <a:extLst xmlns:a="http://schemas.openxmlformats.org/drawingml/2006/main">
              <a:ext uri="{FF2B5EF4-FFF2-40B4-BE49-F238E27FC236}">
                <a16:creationId xmlns:a16="http://schemas.microsoft.com/office/drawing/2014/main" id="{DCCA4C08-4385-49ED-98ED-69D751A1B3F7}"/>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000E1CC0-3EF3-4482-A87B-1D739F8AE2FF}"/>
              </a:ext>
            </a:extLst>
          </p:cNvPr>
          <p:cNvSpPr>
            <a:spLocks xmlns:a="http://schemas.openxmlformats.org/drawingml/2006/main" noGrp="1"/>
          </p:cNvSpPr>
          <p:nvPr/>
        </p:nvSpPr>
        <p:spPr>
          <a:xfrm xmlns:a="http://schemas.openxmlformats.org/drawingml/2006/main">
            <a:off x="600075" y="2981325"/>
            <a:ext cx="2552700" cy="123825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F169724B-9C5A-42D8-8750-8FC2B8FAD4EB}"/>
              </a:ext>
            </a:extLst>
          </p:cNvPr>
          <p:cNvSpPr>
            <a:spLocks xmlns:a="http://schemas.openxmlformats.org/drawingml/2006/main" noGrp="1"/>
          </p:cNvSpPr>
          <p:nvPr/>
        </p:nvSpPr>
        <p:spPr>
          <a:xfrm xmlns:a="http://schemas.openxmlformats.org/drawingml/2006/main">
            <a:off x="771525" y="3095625"/>
            <a:ext cx="2209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Fresh probe g</a:t>
            </a:r>
          </a:p>
        </p:txBody>
      </p:sp>
      <p:sp>
        <p:nvSpPr>
          <p:cNvPr id="6" name="">
            <a:extLst xmlns:a="http://schemas.openxmlformats.org/drawingml/2006/main">
              <a:ext uri="{FF2B5EF4-FFF2-40B4-BE49-F238E27FC236}">
                <a16:creationId xmlns:a16="http://schemas.microsoft.com/office/drawing/2014/main" id="{13C22B3C-009F-4429-91FA-7A08DFFB79CF}"/>
              </a:ext>
            </a:extLst>
          </p:cNvPr>
          <p:cNvSpPr>
            <a:spLocks xmlns:a="http://schemas.openxmlformats.org/drawingml/2006/main" noGrp="1"/>
          </p:cNvSpPr>
          <p:nvPr/>
        </p:nvSpPr>
        <p:spPr>
          <a:xfrm xmlns:a="http://schemas.openxmlformats.org/drawingml/2006/main">
            <a:off x="771525" y="3562350"/>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Query Ag once</a:t>
            </a:r>
          </a:p>
        </p:txBody>
      </p:sp>
      <p:sp>
        <p:nvSpPr>
          <p:cNvPr id="7" name="">
            <a:extLst xmlns:a="http://schemas.openxmlformats.org/drawingml/2006/main">
              <a:ext uri="{FF2B5EF4-FFF2-40B4-BE49-F238E27FC236}">
                <a16:creationId xmlns:a16="http://schemas.microsoft.com/office/drawing/2014/main" id="{73803821-0FBC-49D8-8B12-D5A8FA1752E4}"/>
              </a:ext>
            </a:extLst>
          </p:cNvPr>
          <p:cNvSpPr>
            <a:spLocks xmlns:a="http://schemas.openxmlformats.org/drawingml/2006/main" noGrp="1"/>
          </p:cNvSpPr>
          <p:nvPr/>
        </p:nvSpPr>
        <p:spPr>
          <a:xfrm xmlns:a="http://schemas.openxmlformats.org/drawingml/2006/main">
            <a:off x="4391025" y="1914525"/>
            <a:ext cx="2733675" cy="12192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82493212-4106-4CB7-841D-F0995F8133D7}"/>
              </a:ext>
            </a:extLst>
          </p:cNvPr>
          <p:cNvSpPr>
            <a:spLocks xmlns:a="http://schemas.openxmlformats.org/drawingml/2006/main" noGrp="1"/>
          </p:cNvSpPr>
          <p:nvPr/>
        </p:nvSpPr>
        <p:spPr>
          <a:xfrm xmlns:a="http://schemas.openxmlformats.org/drawingml/2006/main">
            <a:off x="4562475" y="2028825"/>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Candidate Qₐ</a:t>
            </a:r>
          </a:p>
        </p:txBody>
      </p:sp>
      <p:sp>
        <p:nvSpPr>
          <p:cNvPr id="9" name="">
            <a:extLst xmlns:a="http://schemas.openxmlformats.org/drawingml/2006/main">
              <a:ext uri="{FF2B5EF4-FFF2-40B4-BE49-F238E27FC236}">
                <a16:creationId xmlns:a16="http://schemas.microsoft.com/office/drawing/2014/main" id="{3B433024-1FFF-4EA8-8104-4557BB65B701}"/>
              </a:ext>
            </a:extLst>
          </p:cNvPr>
          <p:cNvSpPr>
            <a:spLocks xmlns:a="http://schemas.openxmlformats.org/drawingml/2006/main" noGrp="1"/>
          </p:cNvSpPr>
          <p:nvPr/>
        </p:nvSpPr>
        <p:spPr>
          <a:xfrm xmlns:a="http://schemas.openxmlformats.org/drawingml/2006/main">
            <a:off x="4562475" y="2495550"/>
            <a:ext cx="2390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Cached AQₐ</a:t>
            </a:r>
          </a:p>
        </p:txBody>
      </p:sp>
      <p:sp>
        <p:nvSpPr>
          <p:cNvPr id="10" name="">
            <a:extLst xmlns:a="http://schemas.openxmlformats.org/drawingml/2006/main">
              <a:ext uri="{FF2B5EF4-FFF2-40B4-BE49-F238E27FC236}">
                <a16:creationId xmlns:a16="http://schemas.microsoft.com/office/drawing/2014/main" id="{983AB269-2585-4AE3-8907-1275A21FA8A5}"/>
              </a:ext>
            </a:extLst>
          </p:cNvPr>
          <p:cNvSpPr>
            <a:spLocks xmlns:a="http://schemas.openxmlformats.org/drawingml/2006/main" noGrp="1"/>
          </p:cNvSpPr>
          <p:nvPr/>
        </p:nvSpPr>
        <p:spPr>
          <a:xfrm xmlns:a="http://schemas.openxmlformats.org/drawingml/2006/main">
            <a:off x="4391025" y="4476750"/>
            <a:ext cx="2733675" cy="12192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E7CE6A30-39F3-419C-9DF0-79742FFB134A}"/>
              </a:ext>
            </a:extLst>
          </p:cNvPr>
          <p:cNvSpPr>
            <a:spLocks xmlns:a="http://schemas.openxmlformats.org/drawingml/2006/main" noGrp="1"/>
          </p:cNvSpPr>
          <p:nvPr/>
        </p:nvSpPr>
        <p:spPr>
          <a:xfrm xmlns:a="http://schemas.openxmlformats.org/drawingml/2006/main">
            <a:off x="4562475" y="4591050"/>
            <a:ext cx="2390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Baseline Q₀</a:t>
            </a:r>
          </a:p>
        </p:txBody>
      </p:sp>
      <p:sp>
        <p:nvSpPr>
          <p:cNvPr id="12" name="">
            <a:extLst xmlns:a="http://schemas.openxmlformats.org/drawingml/2006/main">
              <a:ext uri="{FF2B5EF4-FFF2-40B4-BE49-F238E27FC236}">
                <a16:creationId xmlns:a16="http://schemas.microsoft.com/office/drawing/2014/main" id="{45B48C1B-8DBB-4B8F-A41A-1F17BA3F0F4E}"/>
              </a:ext>
            </a:extLst>
          </p:cNvPr>
          <p:cNvSpPr>
            <a:spLocks xmlns:a="http://schemas.openxmlformats.org/drawingml/2006/main" noGrp="1"/>
          </p:cNvSpPr>
          <p:nvPr/>
        </p:nvSpPr>
        <p:spPr>
          <a:xfrm xmlns:a="http://schemas.openxmlformats.org/drawingml/2006/main">
            <a:off x="4562475" y="5057775"/>
            <a:ext cx="2390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Cached AQ₀</a:t>
            </a:r>
          </a:p>
        </p:txBody>
      </p:sp>
      <p:sp>
        <p:nvSpPr>
          <p:cNvPr id="13" name="">
            <a:extLst xmlns:a="http://schemas.openxmlformats.org/drawingml/2006/main">
              <a:ext uri="{FF2B5EF4-FFF2-40B4-BE49-F238E27FC236}">
                <a16:creationId xmlns:a16="http://schemas.microsoft.com/office/drawing/2014/main" id="{AB242526-8090-4F88-B407-887DC6DC74B2}"/>
              </a:ext>
            </a:extLst>
          </p:cNvPr>
          <p:cNvSpPr>
            <a:spLocks xmlns:a="http://schemas.openxmlformats.org/drawingml/2006/main" noGrp="1"/>
          </p:cNvSpPr>
          <p:nvPr/>
        </p:nvSpPr>
        <p:spPr>
          <a:xfrm xmlns:a="http://schemas.openxmlformats.org/drawingml/2006/main">
            <a:off x="8162925" y="1914525"/>
            <a:ext cx="3362325" cy="121920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4" name="">
            <a:extLst xmlns:a="http://schemas.openxmlformats.org/drawingml/2006/main">
              <a:ext uri="{FF2B5EF4-FFF2-40B4-BE49-F238E27FC236}">
                <a16:creationId xmlns:a16="http://schemas.microsoft.com/office/drawing/2014/main" id="{B0382595-38DA-4BDF-95FC-E6B4F9A39607}"/>
              </a:ext>
            </a:extLst>
          </p:cNvPr>
          <p:cNvSpPr>
            <a:spLocks xmlns:a="http://schemas.openxmlformats.org/drawingml/2006/main" noGrp="1"/>
          </p:cNvSpPr>
          <p:nvPr/>
        </p:nvSpPr>
        <p:spPr>
          <a:xfrm xmlns:a="http://schemas.openxmlformats.org/drawingml/2006/main">
            <a:off x="8334375" y="2028825"/>
            <a:ext cx="3019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Candidate risk estimate</a:t>
            </a:r>
          </a:p>
        </p:txBody>
      </p:sp>
      <p:sp>
        <p:nvSpPr>
          <p:cNvPr id="15" name="">
            <a:extLst xmlns:a="http://schemas.openxmlformats.org/drawingml/2006/main">
              <a:ext uri="{FF2B5EF4-FFF2-40B4-BE49-F238E27FC236}">
                <a16:creationId xmlns:a16="http://schemas.microsoft.com/office/drawing/2014/main" id="{3D94DCDF-F07E-4726-85E6-0C8CBDD4007D}"/>
              </a:ext>
            </a:extLst>
          </p:cNvPr>
          <p:cNvSpPr>
            <a:spLocks xmlns:a="http://schemas.openxmlformats.org/drawingml/2006/main" noGrp="1"/>
          </p:cNvSpPr>
          <p:nvPr/>
        </p:nvSpPr>
        <p:spPr>
          <a:xfrm xmlns:a="http://schemas.openxmlformats.org/drawingml/2006/main">
            <a:off x="8334375" y="2495550"/>
            <a:ext cx="3019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Sample variance / ℓₐ</a:t>
            </a:r>
          </a:p>
        </p:txBody>
      </p:sp>
      <p:sp>
        <p:nvSpPr>
          <p:cNvPr id="16" name="">
            <a:extLst xmlns:a="http://schemas.openxmlformats.org/drawingml/2006/main">
              <a:ext uri="{FF2B5EF4-FFF2-40B4-BE49-F238E27FC236}">
                <a16:creationId xmlns:a16="http://schemas.microsoft.com/office/drawing/2014/main" id="{E20DF99A-07A1-45C1-A980-6B2CFC9AACBD}"/>
              </a:ext>
            </a:extLst>
          </p:cNvPr>
          <p:cNvSpPr>
            <a:spLocks xmlns:a="http://schemas.openxmlformats.org/drawingml/2006/main" noGrp="1"/>
          </p:cNvSpPr>
          <p:nvPr/>
        </p:nvSpPr>
        <p:spPr>
          <a:xfrm xmlns:a="http://schemas.openxmlformats.org/drawingml/2006/main">
            <a:off x="8162925" y="4476750"/>
            <a:ext cx="3362325" cy="1219200"/>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17" name="">
            <a:extLst xmlns:a="http://schemas.openxmlformats.org/drawingml/2006/main">
              <a:ext uri="{FF2B5EF4-FFF2-40B4-BE49-F238E27FC236}">
                <a16:creationId xmlns:a16="http://schemas.microsoft.com/office/drawing/2014/main" id="{833D3CE9-ED8B-40BB-84F7-6F63C10A2357}"/>
              </a:ext>
            </a:extLst>
          </p:cNvPr>
          <p:cNvSpPr>
            <a:spLocks xmlns:a="http://schemas.openxmlformats.org/drawingml/2006/main" noGrp="1"/>
          </p:cNvSpPr>
          <p:nvPr/>
        </p:nvSpPr>
        <p:spPr>
          <a:xfrm xmlns:a="http://schemas.openxmlformats.org/drawingml/2006/main">
            <a:off x="8334375" y="4591050"/>
            <a:ext cx="3019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Baseline risk estimate</a:t>
            </a:r>
          </a:p>
        </p:txBody>
      </p:sp>
      <p:sp>
        <p:nvSpPr>
          <p:cNvPr id="18" name="">
            <a:extLst xmlns:a="http://schemas.openxmlformats.org/drawingml/2006/main">
              <a:ext uri="{FF2B5EF4-FFF2-40B4-BE49-F238E27FC236}">
                <a16:creationId xmlns:a16="http://schemas.microsoft.com/office/drawing/2014/main" id="{81F042B6-710C-46D4-9309-98238DC23EE9}"/>
              </a:ext>
            </a:extLst>
          </p:cNvPr>
          <p:cNvSpPr>
            <a:spLocks xmlns:a="http://schemas.openxmlformats.org/drawingml/2006/main" noGrp="1"/>
          </p:cNvSpPr>
          <p:nvPr/>
        </p:nvSpPr>
        <p:spPr>
          <a:xfrm xmlns:a="http://schemas.openxmlformats.org/drawingml/2006/main">
            <a:off x="8334375" y="5057775"/>
            <a:ext cx="3019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Sample variance / ℓ₀</a:t>
            </a:r>
          </a:p>
        </p:txBody>
      </p:sp>
      <p:cxnSp>
        <p:nvCxnSpPr>
          <p:cNvPr id="44" name=""/>
          <p:cNvCxnSpPr>
            <a:stCxn xmlns:a="http://schemas.openxmlformats.org/drawingml/2006/main" id="4" idx="3"/>
            <a:endCxn xmlns:a="http://schemas.openxmlformats.org/drawingml/2006/main" id="7" idx="1"/>
          </p:cNvCxnSpPr>
          <p:nvPr/>
        </p:nvCxnSpPr>
        <p:spPr>
          <a:xfrm xmlns:a="http://schemas.openxmlformats.org/drawingml/2006/main" flipV="1">
            <a:off x="3152775" y="2524125"/>
            <a:ext cx="1238250" cy="1076325"/>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45" name=""/>
          <p:cNvCxnSpPr>
            <a:stCxn xmlns:a="http://schemas.openxmlformats.org/drawingml/2006/main" id="4" idx="3"/>
            <a:endCxn xmlns:a="http://schemas.openxmlformats.org/drawingml/2006/main" id="10" idx="1"/>
          </p:cNvCxnSpPr>
          <p:nvPr/>
        </p:nvCxnSpPr>
        <p:spPr>
          <a:xfrm xmlns:a="http://schemas.openxmlformats.org/drawingml/2006/main">
            <a:off x="3152775" y="3600450"/>
            <a:ext cx="1238250" cy="1485900"/>
          </a:xfrm>
          <a:prstGeom xmlns:a="http://schemas.openxmlformats.org/drawingml/2006/main" prst="bentConnector3">
            <a:avLst>
              <a:gd name="adj1" fmla="val 50000"/>
            </a:avLst>
          </a:prstGeom>
          <a:ln xmlns:a="http://schemas.openxmlformats.org/drawingml/2006/main" w="23813">
            <a:solidFill>
              <a:srgbClr val="31688E"/>
            </a:solidFill>
            <a:tailEnd type="triangle" w="sm" len="sm"/>
          </a:ln>
        </p:spPr>
      </p:cxnSp>
      <p:cxnSp>
        <p:nvCxnSpPr>
          <p:cNvPr id="46" name=""/>
          <p:cNvCxnSpPr>
            <a:stCxn xmlns:a="http://schemas.openxmlformats.org/drawingml/2006/main" id="7" idx="3"/>
            <a:endCxn xmlns:a="http://schemas.openxmlformats.org/drawingml/2006/main" id="13" idx="1"/>
          </p:cNvCxnSpPr>
          <p:nvPr/>
        </p:nvCxnSpPr>
        <p:spPr>
          <a:xfrm xmlns:a="http://schemas.openxmlformats.org/drawingml/2006/main">
            <a:off x="7124700" y="2524125"/>
            <a:ext cx="1038225"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47" name=""/>
          <p:cNvCxnSpPr>
            <a:stCxn xmlns:a="http://schemas.openxmlformats.org/drawingml/2006/main" id="10" idx="3"/>
            <a:endCxn xmlns:a="http://schemas.openxmlformats.org/drawingml/2006/main" id="16" idx="1"/>
          </p:cNvCxnSpPr>
          <p:nvPr/>
        </p:nvCxnSpPr>
        <p:spPr>
          <a:xfrm xmlns:a="http://schemas.openxmlformats.org/drawingml/2006/main">
            <a:off x="7124700" y="5086350"/>
            <a:ext cx="1038225"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23" name="">
            <a:extLst xmlns:a="http://schemas.openxmlformats.org/drawingml/2006/main">
              <a:ext uri="{FF2B5EF4-FFF2-40B4-BE49-F238E27FC236}">
                <a16:creationId xmlns:a16="http://schemas.microsoft.com/office/drawing/2014/main" id="{F725B690-C901-4DBD-A860-4D1A4175EBE6}"/>
              </a:ext>
            </a:extLst>
          </p:cNvPr>
          <p:cNvSpPr>
            <a:spLocks xmlns:a="http://schemas.openxmlformats.org/drawingml/2006/main" noGrp="1"/>
          </p:cNvSpPr>
          <p:nvPr/>
        </p:nvSpPr>
        <p:spPr>
          <a:xfrm xmlns:a="http://schemas.openxmlformats.org/drawingml/2006/main">
            <a:off x="7600950" y="3457575"/>
            <a:ext cx="3943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Subtract the two risk estimates</a:t>
            </a:r>
          </a:p>
        </p:txBody>
      </p:sp>
      <p:sp>
        <p:nvSpPr>
          <p:cNvPr id="24" name="">
            <a:extLst xmlns:a="http://schemas.openxmlformats.org/drawingml/2006/main">
              <a:ext uri="{FF2B5EF4-FFF2-40B4-BE49-F238E27FC236}">
                <a16:creationId xmlns:a16="http://schemas.microsoft.com/office/drawing/2014/main" id="{2CC6B717-25E0-4E5F-9814-4A58B422538D}"/>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A48FF2A-A2F6-4A3A-99A0-BCE0F4317AAA}"/>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Sharing Ag avoids duplicate queries. Shared randomness may help comparison; the covariance determines how much.</a:t>
            </a:r>
          </a:p>
        </p:txBody>
      </p:sp>
    </p:spTree>
    <p:extLst>
      <p:ext uri="{BB962C8B-B14F-4D97-AF65-F5344CB8AC3E}">
        <p14:creationId xmlns:p14="http://schemas.microsoft.com/office/powerpoint/2010/main" val="8496863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421655-F12E-4EF3-9E25-AF3DD3692F21}"/>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A risk estimate needs uncertainty before it can certify</a:t>
            </a:r>
          </a:p>
        </p:txBody>
      </p:sp>
      <p:sp>
        <p:nvSpPr>
          <p:cNvPr id="2" name="">
            <a:extLst xmlns:a="http://schemas.openxmlformats.org/drawingml/2006/main">
              <a:ext uri="{FF2B5EF4-FFF2-40B4-BE49-F238E27FC236}">
                <a16:creationId xmlns:a16="http://schemas.microsoft.com/office/drawing/2014/main" id="{5AE76D4B-78A1-4BF7-9014-8EA082A689AF}"/>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 candidate is justified when its upper risk bound is below the baseline’s lower bound.</a:t>
            </a:r>
          </a:p>
        </p:txBody>
      </p:sp>
      <p:sp>
        <p:nvSpPr>
          <p:cNvPr id="3" name="">
            <a:extLst xmlns:a="http://schemas.openxmlformats.org/drawingml/2006/main">
              <a:ext uri="{FF2B5EF4-FFF2-40B4-BE49-F238E27FC236}">
                <a16:creationId xmlns:a16="http://schemas.microsoft.com/office/drawing/2014/main" id="{6DF351AB-B781-471B-AADB-7790940E1381}"/>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544B5534-2BBA-49CC-97E0-BF087AE57C1F}"/>
              </a:ext>
            </a:extLst>
          </p:cNvPr>
          <p:cNvSpPr>
            <a:spLocks xmlns:a="http://schemas.openxmlformats.org/drawingml/2006/main" noGrp="1"/>
          </p:cNvSpPr>
          <p:nvPr/>
        </p:nvSpPr>
        <p:spPr>
          <a:xfrm xmlns:a="http://schemas.openxmlformats.org/drawingml/2006/main">
            <a:off x="676275" y="2486025"/>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Candidate</a:t>
            </a:r>
          </a:p>
        </p:txBody>
      </p:sp>
      <p:sp>
        <p:nvSpPr>
          <p:cNvPr id="5" name="">
            <a:extLst xmlns:a="http://schemas.openxmlformats.org/drawingml/2006/main">
              <a:ext uri="{FF2B5EF4-FFF2-40B4-BE49-F238E27FC236}">
                <a16:creationId xmlns:a16="http://schemas.microsoft.com/office/drawing/2014/main" id="{6F965B5E-A77D-46CB-8552-B35633BA8762}"/>
              </a:ext>
            </a:extLst>
          </p:cNvPr>
          <p:cNvSpPr>
            <a:spLocks xmlns:a="http://schemas.openxmlformats.org/drawingml/2006/main" noGrp="1"/>
          </p:cNvSpPr>
          <p:nvPr/>
        </p:nvSpPr>
        <p:spPr>
          <a:xfrm xmlns:a="http://schemas.openxmlformats.org/drawingml/2006/main">
            <a:off x="3143250" y="2686050"/>
            <a:ext cx="2686050" cy="1143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739166-4A6A-4DFC-BE5E-295750D3E551}"/>
              </a:ext>
            </a:extLst>
          </p:cNvPr>
          <p:cNvSpPr>
            <a:spLocks xmlns:a="http://schemas.openxmlformats.org/drawingml/2006/main" noGrp="1"/>
          </p:cNvSpPr>
          <p:nvPr/>
        </p:nvSpPr>
        <p:spPr>
          <a:xfrm xmlns:a="http://schemas.openxmlformats.org/drawingml/2006/main">
            <a:off x="3143250" y="2543175"/>
            <a:ext cx="28575"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342C447-39E8-4E05-AE42-E1DB45A44FF7}"/>
              </a:ext>
            </a:extLst>
          </p:cNvPr>
          <p:cNvSpPr>
            <a:spLocks xmlns:a="http://schemas.openxmlformats.org/drawingml/2006/main" noGrp="1"/>
          </p:cNvSpPr>
          <p:nvPr/>
        </p:nvSpPr>
        <p:spPr>
          <a:xfrm xmlns:a="http://schemas.openxmlformats.org/drawingml/2006/main">
            <a:off x="5800725" y="2543175"/>
            <a:ext cx="28575"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60E4DA-6D61-4B69-8E03-A8BB16F4B37A}"/>
              </a:ext>
            </a:extLst>
          </p:cNvPr>
          <p:cNvSpPr>
            <a:spLocks xmlns:a="http://schemas.openxmlformats.org/drawingml/2006/main" noGrp="1"/>
          </p:cNvSpPr>
          <p:nvPr/>
        </p:nvSpPr>
        <p:spPr>
          <a:xfrm xmlns:a="http://schemas.openxmlformats.org/drawingml/2006/main">
            <a:off x="676275" y="3962400"/>
            <a:ext cx="2190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Baseline</a:t>
            </a:r>
          </a:p>
        </p:txBody>
      </p:sp>
      <p:sp>
        <p:nvSpPr>
          <p:cNvPr id="9" name="">
            <a:extLst xmlns:a="http://schemas.openxmlformats.org/drawingml/2006/main">
              <a:ext uri="{FF2B5EF4-FFF2-40B4-BE49-F238E27FC236}">
                <a16:creationId xmlns:a16="http://schemas.microsoft.com/office/drawing/2014/main" id="{4F8B7F77-167F-4194-B5FD-4CADD84F9F30}"/>
              </a:ext>
            </a:extLst>
          </p:cNvPr>
          <p:cNvSpPr>
            <a:spLocks xmlns:a="http://schemas.openxmlformats.org/drawingml/2006/main" noGrp="1"/>
          </p:cNvSpPr>
          <p:nvPr/>
        </p:nvSpPr>
        <p:spPr>
          <a:xfrm xmlns:a="http://schemas.openxmlformats.org/drawingml/2006/main">
            <a:off x="7324725" y="4162425"/>
            <a:ext cx="3505200" cy="1143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FA9DDC-3C9B-4EF1-832E-2C34D32B4274}"/>
              </a:ext>
            </a:extLst>
          </p:cNvPr>
          <p:cNvSpPr>
            <a:spLocks xmlns:a="http://schemas.openxmlformats.org/drawingml/2006/main" noGrp="1"/>
          </p:cNvSpPr>
          <p:nvPr/>
        </p:nvSpPr>
        <p:spPr>
          <a:xfrm xmlns:a="http://schemas.openxmlformats.org/drawingml/2006/main">
            <a:off x="7324725" y="4019550"/>
            <a:ext cx="28575" cy="409575"/>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A49191-E382-4277-8849-80AD8270D19D}"/>
              </a:ext>
            </a:extLst>
          </p:cNvPr>
          <p:cNvSpPr>
            <a:spLocks xmlns:a="http://schemas.openxmlformats.org/drawingml/2006/main" noGrp="1"/>
          </p:cNvSpPr>
          <p:nvPr/>
        </p:nvSpPr>
        <p:spPr>
          <a:xfrm xmlns:a="http://schemas.openxmlformats.org/drawingml/2006/main">
            <a:off x="10801350" y="4019550"/>
            <a:ext cx="28575" cy="409575"/>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335C2A-7F0B-4518-91C0-6109C58F8061}"/>
              </a:ext>
            </a:extLst>
          </p:cNvPr>
          <p:cNvSpPr>
            <a:spLocks xmlns:a="http://schemas.openxmlformats.org/drawingml/2006/main" noGrp="1"/>
          </p:cNvSpPr>
          <p:nvPr/>
        </p:nvSpPr>
        <p:spPr>
          <a:xfrm xmlns:a="http://schemas.openxmlformats.org/drawingml/2006/main">
            <a:off x="2876550" y="30670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37847F"/>
                </a:solidFill>
                <a:latin typeface="Helvetica Neue"/>
                <a:ea typeface="Helvetica Neue"/>
                <a:cs typeface="Helvetica Neue"/>
              </a:defRPr>
            </a:pPr>
            <a:r>
              <a:rPr sz="1800" b="0">
                <a:solidFill>
                  <a:srgbClr val="37847F"/>
                </a:solidFill>
                <a:latin typeface="Helvetica Neue"/>
                <a:ea typeface="Helvetica Neue"/>
                <a:cs typeface="Helvetica Neue"/>
              </a:rPr>
              <a:t>Upper candidate bound</a:t>
            </a:r>
          </a:p>
        </p:txBody>
      </p:sp>
      <p:sp>
        <p:nvSpPr>
          <p:cNvPr id="13" name="">
            <a:extLst xmlns:a="http://schemas.openxmlformats.org/drawingml/2006/main">
              <a:ext uri="{FF2B5EF4-FFF2-40B4-BE49-F238E27FC236}">
                <a16:creationId xmlns:a16="http://schemas.microsoft.com/office/drawing/2014/main" id="{94B1A5F3-40D0-4799-975D-0FCDF6D03FCD}"/>
              </a:ext>
            </a:extLst>
          </p:cNvPr>
          <p:cNvSpPr>
            <a:spLocks xmlns:a="http://schemas.openxmlformats.org/drawingml/2006/main" noGrp="1"/>
          </p:cNvSpPr>
          <p:nvPr/>
        </p:nvSpPr>
        <p:spPr>
          <a:xfrm xmlns:a="http://schemas.openxmlformats.org/drawingml/2006/main">
            <a:off x="6638925" y="45053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31688E"/>
                </a:solidFill>
                <a:latin typeface="Helvetica Neue"/>
                <a:ea typeface="Helvetica Neue"/>
                <a:cs typeface="Helvetica Neue"/>
              </a:defRPr>
            </a:pPr>
            <a:r>
              <a:rPr sz="1800" b="0">
                <a:solidFill>
                  <a:srgbClr val="31688E"/>
                </a:solidFill>
                <a:latin typeface="Helvetica Neue"/>
                <a:ea typeface="Helvetica Neue"/>
                <a:cs typeface="Helvetica Neue"/>
              </a:rPr>
              <a:t>Lower baseline bound</a:t>
            </a:r>
          </a:p>
        </p:txBody>
      </p:sp>
      <p:sp>
        <p:nvSpPr>
          <p:cNvPr id="14" name="">
            <a:extLst xmlns:a="http://schemas.openxmlformats.org/drawingml/2006/main">
              <a:ext uri="{FF2B5EF4-FFF2-40B4-BE49-F238E27FC236}">
                <a16:creationId xmlns:a16="http://schemas.microsoft.com/office/drawing/2014/main" id="{205D99B9-249D-4761-99B2-A7594A3CFBE0}"/>
              </a:ext>
            </a:extLst>
          </p:cNvPr>
          <p:cNvSpPr>
            <a:spLocks xmlns:a="http://schemas.openxmlformats.org/drawingml/2006/main" noGrp="1"/>
          </p:cNvSpPr>
          <p:nvPr/>
        </p:nvSpPr>
        <p:spPr>
          <a:xfrm xmlns:a="http://schemas.openxmlformats.org/drawingml/2006/main">
            <a:off x="6410325" y="2686050"/>
            <a:ext cx="314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92D3C"/>
                </a:solidFill>
                <a:latin typeface="Helvetica Neue"/>
                <a:ea typeface="Helvetica Neue"/>
                <a:cs typeface="Helvetica Neue"/>
              </a:defRPr>
            </a:pPr>
            <a:r>
              <a:rPr sz="3450" b="1">
                <a:solidFill>
                  <a:srgbClr val="192D3C"/>
                </a:solidFill>
                <a:latin typeface="Helvetica Neue"/>
                <a:ea typeface="Helvetica Neue"/>
                <a:cs typeface="Helvetica Neue"/>
              </a:rPr>
              <a:t>Uₐ ≤ L₀</a:t>
            </a:r>
          </a:p>
        </p:txBody>
      </p:sp>
      <p:sp>
        <p:nvSpPr>
          <p:cNvPr id="15" name="">
            <a:extLst xmlns:a="http://schemas.openxmlformats.org/drawingml/2006/main">
              <a:ext uri="{FF2B5EF4-FFF2-40B4-BE49-F238E27FC236}">
                <a16:creationId xmlns:a16="http://schemas.microsoft.com/office/drawing/2014/main" id="{FEE847EB-96C7-40A6-BC7B-3EAA17BAA350}"/>
              </a:ext>
            </a:extLst>
          </p:cNvPr>
          <p:cNvSpPr>
            <a:spLocks xmlns:a="http://schemas.openxmlformats.org/drawingml/2006/main" noGrp="1"/>
          </p:cNvSpPr>
          <p:nvPr/>
        </p:nvSpPr>
        <p:spPr>
          <a:xfrm xmlns:a="http://schemas.openxmlformats.org/drawingml/2006/main">
            <a:off x="3152775" y="5219700"/>
            <a:ext cx="7620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586974"/>
                </a:solidFill>
                <a:latin typeface="Helvetica Neue"/>
                <a:ea typeface="Helvetica Neue"/>
                <a:cs typeface="Helvetica Neue"/>
              </a:defRPr>
            </a:pPr>
            <a:r>
              <a:rPr sz="2025" b="0">
                <a:solidFill>
                  <a:srgbClr val="586974"/>
                </a:solidFill>
                <a:latin typeface="Helvetica Neue"/>
                <a:ea typeface="Helvetica Neue"/>
                <a:cs typeface="Helvetica Neue"/>
              </a:rPr>
              <a:t>Risk increases to the right</a:t>
            </a:r>
          </a:p>
        </p:txBody>
      </p:sp>
      <p:sp>
        <p:nvSpPr>
          <p:cNvPr id="16" name="">
            <a:extLst xmlns:a="http://schemas.openxmlformats.org/drawingml/2006/main">
              <a:ext uri="{FF2B5EF4-FFF2-40B4-BE49-F238E27FC236}">
                <a16:creationId xmlns:a16="http://schemas.microsoft.com/office/drawing/2014/main" id="{38C8FAA8-CBC0-4EA7-BC69-0CBD53C294E8}"/>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C877935-3B37-4B98-A34E-1B7AD3BDAC97}"/>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Schematic valid simultaneous intervals. An empirical factor-two rule alone does not supply these bounds.</a:t>
            </a:r>
          </a:p>
        </p:txBody>
      </p:sp>
    </p:spTree>
    <p:extLst>
      <p:ext uri="{BB962C8B-B14F-4D97-AF65-F5344CB8AC3E}">
        <p14:creationId xmlns:p14="http://schemas.microsoft.com/office/powerpoint/2010/main" val="8832552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855EA38-BCB6-4116-B36C-53E4F9BAE2F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Checking an action spends the same query budget</a:t>
            </a:r>
          </a:p>
        </p:txBody>
      </p:sp>
      <p:sp>
        <p:nvSpPr>
          <p:cNvPr id="2" name="">
            <a:extLst xmlns:a="http://schemas.openxmlformats.org/drawingml/2006/main">
              <a:ext uri="{FF2B5EF4-FFF2-40B4-BE49-F238E27FC236}">
                <a16:creationId xmlns:a16="http://schemas.microsoft.com/office/drawing/2014/main" id="{6054D378-3BFE-435D-9E21-08E1EC97BCB6}"/>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Example: original q = r = 15; candidate q = r = 16; s = 16 certification probes.</a:t>
            </a:r>
          </a:p>
        </p:txBody>
      </p:sp>
      <p:sp>
        <p:nvSpPr>
          <p:cNvPr id="3" name="">
            <a:extLst xmlns:a="http://schemas.openxmlformats.org/drawingml/2006/main">
              <a:ext uri="{FF2B5EF4-FFF2-40B4-BE49-F238E27FC236}">
                <a16:creationId xmlns:a16="http://schemas.microsoft.com/office/drawing/2014/main" id="{2C322229-0ACE-41F9-85F4-D273FB2DD17D}"/>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F55E7BDB-7D8E-4CD3-939C-73D4F45766EB}"/>
              </a:ext>
            </a:extLst>
          </p:cNvPr>
          <p:cNvSpPr>
            <a:spLocks xmlns:a="http://schemas.openxmlformats.org/drawingml/2006/main" noGrp="1"/>
          </p:cNvSpPr>
          <p:nvPr/>
        </p:nvSpPr>
        <p:spPr>
          <a:xfrm xmlns:a="http://schemas.openxmlformats.org/drawingml/2006/main">
            <a:off x="609600" y="19431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Original baseline</a:t>
            </a:r>
          </a:p>
        </p:txBody>
      </p:sp>
      <p:sp>
        <p:nvSpPr>
          <p:cNvPr id="5" name="">
            <a:extLst xmlns:a="http://schemas.openxmlformats.org/drawingml/2006/main">
              <a:ext uri="{FF2B5EF4-FFF2-40B4-BE49-F238E27FC236}">
                <a16:creationId xmlns:a16="http://schemas.microsoft.com/office/drawing/2014/main" id="{F9D81399-F274-400D-89E6-8BE5E8EB7A66}"/>
              </a:ext>
            </a:extLst>
          </p:cNvPr>
          <p:cNvSpPr>
            <a:spLocks xmlns:a="http://schemas.openxmlformats.org/drawingml/2006/main" noGrp="1"/>
          </p:cNvSpPr>
          <p:nvPr/>
        </p:nvSpPr>
        <p:spPr>
          <a:xfrm xmlns:a="http://schemas.openxmlformats.org/drawingml/2006/main">
            <a:off x="619125" y="2505075"/>
            <a:ext cx="2035969"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35319E-1A2B-4E62-8E34-79E475DB71E2}"/>
              </a:ext>
            </a:extLst>
          </p:cNvPr>
          <p:cNvSpPr>
            <a:spLocks xmlns:a="http://schemas.openxmlformats.org/drawingml/2006/main" noGrp="1"/>
          </p:cNvSpPr>
          <p:nvPr/>
        </p:nvSpPr>
        <p:spPr>
          <a:xfrm xmlns:a="http://schemas.openxmlformats.org/drawingml/2006/main">
            <a:off x="619125" y="2571750"/>
            <a:ext cx="2035969"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30</a:t>
            </a:r>
          </a:p>
        </p:txBody>
      </p:sp>
      <p:sp>
        <p:nvSpPr>
          <p:cNvPr id="7" name="">
            <a:extLst xmlns:a="http://schemas.openxmlformats.org/drawingml/2006/main">
              <a:ext uri="{FF2B5EF4-FFF2-40B4-BE49-F238E27FC236}">
                <a16:creationId xmlns:a16="http://schemas.microsoft.com/office/drawing/2014/main" id="{442D7AE7-1DBC-4231-A89D-913E993F346F}"/>
              </a:ext>
            </a:extLst>
          </p:cNvPr>
          <p:cNvSpPr>
            <a:spLocks xmlns:a="http://schemas.openxmlformats.org/drawingml/2006/main" noGrp="1"/>
          </p:cNvSpPr>
          <p:nvPr/>
        </p:nvSpPr>
        <p:spPr>
          <a:xfrm xmlns:a="http://schemas.openxmlformats.org/drawingml/2006/main">
            <a:off x="2655094" y="2505075"/>
            <a:ext cx="8822531"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C467E4-FD82-4899-B55F-830A8B48BD8F}"/>
              </a:ext>
            </a:extLst>
          </p:cNvPr>
          <p:cNvSpPr>
            <a:spLocks xmlns:a="http://schemas.openxmlformats.org/drawingml/2006/main" noGrp="1"/>
          </p:cNvSpPr>
          <p:nvPr/>
        </p:nvSpPr>
        <p:spPr>
          <a:xfrm xmlns:a="http://schemas.openxmlformats.org/drawingml/2006/main">
            <a:off x="2655094" y="2571750"/>
            <a:ext cx="8822531"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130</a:t>
            </a:r>
          </a:p>
        </p:txBody>
      </p:sp>
      <p:sp>
        <p:nvSpPr>
          <p:cNvPr id="9" name="">
            <a:extLst xmlns:a="http://schemas.openxmlformats.org/drawingml/2006/main">
              <a:ext uri="{FF2B5EF4-FFF2-40B4-BE49-F238E27FC236}">
                <a16:creationId xmlns:a16="http://schemas.microsoft.com/office/drawing/2014/main" id="{9A07A0C9-7E00-41EE-A140-E99ABC4B5301}"/>
              </a:ext>
            </a:extLst>
          </p:cNvPr>
          <p:cNvSpPr>
            <a:spLocks xmlns:a="http://schemas.openxmlformats.org/drawingml/2006/main" noGrp="1"/>
          </p:cNvSpPr>
          <p:nvPr/>
        </p:nvSpPr>
        <p:spPr>
          <a:xfrm xmlns:a="http://schemas.openxmlformats.org/drawingml/2006/main">
            <a:off x="609600" y="35052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After shared candidate construction and certification</a:t>
            </a:r>
          </a:p>
        </p:txBody>
      </p:sp>
      <p:sp>
        <p:nvSpPr>
          <p:cNvPr id="10" name="">
            <a:extLst xmlns:a="http://schemas.openxmlformats.org/drawingml/2006/main">
              <a:ext uri="{FF2B5EF4-FFF2-40B4-BE49-F238E27FC236}">
                <a16:creationId xmlns:a16="http://schemas.microsoft.com/office/drawing/2014/main" id="{AA00D631-33D2-4C61-B4A4-C8BDDF20A08E}"/>
              </a:ext>
            </a:extLst>
          </p:cNvPr>
          <p:cNvSpPr>
            <a:spLocks xmlns:a="http://schemas.openxmlformats.org/drawingml/2006/main" noGrp="1"/>
          </p:cNvSpPr>
          <p:nvPr/>
        </p:nvSpPr>
        <p:spPr>
          <a:xfrm xmlns:a="http://schemas.openxmlformats.org/drawingml/2006/main">
            <a:off x="619125" y="4076700"/>
            <a:ext cx="2171700"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19F2DB-5CE2-4F08-A522-6055015A0D0F}"/>
              </a:ext>
            </a:extLst>
          </p:cNvPr>
          <p:cNvSpPr>
            <a:spLocks xmlns:a="http://schemas.openxmlformats.org/drawingml/2006/main" noGrp="1"/>
          </p:cNvSpPr>
          <p:nvPr/>
        </p:nvSpPr>
        <p:spPr>
          <a:xfrm xmlns:a="http://schemas.openxmlformats.org/drawingml/2006/main">
            <a:off x="619125" y="4143375"/>
            <a:ext cx="2171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32</a:t>
            </a:r>
          </a:p>
        </p:txBody>
      </p:sp>
      <p:sp>
        <p:nvSpPr>
          <p:cNvPr id="12" name="">
            <a:extLst xmlns:a="http://schemas.openxmlformats.org/drawingml/2006/main">
              <a:ext uri="{FF2B5EF4-FFF2-40B4-BE49-F238E27FC236}">
                <a16:creationId xmlns:a16="http://schemas.microsoft.com/office/drawing/2014/main" id="{99852DC6-EDF0-41B9-B09B-A4E1791751C0}"/>
              </a:ext>
            </a:extLst>
          </p:cNvPr>
          <p:cNvSpPr>
            <a:spLocks xmlns:a="http://schemas.openxmlformats.org/drawingml/2006/main" noGrp="1"/>
          </p:cNvSpPr>
          <p:nvPr/>
        </p:nvSpPr>
        <p:spPr>
          <a:xfrm xmlns:a="http://schemas.openxmlformats.org/drawingml/2006/main">
            <a:off x="2790825" y="4076700"/>
            <a:ext cx="1085850" cy="609600"/>
          </a:xfrm>
          <a:prstGeom xmlns:a="http://schemas.openxmlformats.org/drawingml/2006/main" prst="rect">
            <a:avLst/>
          </a:prstGeom>
          <a:solidFill xmlns:a="http://schemas.openxmlformats.org/drawingml/2006/main">
            <a:srgbClr val="BC7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282AEB-BF7B-45F5-874B-CA795C14E639}"/>
              </a:ext>
            </a:extLst>
          </p:cNvPr>
          <p:cNvSpPr>
            <a:spLocks xmlns:a="http://schemas.openxmlformats.org/drawingml/2006/main" noGrp="1"/>
          </p:cNvSpPr>
          <p:nvPr/>
        </p:nvSpPr>
        <p:spPr>
          <a:xfrm xmlns:a="http://schemas.openxmlformats.org/drawingml/2006/main">
            <a:off x="2790825" y="4143375"/>
            <a:ext cx="1085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16</a:t>
            </a:r>
          </a:p>
        </p:txBody>
      </p:sp>
      <p:sp>
        <p:nvSpPr>
          <p:cNvPr id="14" name="">
            <a:extLst xmlns:a="http://schemas.openxmlformats.org/drawingml/2006/main">
              <a:ext uri="{FF2B5EF4-FFF2-40B4-BE49-F238E27FC236}">
                <a16:creationId xmlns:a16="http://schemas.microsoft.com/office/drawing/2014/main" id="{369117C6-82CE-48F0-BA8A-41590F1CFD17}"/>
              </a:ext>
            </a:extLst>
          </p:cNvPr>
          <p:cNvSpPr>
            <a:spLocks xmlns:a="http://schemas.openxmlformats.org/drawingml/2006/main" noGrp="1"/>
          </p:cNvSpPr>
          <p:nvPr/>
        </p:nvSpPr>
        <p:spPr>
          <a:xfrm xmlns:a="http://schemas.openxmlformats.org/drawingml/2006/main">
            <a:off x="3876675" y="4076700"/>
            <a:ext cx="7600950"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856D556-7C95-4475-AD27-208CDD6B1A1C}"/>
              </a:ext>
            </a:extLst>
          </p:cNvPr>
          <p:cNvSpPr>
            <a:spLocks xmlns:a="http://schemas.openxmlformats.org/drawingml/2006/main" noGrp="1"/>
          </p:cNvSpPr>
          <p:nvPr/>
        </p:nvSpPr>
        <p:spPr>
          <a:xfrm xmlns:a="http://schemas.openxmlformats.org/drawingml/2006/main">
            <a:off x="3876675" y="4143375"/>
            <a:ext cx="7600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92D3C"/>
                </a:solidFill>
                <a:latin typeface="Helvetica Neue"/>
                <a:ea typeface="Helvetica Neue"/>
                <a:cs typeface="Helvetica Neue"/>
              </a:defRPr>
            </a:pPr>
            <a:r>
              <a:rPr sz="1875" b="1">
                <a:solidFill>
                  <a:srgbClr val="192D3C"/>
                </a:solidFill>
                <a:latin typeface="Helvetica Neue"/>
                <a:ea typeface="Helvetica Neue"/>
                <a:cs typeface="Helvetica Neue"/>
              </a:rPr>
              <a:t>112</a:t>
            </a:r>
          </a:p>
        </p:txBody>
      </p:sp>
      <p:sp>
        <p:nvSpPr>
          <p:cNvPr id="16" name="">
            <a:extLst xmlns:a="http://schemas.openxmlformats.org/drawingml/2006/main">
              <a:ext uri="{FF2B5EF4-FFF2-40B4-BE49-F238E27FC236}">
                <a16:creationId xmlns:a16="http://schemas.microsoft.com/office/drawing/2014/main" id="{32CF4505-4A99-4031-9D4E-C7DEF650221B}"/>
              </a:ext>
            </a:extLst>
          </p:cNvPr>
          <p:cNvSpPr>
            <a:spLocks xmlns:a="http://schemas.openxmlformats.org/drawingml/2006/main" noGrp="1"/>
          </p:cNvSpPr>
          <p:nvPr/>
        </p:nvSpPr>
        <p:spPr>
          <a:xfrm xmlns:a="http://schemas.openxmlformats.org/drawingml/2006/main">
            <a:off x="628650" y="4857750"/>
            <a:ext cx="3105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31688E"/>
                </a:solidFill>
                <a:latin typeface="Helvetica Neue"/>
                <a:ea typeface="Helvetica Neue"/>
                <a:cs typeface="Helvetica Neue"/>
              </a:defRPr>
            </a:pPr>
            <a:r>
              <a:rPr sz="1875" b="1">
                <a:solidFill>
                  <a:srgbClr val="31688E"/>
                </a:solidFill>
                <a:latin typeface="Helvetica Neue"/>
                <a:ea typeface="Helvetica Neue"/>
                <a:cs typeface="Helvetica Neue"/>
              </a:rPr>
              <a:t>32 construction</a:t>
            </a:r>
          </a:p>
        </p:txBody>
      </p:sp>
      <p:sp>
        <p:nvSpPr>
          <p:cNvPr id="17" name="">
            <a:extLst xmlns:a="http://schemas.openxmlformats.org/drawingml/2006/main">
              <a:ext uri="{FF2B5EF4-FFF2-40B4-BE49-F238E27FC236}">
                <a16:creationId xmlns:a16="http://schemas.microsoft.com/office/drawing/2014/main" id="{5F93373C-1CEA-4529-A58B-05657EF49F5D}"/>
              </a:ext>
            </a:extLst>
          </p:cNvPr>
          <p:cNvSpPr>
            <a:spLocks xmlns:a="http://schemas.openxmlformats.org/drawingml/2006/main" noGrp="1"/>
          </p:cNvSpPr>
          <p:nvPr/>
        </p:nvSpPr>
        <p:spPr>
          <a:xfrm xmlns:a="http://schemas.openxmlformats.org/drawingml/2006/main">
            <a:off x="4362450" y="4857750"/>
            <a:ext cx="3162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BC702D"/>
                </a:solidFill>
                <a:latin typeface="Helvetica Neue"/>
                <a:ea typeface="Helvetica Neue"/>
                <a:cs typeface="Helvetica Neue"/>
              </a:defRPr>
            </a:pPr>
            <a:r>
              <a:rPr sz="1875" b="1">
                <a:solidFill>
                  <a:srgbClr val="BC702D"/>
                </a:solidFill>
                <a:latin typeface="Helvetica Neue"/>
                <a:ea typeface="Helvetica Neue"/>
                <a:cs typeface="Helvetica Neue"/>
              </a:rPr>
              <a:t>16 certification</a:t>
            </a:r>
          </a:p>
        </p:txBody>
      </p:sp>
      <p:sp>
        <p:nvSpPr>
          <p:cNvPr id="18" name="">
            <a:extLst xmlns:a="http://schemas.openxmlformats.org/drawingml/2006/main">
              <a:ext uri="{FF2B5EF4-FFF2-40B4-BE49-F238E27FC236}">
                <a16:creationId xmlns:a16="http://schemas.microsoft.com/office/drawing/2014/main" id="{81BE55A1-8337-4558-925B-5F357FA15828}"/>
              </a:ext>
            </a:extLst>
          </p:cNvPr>
          <p:cNvSpPr>
            <a:spLocks xmlns:a="http://schemas.openxmlformats.org/drawingml/2006/main" noGrp="1"/>
          </p:cNvSpPr>
          <p:nvPr/>
        </p:nvSpPr>
        <p:spPr>
          <a:xfrm xmlns:a="http://schemas.openxmlformats.org/drawingml/2006/main">
            <a:off x="8372475" y="4857750"/>
            <a:ext cx="314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37847F"/>
                </a:solidFill>
                <a:latin typeface="Helvetica Neue"/>
                <a:ea typeface="Helvetica Neue"/>
                <a:cs typeface="Helvetica Neue"/>
              </a:defRPr>
            </a:pPr>
            <a:r>
              <a:rPr sz="1875" b="1">
                <a:solidFill>
                  <a:srgbClr val="37847F"/>
                </a:solidFill>
                <a:latin typeface="Helvetica Neue"/>
                <a:ea typeface="Helvetica Neue"/>
                <a:cs typeface="Helvetica Neue"/>
              </a:rPr>
              <a:t>112 final probes</a:t>
            </a:r>
          </a:p>
        </p:txBody>
      </p:sp>
      <p:sp>
        <p:nvSpPr>
          <p:cNvPr id="19" name="">
            <a:extLst xmlns:a="http://schemas.openxmlformats.org/drawingml/2006/main">
              <a:ext uri="{FF2B5EF4-FFF2-40B4-BE49-F238E27FC236}">
                <a16:creationId xmlns:a16="http://schemas.microsoft.com/office/drawing/2014/main" id="{F7F79E1B-E55F-4F16-A584-6411F468D3E7}"/>
              </a:ext>
            </a:extLst>
          </p:cNvPr>
          <p:cNvSpPr>
            <a:spLocks xmlns:a="http://schemas.openxmlformats.org/drawingml/2006/main" noGrp="1"/>
          </p:cNvSpPr>
          <p:nvPr/>
        </p:nvSpPr>
        <p:spPr>
          <a:xfrm xmlns:a="http://schemas.openxmlformats.org/drawingml/2006/main">
            <a:off x="628650" y="5505450"/>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Returning to the old basis cannot restore its 130 probes.</a:t>
            </a:r>
          </a:p>
        </p:txBody>
      </p:sp>
      <p:sp>
        <p:nvSpPr>
          <p:cNvPr id="20" name="">
            <a:extLst xmlns:a="http://schemas.openxmlformats.org/drawingml/2006/main">
              <a:ext uri="{FF2B5EF4-FFF2-40B4-BE49-F238E27FC236}">
                <a16:creationId xmlns:a16="http://schemas.microsoft.com/office/drawing/2014/main" id="{4350E7CE-2C36-40E3-B65C-48FB61544E73}"/>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E2AE6D3-4C90-4A86-965D-104902A67BC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Construction cost is 32 only for this nested, shared-prefix pair. In general, count all committed products.</a:t>
            </a:r>
          </a:p>
        </p:txBody>
      </p:sp>
    </p:spTree>
    <p:extLst>
      <p:ext uri="{BB962C8B-B14F-4D97-AF65-F5344CB8AC3E}">
        <p14:creationId xmlns:p14="http://schemas.microsoft.com/office/powerpoint/2010/main" val="9167386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545B26D-0B09-46A0-BE10-1EE34CAA0CEA}"/>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signal was useful, but checking had a cost</a:t>
            </a:r>
          </a:p>
        </p:txBody>
      </p:sp>
      <p:sp>
        <p:nvSpPr>
          <p:cNvPr id="2" name="">
            <a:extLst xmlns:a="http://schemas.openxmlformats.org/drawingml/2006/main">
              <a:ext uri="{FF2B5EF4-FFF2-40B4-BE49-F238E27FC236}">
                <a16:creationId xmlns:a16="http://schemas.microsoft.com/office/drawing/2014/main" id="{87F06456-2BBC-4178-A155-BD7BF81C7077}"/>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Frozen adjacent-action study: 600 basis paths, with 16 fresh certification probes.</a:t>
            </a:r>
          </a:p>
        </p:txBody>
      </p:sp>
      <p:sp>
        <p:nvSpPr>
          <p:cNvPr id="3" name="">
            <a:extLst xmlns:a="http://schemas.openxmlformats.org/drawingml/2006/main">
              <a:ext uri="{FF2B5EF4-FFF2-40B4-BE49-F238E27FC236}">
                <a16:creationId xmlns:a16="http://schemas.microsoft.com/office/drawing/2014/main" id="{CAEE1C73-B511-4E49-9D8C-9AEA8589ADE6}"/>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628B6949-0044-46CB-A844-04C4865A7753}"/>
              </a:ext>
            </a:extLst>
          </p:cNvPr>
          <p:cNvSpPr>
            <a:spLocks xmlns:a="http://schemas.openxmlformats.org/drawingml/2006/main" noGrp="1"/>
          </p:cNvSpPr>
          <p:nvPr/>
        </p:nvSpPr>
        <p:spPr>
          <a:xfrm xmlns:a="http://schemas.openxmlformats.org/drawingml/2006/main">
            <a:off x="638175" y="1924050"/>
            <a:ext cx="508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External diagnostic probes</a:t>
            </a:r>
          </a:p>
        </p:txBody>
      </p:sp>
      <p:sp>
        <p:nvSpPr>
          <p:cNvPr id="5" name="">
            <a:extLst xmlns:a="http://schemas.openxmlformats.org/drawingml/2006/main">
              <a:ext uri="{FF2B5EF4-FFF2-40B4-BE49-F238E27FC236}">
                <a16:creationId xmlns:a16="http://schemas.microsoft.com/office/drawing/2014/main" id="{68F09BD5-0650-40CA-A5F5-A96DB4515C13}"/>
              </a:ext>
            </a:extLst>
          </p:cNvPr>
          <p:cNvSpPr>
            <a:spLocks xmlns:a="http://schemas.openxmlformats.org/drawingml/2006/main" noGrp="1"/>
          </p:cNvSpPr>
          <p:nvPr/>
        </p:nvSpPr>
        <p:spPr>
          <a:xfrm xmlns:a="http://schemas.openxmlformats.org/drawingml/2006/main">
            <a:off x="647700" y="2428875"/>
            <a:ext cx="4572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950" b="1">
                <a:solidFill>
                  <a:srgbClr val="37847F"/>
                </a:solidFill>
                <a:latin typeface="Helvetica Neue"/>
                <a:ea typeface="Helvetica Neue"/>
                <a:cs typeface="Helvetica Neue"/>
              </a:defRPr>
            </a:pPr>
            <a:r>
              <a:rPr sz="4950" b="1">
                <a:solidFill>
                  <a:srgbClr val="37847F"/>
                </a:solidFill>
                <a:latin typeface="Helvetica Neue"/>
                <a:ea typeface="Helvetica Neue"/>
                <a:cs typeface="Helvetica Neue"/>
              </a:rPr>
              <a:t>79.7%</a:t>
            </a:r>
          </a:p>
        </p:txBody>
      </p:sp>
      <p:sp>
        <p:nvSpPr>
          <p:cNvPr id="6" name="">
            <a:extLst xmlns:a="http://schemas.openxmlformats.org/drawingml/2006/main">
              <a:ext uri="{FF2B5EF4-FFF2-40B4-BE49-F238E27FC236}">
                <a16:creationId xmlns:a16="http://schemas.microsoft.com/office/drawing/2014/main" id="{02CD2CB7-3296-4BA9-98A8-02471A8E0DBD}"/>
              </a:ext>
            </a:extLst>
          </p:cNvPr>
          <p:cNvSpPr>
            <a:spLocks xmlns:a="http://schemas.openxmlformats.org/drawingml/2006/main" noGrp="1"/>
          </p:cNvSpPr>
          <p:nvPr/>
        </p:nvSpPr>
        <p:spPr>
          <a:xfrm xmlns:a="http://schemas.openxmlformats.org/drawingml/2006/main">
            <a:off x="647700" y="3305175"/>
            <a:ext cx="4972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Acceptance on truly better</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catastrophic paths</a:t>
            </a:r>
          </a:p>
        </p:txBody>
      </p:sp>
      <p:sp>
        <p:nvSpPr>
          <p:cNvPr id="7" name="">
            <a:extLst xmlns:a="http://schemas.openxmlformats.org/drawingml/2006/main">
              <a:ext uri="{FF2B5EF4-FFF2-40B4-BE49-F238E27FC236}">
                <a16:creationId xmlns:a16="http://schemas.microsoft.com/office/drawing/2014/main" id="{BF5C567F-A0BC-42F3-B2B1-4C0FDDC8B1E5}"/>
              </a:ext>
            </a:extLst>
          </p:cNvPr>
          <p:cNvSpPr>
            <a:spLocks xmlns:a="http://schemas.openxmlformats.org/drawingml/2006/main" noGrp="1"/>
          </p:cNvSpPr>
          <p:nvPr/>
        </p:nvSpPr>
        <p:spPr>
          <a:xfrm xmlns:a="http://schemas.openxmlformats.org/drawingml/2006/main">
            <a:off x="647700" y="45434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False-safe rate: 0.0134%</a:t>
            </a:r>
          </a:p>
        </p:txBody>
      </p:sp>
      <p:sp>
        <p:nvSpPr>
          <p:cNvPr id="8" name="">
            <a:extLst xmlns:a="http://schemas.openxmlformats.org/drawingml/2006/main">
              <a:ext uri="{FF2B5EF4-FFF2-40B4-BE49-F238E27FC236}">
                <a16:creationId xmlns:a16="http://schemas.microsoft.com/office/drawing/2014/main" id="{6456CA0A-CA22-4342-BDD0-B8B83F740BD3}"/>
              </a:ext>
            </a:extLst>
          </p:cNvPr>
          <p:cNvSpPr>
            <a:spLocks xmlns:a="http://schemas.openxmlformats.org/drawingml/2006/main" noGrp="1"/>
          </p:cNvSpPr>
          <p:nvPr/>
        </p:nvSpPr>
        <p:spPr>
          <a:xfrm xmlns:a="http://schemas.openxmlformats.org/drawingml/2006/main">
            <a:off x="647700" y="5048250"/>
            <a:ext cx="5067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Among truly worse candidates</a:t>
            </a:r>
          </a:p>
        </p:txBody>
      </p:sp>
      <p:sp>
        <p:nvSpPr>
          <p:cNvPr id="9" name="">
            <a:extLst xmlns:a="http://schemas.openxmlformats.org/drawingml/2006/main">
              <a:ext uri="{FF2B5EF4-FFF2-40B4-BE49-F238E27FC236}">
                <a16:creationId xmlns:a16="http://schemas.microsoft.com/office/drawing/2014/main" id="{CF0EF49A-AFCB-44DE-95E1-8E71721B2DB1}"/>
              </a:ext>
            </a:extLst>
          </p:cNvPr>
          <p:cNvSpPr>
            <a:spLocks xmlns:a="http://schemas.openxmlformats.org/drawingml/2006/main" noGrp="1"/>
          </p:cNvSpPr>
          <p:nvPr/>
        </p:nvSpPr>
        <p:spPr>
          <a:xfrm xmlns:a="http://schemas.openxmlformats.org/drawingml/2006/main">
            <a:off x="5962650" y="2076450"/>
            <a:ext cx="19050" cy="36290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D7E348-0CBD-4617-84FB-0D75945A6767}"/>
              </a:ext>
            </a:extLst>
          </p:cNvPr>
          <p:cNvSpPr>
            <a:spLocks xmlns:a="http://schemas.openxmlformats.org/drawingml/2006/main" noGrp="1"/>
          </p:cNvSpPr>
          <p:nvPr/>
        </p:nvSpPr>
        <p:spPr>
          <a:xfrm xmlns:a="http://schemas.openxmlformats.org/drawingml/2006/main">
            <a:off x="6619875" y="19240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After charging the cost</a:t>
            </a:r>
          </a:p>
        </p:txBody>
      </p:sp>
      <p:sp>
        <p:nvSpPr>
          <p:cNvPr id="11" name="">
            <a:extLst xmlns:a="http://schemas.openxmlformats.org/drawingml/2006/main">
              <a:ext uri="{FF2B5EF4-FFF2-40B4-BE49-F238E27FC236}">
                <a16:creationId xmlns:a16="http://schemas.microsoft.com/office/drawing/2014/main" id="{A75B7C26-3542-45B3-994D-136F8CB92903}"/>
              </a:ext>
            </a:extLst>
          </p:cNvPr>
          <p:cNvSpPr>
            <a:spLocks xmlns:a="http://schemas.openxmlformats.org/drawingml/2006/main" noGrp="1"/>
          </p:cNvSpPr>
          <p:nvPr/>
        </p:nvSpPr>
        <p:spPr>
          <a:xfrm xmlns:a="http://schemas.openxmlformats.org/drawingml/2006/main">
            <a:off x="6619875" y="2428875"/>
            <a:ext cx="492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425" b="1">
                <a:solidFill>
                  <a:srgbClr val="BC702D"/>
                </a:solidFill>
                <a:latin typeface="Helvetica Neue"/>
                <a:ea typeface="Helvetica Neue"/>
                <a:cs typeface="Helvetica Neue"/>
              </a:defRPr>
            </a:pPr>
            <a:r>
              <a:rPr sz="4425" b="1">
                <a:solidFill>
                  <a:srgbClr val="BC702D"/>
                </a:solidFill>
                <a:latin typeface="Helvetica Neue"/>
                <a:ea typeface="Helvetica Neue"/>
                <a:cs typeface="Helvetica Neue"/>
              </a:rPr>
              <a:t>575 / 600</a:t>
            </a:r>
          </a:p>
        </p:txBody>
      </p:sp>
      <p:sp>
        <p:nvSpPr>
          <p:cNvPr id="12" name="">
            <a:extLst xmlns:a="http://schemas.openxmlformats.org/drawingml/2006/main">
              <a:ext uri="{FF2B5EF4-FFF2-40B4-BE49-F238E27FC236}">
                <a16:creationId xmlns:a16="http://schemas.microsoft.com/office/drawing/2014/main" id="{50B417D6-BB52-4F3B-A102-5FCA24E87C22}"/>
              </a:ext>
            </a:extLst>
          </p:cNvPr>
          <p:cNvSpPr>
            <a:spLocks xmlns:a="http://schemas.openxmlformats.org/drawingml/2006/main" noGrp="1"/>
          </p:cNvSpPr>
          <p:nvPr/>
        </p:nvSpPr>
        <p:spPr>
          <a:xfrm xmlns:a="http://schemas.openxmlformats.org/drawingml/2006/main">
            <a:off x="6619875" y="3305175"/>
            <a:ext cx="49434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Paths with higher risk than</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their original baseline</a:t>
            </a:r>
          </a:p>
        </p:txBody>
      </p:sp>
      <p:sp>
        <p:nvSpPr>
          <p:cNvPr id="13" name="">
            <a:extLst xmlns:a="http://schemas.openxmlformats.org/drawingml/2006/main">
              <a:ext uri="{FF2B5EF4-FFF2-40B4-BE49-F238E27FC236}">
                <a16:creationId xmlns:a16="http://schemas.microsoft.com/office/drawing/2014/main" id="{8DA88F83-C693-4CD7-A8C8-CCD929DF0A0F}"/>
              </a:ext>
            </a:extLst>
          </p:cNvPr>
          <p:cNvSpPr>
            <a:spLocks xmlns:a="http://schemas.openxmlformats.org/drawingml/2006/main" noGrp="1"/>
          </p:cNvSpPr>
          <p:nvPr/>
        </p:nvSpPr>
        <p:spPr>
          <a:xfrm xmlns:a="http://schemas.openxmlformats.org/drawingml/2006/main">
            <a:off x="6629400" y="4438650"/>
            <a:ext cx="4655344" cy="409575"/>
          </a:xfrm>
          <a:prstGeom xmlns:a="http://schemas.openxmlformats.org/drawingml/2006/main" prst="rect">
            <a:avLst/>
          </a:prstGeom>
          <a:solidFill xmlns:a="http://schemas.openxmlformats.org/drawingml/2006/main">
            <a:srgbClr val="BC7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B1E1FD-D8F6-44FD-8C6B-A355FC72C209}"/>
              </a:ext>
            </a:extLst>
          </p:cNvPr>
          <p:cNvSpPr>
            <a:spLocks xmlns:a="http://schemas.openxmlformats.org/drawingml/2006/main" noGrp="1"/>
          </p:cNvSpPr>
          <p:nvPr/>
        </p:nvSpPr>
        <p:spPr>
          <a:xfrm xmlns:a="http://schemas.openxmlformats.org/drawingml/2006/main">
            <a:off x="6629400" y="4505325"/>
            <a:ext cx="4655344"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575</a:t>
            </a:r>
          </a:p>
        </p:txBody>
      </p:sp>
      <p:sp>
        <p:nvSpPr>
          <p:cNvPr id="15" name="">
            <a:extLst xmlns:a="http://schemas.openxmlformats.org/drawingml/2006/main">
              <a:ext uri="{FF2B5EF4-FFF2-40B4-BE49-F238E27FC236}">
                <a16:creationId xmlns:a16="http://schemas.microsoft.com/office/drawing/2014/main" id="{A52EEFE9-5EF5-4B6C-9C55-640DCEF38192}"/>
              </a:ext>
            </a:extLst>
          </p:cNvPr>
          <p:cNvSpPr>
            <a:spLocks xmlns:a="http://schemas.openxmlformats.org/drawingml/2006/main" noGrp="1"/>
          </p:cNvSpPr>
          <p:nvPr/>
        </p:nvSpPr>
        <p:spPr>
          <a:xfrm xmlns:a="http://schemas.openxmlformats.org/drawingml/2006/main">
            <a:off x="11284744" y="4438650"/>
            <a:ext cx="202406" cy="409575"/>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C2B9314-0EB4-45BE-A2C1-EE019D88EC05}"/>
              </a:ext>
            </a:extLst>
          </p:cNvPr>
          <p:cNvSpPr>
            <a:spLocks xmlns:a="http://schemas.openxmlformats.org/drawingml/2006/main" noGrp="1"/>
          </p:cNvSpPr>
          <p:nvPr/>
        </p:nvSpPr>
        <p:spPr>
          <a:xfrm xmlns:a="http://schemas.openxmlformats.org/drawingml/2006/main">
            <a:off x="6610350" y="5057775"/>
            <a:ext cx="495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192D3C"/>
                </a:solidFill>
                <a:latin typeface="Helvetica Neue"/>
                <a:ea typeface="Helvetica Neue"/>
                <a:cs typeface="Helvetica Neue"/>
              </a:defRPr>
            </a:pPr>
            <a:r>
              <a:rPr sz="1950" b="1">
                <a:solidFill>
                  <a:srgbClr val="192D3C"/>
                </a:solidFill>
                <a:latin typeface="Helvetica Neue"/>
                <a:ea typeface="Helvetica Neue"/>
                <a:cs typeface="Helvetica Neue"/>
              </a:rPr>
              <a:t>Yet the aggregate mean-risk ratio was 0.036.</a:t>
            </a:r>
          </a:p>
        </p:txBody>
      </p:sp>
      <p:sp>
        <p:nvSpPr>
          <p:cNvPr id="17" name="">
            <a:extLst xmlns:a="http://schemas.openxmlformats.org/drawingml/2006/main">
              <a:ext uri="{FF2B5EF4-FFF2-40B4-BE49-F238E27FC236}">
                <a16:creationId xmlns:a16="http://schemas.microsoft.com/office/drawing/2014/main" id="{968A9AAF-3967-432D-9DD8-6EB8A38B65DE}"/>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9E32BE-31E0-4F66-B1D8-15898AFAE1F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Rare high-risk baselines dominate the mean. These empirical rates are conditional on the frozen path population.</a:t>
            </a:r>
          </a:p>
        </p:txBody>
      </p:sp>
    </p:spTree>
    <p:extLst>
      <p:ext uri="{BB962C8B-B14F-4D97-AF65-F5344CB8AC3E}">
        <p14:creationId xmlns:p14="http://schemas.microsoft.com/office/powerpoint/2010/main" val="2562341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BEFFBF-F1CE-4EEE-8040-9439D5FA0010}"/>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Useful small-budget confidence remains open</a:t>
            </a:r>
          </a:p>
        </p:txBody>
      </p:sp>
      <p:sp>
        <p:nvSpPr>
          <p:cNvPr id="2" name="">
            <a:extLst xmlns:a="http://schemas.openxmlformats.org/drawingml/2006/main">
              <a:ext uri="{FF2B5EF4-FFF2-40B4-BE49-F238E27FC236}">
                <a16:creationId xmlns:a16="http://schemas.microsoft.com/office/drawing/2014/main" id="{751BCD49-7531-44AA-9250-3B53D72B1706}"/>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The risk identities are proved. The remaining question is how tightly we can bound estimation error.</a:t>
            </a:r>
          </a:p>
        </p:txBody>
      </p:sp>
      <p:sp>
        <p:nvSpPr>
          <p:cNvPr id="3" name="">
            <a:extLst xmlns:a="http://schemas.openxmlformats.org/drawingml/2006/main">
              <a:ext uri="{FF2B5EF4-FFF2-40B4-BE49-F238E27FC236}">
                <a16:creationId xmlns:a16="http://schemas.microsoft.com/office/drawing/2014/main" id="{3A5F3624-C242-4C90-A125-00CA20B758DD}"/>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17</a:t>
            </a:r>
          </a:p>
        </p:txBody>
      </p:sp>
      <p:graphicFrame>
        <p:nvGraphicFramePr>
          <p:cNvPr id="13" name="Chart"/>
          <p:cNvGraphicFramePr/>
          <p:nvPr/>
        </p:nvGraphicFramePr>
        <p:xfrm>
          <a:off xmlns:a="http://schemas.openxmlformats.org/drawingml/2006/main" x="628650" y="2162175"/>
          <a:ext xmlns:a="http://schemas.openxmlformats.org/drawingml/2006/main" cx="5905500" cy="3162300"/>
        </p:xfrm>
        <a:graphic xmlns:a="http://schemas.openxmlformats.org/drawingml/2006/main">
          <a:graphicData uri="http://schemas.openxmlformats.org/drawingml/2006/chart">
            <c:chart xmlns:r="http://schemas.openxmlformats.org/officeDocument/2006/relationships" xmlns:c="http://schemas.openxmlformats.org/drawingml/2006/chart" r:id="Rfe6bd857f2814a7d"/>
          </a:graphicData>
        </a:graphic>
      </p:graphicFrame>
      <p:sp>
        <p:nvSpPr>
          <p:cNvPr id="5" name="">
            <a:extLst xmlns:a="http://schemas.openxmlformats.org/drawingml/2006/main">
              <a:ext uri="{FF2B5EF4-FFF2-40B4-BE49-F238E27FC236}">
                <a16:creationId xmlns:a16="http://schemas.microsoft.com/office/drawing/2014/main" id="{C0C555AA-AE09-447E-8753-2A58F10B0F78}"/>
              </a:ext>
            </a:extLst>
          </p:cNvPr>
          <p:cNvSpPr>
            <a:spLocks xmlns:a="http://schemas.openxmlformats.org/drawingml/2006/main" noGrp="1"/>
          </p:cNvSpPr>
          <p:nvPr/>
        </p:nvSpPr>
        <p:spPr>
          <a:xfrm xmlns:a="http://schemas.openxmlformats.org/drawingml/2006/main">
            <a:off x="7229475" y="2209800"/>
            <a:ext cx="4219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BC702D"/>
                </a:solidFill>
                <a:latin typeface="Helvetica Neue"/>
                <a:ea typeface="Helvetica Neue"/>
                <a:cs typeface="Helvetica Neue"/>
              </a:defRPr>
            </a:pPr>
            <a:r>
              <a:rPr sz="2850" b="1">
                <a:solidFill>
                  <a:srgbClr val="BC702D"/>
                </a:solidFill>
                <a:latin typeface="Helvetica Neue"/>
                <a:ea typeface="Helvetica Neue"/>
                <a:cs typeface="Helvetica Neue"/>
              </a:rPr>
              <a:t>Need ε &lt; 1</a:t>
            </a:r>
          </a:p>
        </p:txBody>
      </p:sp>
      <p:sp>
        <p:nvSpPr>
          <p:cNvPr id="6" name="">
            <a:extLst xmlns:a="http://schemas.openxmlformats.org/drawingml/2006/main">
              <a:ext uri="{FF2B5EF4-FFF2-40B4-BE49-F238E27FC236}">
                <a16:creationId xmlns:a16="http://schemas.microsoft.com/office/drawing/2014/main" id="{DD89AD6B-4CC4-4D5C-A54F-E65930D98828}"/>
              </a:ext>
            </a:extLst>
          </p:cNvPr>
          <p:cNvSpPr>
            <a:spLocks xmlns:a="http://schemas.openxmlformats.org/drawingml/2006/main" noGrp="1"/>
          </p:cNvSpPr>
          <p:nvPr/>
        </p:nvSpPr>
        <p:spPr>
          <a:xfrm xmlns:a="http://schemas.openxmlformats.org/drawingml/2006/main">
            <a:off x="7229475" y="2876550"/>
            <a:ext cx="4219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to turn the estimate into</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a multiplicative upper bound.</a:t>
            </a:r>
          </a:p>
        </p:txBody>
      </p:sp>
      <p:sp>
        <p:nvSpPr>
          <p:cNvPr id="7" name="">
            <a:extLst xmlns:a="http://schemas.openxmlformats.org/drawingml/2006/main">
              <a:ext uri="{FF2B5EF4-FFF2-40B4-BE49-F238E27FC236}">
                <a16:creationId xmlns:a16="http://schemas.microsoft.com/office/drawing/2014/main" id="{35563318-8BFE-433D-8356-A017DA31EB43}"/>
              </a:ext>
            </a:extLst>
          </p:cNvPr>
          <p:cNvSpPr>
            <a:spLocks xmlns:a="http://schemas.openxmlformats.org/drawingml/2006/main" noGrp="1"/>
          </p:cNvSpPr>
          <p:nvPr/>
        </p:nvSpPr>
        <p:spPr>
          <a:xfrm xmlns:a="http://schemas.openxmlformats.org/drawingml/2006/main">
            <a:off x="7229475" y="4371975"/>
            <a:ext cx="421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A valid norm prior gives</a:t>
            </a:r>
          </a:p>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a finite paired bound.</a:t>
            </a:r>
          </a:p>
        </p:txBody>
      </p:sp>
      <p:sp>
        <p:nvSpPr>
          <p:cNvPr id="8" name="">
            <a:extLst xmlns:a="http://schemas.openxmlformats.org/drawingml/2006/main">
              <a:ext uri="{FF2B5EF4-FFF2-40B4-BE49-F238E27FC236}">
                <a16:creationId xmlns:a16="http://schemas.microsoft.com/office/drawing/2014/main" id="{1E7745BB-3909-4215-AD41-3A0243227DA1}"/>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4B0535-810B-462F-B796-B561C6A58D07}"/>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 = 32, joint failure probability 0.05. These explicit bounds are too loose; certification is not proved impossible.</a:t>
            </a:r>
          </a:p>
        </p:txBody>
      </p:sp>
    </p:spTree>
    <p:extLst>
      <p:ext uri="{BB962C8B-B14F-4D97-AF65-F5344CB8AC3E}">
        <p14:creationId xmlns:p14="http://schemas.microsoft.com/office/powerpoint/2010/main" val="13556963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93AEAC-EF75-4F50-811B-32B1B526657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research question we can now ask precisely</a:t>
            </a:r>
          </a:p>
        </p:txBody>
      </p:sp>
      <p:sp>
        <p:nvSpPr>
          <p:cNvPr id="2" name="">
            <a:extLst xmlns:a="http://schemas.openxmlformats.org/drawingml/2006/main">
              <a:ext uri="{FF2B5EF4-FFF2-40B4-BE49-F238E27FC236}">
                <a16:creationId xmlns:a16="http://schemas.microsoft.com/office/drawing/2014/main" id="{A2B96C29-B53B-4D21-B637-F1D90B8A7A64}"/>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62471F76-5D1D-4E6B-AFBE-2167A9E3639F}"/>
              </a:ext>
            </a:extLst>
          </p:cNvPr>
          <p:cNvSpPr>
            <a:spLocks xmlns:a="http://schemas.openxmlformats.org/drawingml/2006/main" noGrp="1"/>
          </p:cNvSpPr>
          <p:nvPr/>
        </p:nvSpPr>
        <p:spPr>
          <a:xfrm xmlns:a="http://schemas.openxmlformats.org/drawingml/2006/main">
            <a:off x="619125" y="1619250"/>
            <a:ext cx="10858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92D3C"/>
                </a:solidFill>
                <a:latin typeface="Helvetica Neue"/>
                <a:ea typeface="Helvetica Neue"/>
                <a:cs typeface="Helvetica Neue"/>
              </a:defRPr>
            </a:pPr>
            <a:r>
              <a:rPr sz="3225" b="1">
                <a:solidFill>
                  <a:srgbClr val="192D3C"/>
                </a:solidFill>
                <a:latin typeface="Helvetica Neue"/>
                <a:ea typeface="Helvetica Neue"/>
                <a:cs typeface="Helvetica Neue"/>
              </a:rPr>
              <a:t>Can we tell whether another direction</a:t>
            </a:r>
          </a:p>
          <a:p xmlns:a="http://schemas.openxmlformats.org/drawingml/2006/main">
            <a:pPr algn="l">
              <a:defRPr sz="3225" b="1">
                <a:solidFill>
                  <a:srgbClr val="192D3C"/>
                </a:solidFill>
                <a:latin typeface="Helvetica Neue"/>
                <a:ea typeface="Helvetica Neue"/>
                <a:cs typeface="Helvetica Neue"/>
              </a:defRPr>
            </a:pPr>
            <a:r>
              <a:rPr sz="3225" b="1">
                <a:solidFill>
                  <a:srgbClr val="192D3C"/>
                </a:solidFill>
                <a:latin typeface="Helvetica Neue"/>
                <a:ea typeface="Helvetica Neue"/>
                <a:cs typeface="Helvetica Neue"/>
              </a:rPr>
              <a:t>reduces actual error enough to pay for itself?</a:t>
            </a:r>
          </a:p>
        </p:txBody>
      </p:sp>
      <p:sp>
        <p:nvSpPr>
          <p:cNvPr id="4" name="">
            <a:extLst xmlns:a="http://schemas.openxmlformats.org/drawingml/2006/main">
              <a:ext uri="{FF2B5EF4-FFF2-40B4-BE49-F238E27FC236}">
                <a16:creationId xmlns:a16="http://schemas.microsoft.com/office/drawing/2014/main" id="{5B150992-FFD9-4EAC-9C93-56ECF618D079}"/>
              </a:ext>
            </a:extLst>
          </p:cNvPr>
          <p:cNvSpPr>
            <a:spLocks xmlns:a="http://schemas.openxmlformats.org/drawingml/2006/main" noGrp="1"/>
          </p:cNvSpPr>
          <p:nvPr/>
        </p:nvSpPr>
        <p:spPr>
          <a:xfrm xmlns:a="http://schemas.openxmlformats.org/drawingml/2006/main">
            <a:off x="619125" y="3629025"/>
            <a:ext cx="5000625" cy="1428750"/>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A0D8737A-27D9-474D-9DC5-627D8B131BE8}"/>
              </a:ext>
            </a:extLst>
          </p:cNvPr>
          <p:cNvSpPr>
            <a:spLocks xmlns:a="http://schemas.openxmlformats.org/drawingml/2006/main" noGrp="1"/>
          </p:cNvSpPr>
          <p:nvPr/>
        </p:nvSpPr>
        <p:spPr>
          <a:xfrm xmlns:a="http://schemas.openxmlformats.org/drawingml/2006/main">
            <a:off x="790575" y="3743325"/>
            <a:ext cx="4657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What we understand</a:t>
            </a:r>
          </a:p>
        </p:txBody>
      </p:sp>
      <p:sp>
        <p:nvSpPr>
          <p:cNvPr id="6" name="">
            <a:extLst xmlns:a="http://schemas.openxmlformats.org/drawingml/2006/main">
              <a:ext uri="{FF2B5EF4-FFF2-40B4-BE49-F238E27FC236}">
                <a16:creationId xmlns:a16="http://schemas.microsoft.com/office/drawing/2014/main" id="{7CED4315-C9D1-44DE-97B5-AD949510241A}"/>
              </a:ext>
            </a:extLst>
          </p:cNvPr>
          <p:cNvSpPr>
            <a:spLocks xmlns:a="http://schemas.openxmlformats.org/drawingml/2006/main" noGrp="1"/>
          </p:cNvSpPr>
          <p:nvPr/>
        </p:nvSpPr>
        <p:spPr>
          <a:xfrm xmlns:a="http://schemas.openxmlformats.org/drawingml/2006/main">
            <a:off x="790575" y="4210050"/>
            <a:ext cx="46577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Capture quality and probe law</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determine the actual residual risk.</a:t>
            </a:r>
          </a:p>
        </p:txBody>
      </p:sp>
      <p:sp>
        <p:nvSpPr>
          <p:cNvPr id="7" name="">
            <a:extLst xmlns:a="http://schemas.openxmlformats.org/drawingml/2006/main">
              <a:ext uri="{FF2B5EF4-FFF2-40B4-BE49-F238E27FC236}">
                <a16:creationId xmlns:a16="http://schemas.microsoft.com/office/drawing/2014/main" id="{939099A2-F210-4423-AA8B-C6A2F403697F}"/>
              </a:ext>
            </a:extLst>
          </p:cNvPr>
          <p:cNvSpPr>
            <a:spLocks xmlns:a="http://schemas.openxmlformats.org/drawingml/2006/main" noGrp="1"/>
          </p:cNvSpPr>
          <p:nvPr/>
        </p:nvSpPr>
        <p:spPr>
          <a:xfrm xmlns:a="http://schemas.openxmlformats.org/drawingml/2006/main">
            <a:off x="6524625" y="3629025"/>
            <a:ext cx="5010150" cy="1428750"/>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5B5AFCE0-D481-4383-801D-4ABEED9C139F}"/>
              </a:ext>
            </a:extLst>
          </p:cNvPr>
          <p:cNvSpPr>
            <a:spLocks xmlns:a="http://schemas.openxmlformats.org/drawingml/2006/main" noGrp="1"/>
          </p:cNvSpPr>
          <p:nvPr/>
        </p:nvSpPr>
        <p:spPr>
          <a:xfrm xmlns:a="http://schemas.openxmlformats.org/drawingml/2006/main">
            <a:off x="6696075" y="374332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What still needs work</a:t>
            </a:r>
          </a:p>
        </p:txBody>
      </p:sp>
      <p:sp>
        <p:nvSpPr>
          <p:cNvPr id="9" name="">
            <a:extLst xmlns:a="http://schemas.openxmlformats.org/drawingml/2006/main">
              <a:ext uri="{FF2B5EF4-FFF2-40B4-BE49-F238E27FC236}">
                <a16:creationId xmlns:a16="http://schemas.microsoft.com/office/drawing/2014/main" id="{D43233E2-F47A-4386-BE19-456546F2F850}"/>
              </a:ext>
            </a:extLst>
          </p:cNvPr>
          <p:cNvSpPr>
            <a:spLocks xmlns:a="http://schemas.openxmlformats.org/drawingml/2006/main" noGrp="1"/>
          </p:cNvSpPr>
          <p:nvPr/>
        </p:nvSpPr>
        <p:spPr>
          <a:xfrm xmlns:a="http://schemas.openxmlformats.org/drawingml/2006/main">
            <a:off x="6696075" y="42100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 useful confidence bound with</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its information cost included.</a:t>
            </a:r>
          </a:p>
        </p:txBody>
      </p:sp>
      <p:sp>
        <p:nvSpPr>
          <p:cNvPr id="10" name="">
            <a:extLst xmlns:a="http://schemas.openxmlformats.org/drawingml/2006/main">
              <a:ext uri="{FF2B5EF4-FFF2-40B4-BE49-F238E27FC236}">
                <a16:creationId xmlns:a16="http://schemas.microsoft.com/office/drawing/2014/main" id="{FD0C561C-67B5-46C1-8110-7B39A5DCE3AD}"/>
              </a:ext>
            </a:extLst>
          </p:cNvPr>
          <p:cNvSpPr>
            <a:spLocks xmlns:a="http://schemas.openxmlformats.org/drawingml/2006/main" noGrp="1"/>
          </p:cNvSpPr>
          <p:nvPr/>
        </p:nvSpPr>
        <p:spPr>
          <a:xfrm xmlns:a="http://schemas.openxmlformats.org/drawingml/2006/main">
            <a:off x="638175" y="53149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Question for Swati: should we prioritize direct risk confidence</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or a cheap test for an important missing direction?</a:t>
            </a:r>
          </a:p>
        </p:txBody>
      </p:sp>
    </p:spTree>
    <p:extLst>
      <p:ext uri="{BB962C8B-B14F-4D97-AF65-F5344CB8AC3E}">
        <p14:creationId xmlns:p14="http://schemas.microsoft.com/office/powerpoint/2010/main" val="10782454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096FEF7-8E43-4F9C-A972-B6C9DED9F20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 accounting and unbiasedness</a:t>
            </a:r>
          </a:p>
        </p:txBody>
      </p:sp>
      <p:sp>
        <p:nvSpPr>
          <p:cNvPr id="2" name="">
            <a:extLst xmlns:a="http://schemas.openxmlformats.org/drawingml/2006/main">
              <a:ext uri="{FF2B5EF4-FFF2-40B4-BE49-F238E27FC236}">
                <a16:creationId xmlns:a16="http://schemas.microsoft.com/office/drawing/2014/main" id="{E2070007-8359-40CD-B07C-F315CAB67E59}"/>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1C7F1C24-4D32-4657-AB78-6E006914DEF6}"/>
              </a:ext>
            </a:extLst>
          </p:cNvPr>
          <p:cNvSpPr>
            <a:spLocks xmlns:a="http://schemas.openxmlformats.org/drawingml/2006/main" noGrp="1"/>
          </p:cNvSpPr>
          <p:nvPr/>
        </p:nvSpPr>
        <p:spPr>
          <a:xfrm xmlns:a="http://schemas.openxmlformats.org/drawingml/2006/main">
            <a:off x="647700" y="16287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31688E"/>
                </a:solidFill>
                <a:latin typeface="Helvetica Neue"/>
                <a:ea typeface="Helvetica Neue"/>
                <a:cs typeface="Helvetica Neue"/>
              </a:defRPr>
            </a:pPr>
            <a:r>
              <a:rPr sz="3000" b="1">
                <a:solidFill>
                  <a:srgbClr val="31688E"/>
                </a:solidFill>
                <a:latin typeface="Helvetica Neue"/>
                <a:ea typeface="Helvetica Neue"/>
                <a:cs typeface="Helvetica Neue"/>
              </a:rPr>
              <a:t>q + r + ℓ = m</a:t>
            </a:r>
          </a:p>
        </p:txBody>
      </p:sp>
      <p:sp>
        <p:nvSpPr>
          <p:cNvPr id="4" name="">
            <a:extLst xmlns:a="http://schemas.openxmlformats.org/drawingml/2006/main">
              <a:ext uri="{FF2B5EF4-FFF2-40B4-BE49-F238E27FC236}">
                <a16:creationId xmlns:a16="http://schemas.microsoft.com/office/drawing/2014/main" id="{0447D259-1858-45F8-B1E1-C571C086CCB9}"/>
              </a:ext>
            </a:extLst>
          </p:cNvPr>
          <p:cNvSpPr>
            <a:spLocks xmlns:a="http://schemas.openxmlformats.org/drawingml/2006/main" noGrp="1"/>
          </p:cNvSpPr>
          <p:nvPr/>
        </p:nvSpPr>
        <p:spPr>
          <a:xfrm xmlns:a="http://schemas.openxmlformats.org/drawingml/2006/main">
            <a:off x="647700" y="2667000"/>
            <a:ext cx="2943225" cy="10763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5" name="">
            <a:extLst xmlns:a="http://schemas.openxmlformats.org/drawingml/2006/main">
              <a:ext uri="{FF2B5EF4-FFF2-40B4-BE49-F238E27FC236}">
                <a16:creationId xmlns:a16="http://schemas.microsoft.com/office/drawing/2014/main" id="{38EC5CAD-A4F0-409F-A09F-FD74C96EC24F}"/>
              </a:ext>
            </a:extLst>
          </p:cNvPr>
          <p:cNvSpPr>
            <a:spLocks xmlns:a="http://schemas.openxmlformats.org/drawingml/2006/main" noGrp="1"/>
          </p:cNvSpPr>
          <p:nvPr/>
        </p:nvSpPr>
        <p:spPr>
          <a:xfrm xmlns:a="http://schemas.openxmlformats.org/drawingml/2006/main">
            <a:off x="819150"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Range sketch AS</a:t>
            </a:r>
          </a:p>
        </p:txBody>
      </p:sp>
      <p:sp>
        <p:nvSpPr>
          <p:cNvPr id="6" name="">
            <a:extLst xmlns:a="http://schemas.openxmlformats.org/drawingml/2006/main">
              <a:ext uri="{FF2B5EF4-FFF2-40B4-BE49-F238E27FC236}">
                <a16:creationId xmlns:a16="http://schemas.microsoft.com/office/drawing/2014/main" id="{62024375-9598-4D31-B1EB-92458B0D5DBD}"/>
              </a:ext>
            </a:extLst>
          </p:cNvPr>
          <p:cNvSpPr>
            <a:spLocks xmlns:a="http://schemas.openxmlformats.org/drawingml/2006/main" noGrp="1"/>
          </p:cNvSpPr>
          <p:nvPr/>
        </p:nvSpPr>
        <p:spPr>
          <a:xfrm xmlns:a="http://schemas.openxmlformats.org/drawingml/2006/main">
            <a:off x="819150"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products</a:t>
            </a:r>
          </a:p>
        </p:txBody>
      </p:sp>
      <p:sp>
        <p:nvSpPr>
          <p:cNvPr id="7" name="">
            <a:extLst xmlns:a="http://schemas.openxmlformats.org/drawingml/2006/main">
              <a:ext uri="{FF2B5EF4-FFF2-40B4-BE49-F238E27FC236}">
                <a16:creationId xmlns:a16="http://schemas.microsoft.com/office/drawing/2014/main" id="{728B2482-7247-4129-8FE1-F016733B7B6B}"/>
              </a:ext>
            </a:extLst>
          </p:cNvPr>
          <p:cNvSpPr>
            <a:spLocks xmlns:a="http://schemas.openxmlformats.org/drawingml/2006/main" noGrp="1"/>
          </p:cNvSpPr>
          <p:nvPr/>
        </p:nvSpPr>
        <p:spPr>
          <a:xfrm xmlns:a="http://schemas.openxmlformats.org/drawingml/2006/main">
            <a:off x="4619625" y="2667000"/>
            <a:ext cx="2943225" cy="10763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8" name="">
            <a:extLst xmlns:a="http://schemas.openxmlformats.org/drawingml/2006/main">
              <a:ext uri="{FF2B5EF4-FFF2-40B4-BE49-F238E27FC236}">
                <a16:creationId xmlns:a16="http://schemas.microsoft.com/office/drawing/2014/main" id="{041EA40A-AAAE-4AAA-83F0-BB4919D679BB}"/>
              </a:ext>
            </a:extLst>
          </p:cNvPr>
          <p:cNvSpPr>
            <a:spLocks xmlns:a="http://schemas.openxmlformats.org/drawingml/2006/main" noGrp="1"/>
          </p:cNvSpPr>
          <p:nvPr/>
        </p:nvSpPr>
        <p:spPr>
          <a:xfrm xmlns:a="http://schemas.openxmlformats.org/drawingml/2006/main">
            <a:off x="4791075"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Cached basis AQ</a:t>
            </a:r>
          </a:p>
        </p:txBody>
      </p:sp>
      <p:sp>
        <p:nvSpPr>
          <p:cNvPr id="9" name="">
            <a:extLst xmlns:a="http://schemas.openxmlformats.org/drawingml/2006/main">
              <a:ext uri="{FF2B5EF4-FFF2-40B4-BE49-F238E27FC236}">
                <a16:creationId xmlns:a16="http://schemas.microsoft.com/office/drawing/2014/main" id="{583E2A7D-BC3C-4DB2-AE45-E62A857D444C}"/>
              </a:ext>
            </a:extLst>
          </p:cNvPr>
          <p:cNvSpPr>
            <a:spLocks xmlns:a="http://schemas.openxmlformats.org/drawingml/2006/main" noGrp="1"/>
          </p:cNvSpPr>
          <p:nvPr/>
        </p:nvSpPr>
        <p:spPr>
          <a:xfrm xmlns:a="http://schemas.openxmlformats.org/drawingml/2006/main">
            <a:off x="4791075"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 products</a:t>
            </a:r>
          </a:p>
        </p:txBody>
      </p:sp>
      <p:sp>
        <p:nvSpPr>
          <p:cNvPr id="10" name="">
            <a:extLst xmlns:a="http://schemas.openxmlformats.org/drawingml/2006/main">
              <a:ext uri="{FF2B5EF4-FFF2-40B4-BE49-F238E27FC236}">
                <a16:creationId xmlns:a16="http://schemas.microsoft.com/office/drawing/2014/main" id="{DCE9137F-D281-4501-8BB1-9171154FA345}"/>
              </a:ext>
            </a:extLst>
          </p:cNvPr>
          <p:cNvSpPr>
            <a:spLocks xmlns:a="http://schemas.openxmlformats.org/drawingml/2006/main" noGrp="1"/>
          </p:cNvSpPr>
          <p:nvPr/>
        </p:nvSpPr>
        <p:spPr>
          <a:xfrm xmlns:a="http://schemas.openxmlformats.org/drawingml/2006/main">
            <a:off x="8591550" y="2667000"/>
            <a:ext cx="2943225" cy="10763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1" name="">
            <a:extLst xmlns:a="http://schemas.openxmlformats.org/drawingml/2006/main">
              <a:ext uri="{FF2B5EF4-FFF2-40B4-BE49-F238E27FC236}">
                <a16:creationId xmlns:a16="http://schemas.microsoft.com/office/drawing/2014/main" id="{A310CAAD-5DCB-49F0-8EAB-F0A3BA5D61F9}"/>
              </a:ext>
            </a:extLst>
          </p:cNvPr>
          <p:cNvSpPr>
            <a:spLocks xmlns:a="http://schemas.openxmlformats.org/drawingml/2006/main" noGrp="1"/>
          </p:cNvSpPr>
          <p:nvPr/>
        </p:nvSpPr>
        <p:spPr>
          <a:xfrm xmlns:a="http://schemas.openxmlformats.org/drawingml/2006/main">
            <a:off x="8763000" y="2781300"/>
            <a:ext cx="26003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Fresh final probes</a:t>
            </a:r>
          </a:p>
        </p:txBody>
      </p:sp>
      <p:sp>
        <p:nvSpPr>
          <p:cNvPr id="12" name="">
            <a:extLst xmlns:a="http://schemas.openxmlformats.org/drawingml/2006/main">
              <a:ext uri="{FF2B5EF4-FFF2-40B4-BE49-F238E27FC236}">
                <a16:creationId xmlns:a16="http://schemas.microsoft.com/office/drawing/2014/main" id="{B1D91F3A-B2AF-4DDF-B1F8-4BD10A83159E}"/>
              </a:ext>
            </a:extLst>
          </p:cNvPr>
          <p:cNvSpPr>
            <a:spLocks xmlns:a="http://schemas.openxmlformats.org/drawingml/2006/main" noGrp="1"/>
          </p:cNvSpPr>
          <p:nvPr/>
        </p:nvSpPr>
        <p:spPr>
          <a:xfrm xmlns:a="http://schemas.openxmlformats.org/drawingml/2006/main">
            <a:off x="8763000" y="3248025"/>
            <a:ext cx="2600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ℓ products</a:t>
            </a:r>
          </a:p>
        </p:txBody>
      </p:sp>
      <p:cxnSp>
        <p:nvCxnSpPr>
          <p:cNvPr id="31" name=""/>
          <p:cNvCxnSpPr>
            <a:stCxn xmlns:a="http://schemas.openxmlformats.org/drawingml/2006/main" id="4" idx="3"/>
            <a:endCxn xmlns:a="http://schemas.openxmlformats.org/drawingml/2006/main" id="7" idx="1"/>
          </p:cNvCxnSpPr>
          <p:nvPr/>
        </p:nvCxnSpPr>
        <p:spPr>
          <a:xfrm xmlns:a="http://schemas.openxmlformats.org/drawingml/2006/main">
            <a:off x="3590925" y="3205163"/>
            <a:ext cx="1028700"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562850" y="3205163"/>
            <a:ext cx="1028700"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5" name="">
            <a:extLst xmlns:a="http://schemas.openxmlformats.org/drawingml/2006/main">
              <a:ext uri="{FF2B5EF4-FFF2-40B4-BE49-F238E27FC236}">
                <a16:creationId xmlns:a16="http://schemas.microsoft.com/office/drawing/2014/main" id="{2D1F3A5A-8860-4DD1-B5EF-A4023A5A5559}"/>
              </a:ext>
            </a:extLst>
          </p:cNvPr>
          <p:cNvSpPr>
            <a:spLocks xmlns:a="http://schemas.openxmlformats.org/drawingml/2006/main" noGrp="1"/>
          </p:cNvSpPr>
          <p:nvPr/>
        </p:nvSpPr>
        <p:spPr>
          <a:xfrm xmlns:a="http://schemas.openxmlformats.org/drawingml/2006/main">
            <a:off x="647700" y="4229100"/>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92D3C"/>
                </a:solidFill>
                <a:latin typeface="Helvetica Neue"/>
                <a:ea typeface="Helvetica Neue"/>
                <a:cs typeface="Helvetica Neue"/>
              </a:defRPr>
            </a:pPr>
            <a:r>
              <a:rPr sz="2700" b="1">
                <a:solidFill>
                  <a:srgbClr val="192D3C"/>
                </a:solidFill>
                <a:latin typeface="Helvetica Neue"/>
                <a:ea typeface="Helvetica Neue"/>
                <a:cs typeface="Helvetica Neue"/>
              </a:rPr>
              <a:t>E[estimate | pre-probe information] = tr(A)</a:t>
            </a:r>
          </a:p>
        </p:txBody>
      </p:sp>
      <p:sp>
        <p:nvSpPr>
          <p:cNvPr id="16" name="">
            <a:extLst xmlns:a="http://schemas.openxmlformats.org/drawingml/2006/main">
              <a:ext uri="{FF2B5EF4-FFF2-40B4-BE49-F238E27FC236}">
                <a16:creationId xmlns:a16="http://schemas.microsoft.com/office/drawing/2014/main" id="{B7AF3C61-1BEE-4DDD-A2F2-D4DCF7794D47}"/>
              </a:ext>
            </a:extLst>
          </p:cNvPr>
          <p:cNvSpPr>
            <a:spLocks xmlns:a="http://schemas.openxmlformats.org/drawingml/2006/main" noGrp="1"/>
          </p:cNvSpPr>
          <p:nvPr/>
        </p:nvSpPr>
        <p:spPr>
          <a:xfrm xmlns:a="http://schemas.openxmlformats.org/drawingml/2006/main">
            <a:off x="647700" y="51149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37847F"/>
                </a:solidFill>
                <a:latin typeface="Helvetica Neue"/>
                <a:ea typeface="Helvetica Neue"/>
                <a:cs typeface="Helvetica Neue"/>
              </a:defRPr>
            </a:pPr>
            <a:r>
              <a:rPr sz="2475" b="0">
                <a:solidFill>
                  <a:srgbClr val="37847F"/>
                </a:solidFill>
                <a:latin typeface="Helvetica Neue"/>
                <a:ea typeface="Helvetica Neue"/>
                <a:cs typeface="Helvetica Neue"/>
              </a:rPr>
              <a:t>tr(QᵀAQ) + tr(RAR) = tr(A)</a:t>
            </a:r>
          </a:p>
        </p:txBody>
      </p:sp>
      <p:sp>
        <p:nvSpPr>
          <p:cNvPr id="17" name="">
            <a:extLst xmlns:a="http://schemas.openxmlformats.org/drawingml/2006/main">
              <a:ext uri="{FF2B5EF4-FFF2-40B4-BE49-F238E27FC236}">
                <a16:creationId xmlns:a16="http://schemas.microsoft.com/office/drawing/2014/main" id="{7AA72033-BE52-4242-B5AB-4911CC2C2BAB}"/>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01F2D9A-4D17-49D0-889C-7CDF7E8B02F3}"/>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Q is orthonormal, R = I − QQᵀ, and fresh final probes are conditionally isotropic.</a:t>
            </a:r>
          </a:p>
        </p:txBody>
      </p:sp>
    </p:spTree>
    <p:extLst>
      <p:ext uri="{BB962C8B-B14F-4D97-AF65-F5344CB8AC3E}">
        <p14:creationId xmlns:p14="http://schemas.microsoft.com/office/powerpoint/2010/main" val="30255821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4B0A8B-8DA2-4DB0-B2C9-FC24817A18C4}"/>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2: exact probe-specific risks</a:t>
            </a:r>
          </a:p>
        </p:txBody>
      </p:sp>
      <p:sp>
        <p:nvSpPr>
          <p:cNvPr id="2" name="">
            <a:extLst xmlns:a="http://schemas.openxmlformats.org/drawingml/2006/main">
              <a:ext uri="{FF2B5EF4-FFF2-40B4-BE49-F238E27FC236}">
                <a16:creationId xmlns:a16="http://schemas.microsoft.com/office/drawing/2014/main" id="{5496B1DB-114B-4DE8-BCB5-48E9C4B921E5}"/>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20</a:t>
            </a:r>
          </a:p>
        </p:txBody>
      </p:sp>
      <p:graphicFrame>
        <p:nvGraphicFramePr>
          <p:cNvPr id="9" name=""/>
          <p:cNvGraphicFramePr/>
          <p:nvPr/>
        </p:nvGraphicFramePr>
        <p:xfrm>
          <a:off xmlns:a="http://schemas.openxmlformats.org/drawingml/2006/main" x="638175" y="2038350"/>
          <a:ext xmlns:a="http://schemas.openxmlformats.org/drawingml/2006/main" cx="10858500" cy="2266950"/>
        </p:xfrm>
        <a:graphic xmlns:a="http://schemas.openxmlformats.org/drawingml/2006/main">
          <a:graphicData uri="http://schemas.openxmlformats.org/drawingml/2006/table">
            <a:tbl>
              <a:tblPr/>
              <a:tblGrid>
                <a:gridCol w="3429000"/>
                <a:gridCol w="7429500"/>
              </a:tblGrid>
              <a:tr h="755650">
                <a:tc>
                  <a:txBody>
                    <a:bodyPr/>
                    <a:lstStyle/>
                    <a:p>
                      <a:r>
                        <a:rPr sz="1875" b="1">
                          <a:solidFill>
                            <a:srgbClr val="FFFFFF"/>
                          </a:solidFill>
                          <a:latin typeface="Helvetica Neue"/>
                          <a:ea typeface="Helvetica Neue"/>
                          <a:cs typeface="Helvetica Neue"/>
                        </a:rPr>
                        <a:t>Final probe law</a:t>
                      </a:r>
                    </a:p>
                  </a:txBody>
                  <a:tcPr marL="91440" marR="91440" marT="45720" marB="45720">
                    <a:solidFill>
                      <a:srgbClr val="31688E"/>
                    </a:solidFill>
                  </a:tcPr>
                </a:tc>
                <a:tc>
                  <a:txBody>
                    <a:bodyPr/>
                    <a:lstStyle/>
                    <a:p>
                      <a:r>
                        <a:rPr sz="1875" b="1">
                          <a:solidFill>
                            <a:srgbClr val="FFFFFF"/>
                          </a:solidFill>
                          <a:latin typeface="Helvetica Neue"/>
                          <a:ea typeface="Helvetica Neue"/>
                          <a:cs typeface="Helvetica Neue"/>
                        </a:rPr>
                        <a:t>Variance of one gᵀHg</a:t>
                      </a:r>
                    </a:p>
                  </a:txBody>
                  <a:tcPr marL="91440" marR="91440" marT="45720" marB="45720">
                    <a:solidFill>
                      <a:srgbClr val="31688E"/>
                    </a:solidFill>
                  </a:tcPr>
                </a:tc>
              </a:tr>
              <a:tr h="755650">
                <a:tc>
                  <a:txBody>
                    <a:bodyPr/>
                    <a:lstStyle/>
                    <a:p>
                      <a:r>
                        <a:rPr sz="1800" b="0">
                          <a:solidFill>
                            <a:srgbClr val="192D3C"/>
                          </a:solidFill>
                          <a:latin typeface="Helvetica Neue"/>
                          <a:ea typeface="Helvetica Neue"/>
                          <a:cs typeface="Helvetica Neue"/>
                        </a:rPr>
                        <a:t>Gaussian</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2 × sum of all Hᵢⱼ²</a:t>
                      </a:r>
                    </a:p>
                  </a:txBody>
                  <a:tcPr marL="91440" marR="91440" marT="45720" marB="45720">
                    <a:solidFill>
                      <a:srgbClr val="FFFFFF"/>
                    </a:solidFill>
                  </a:tcPr>
                </a:tc>
              </a:tr>
              <a:tr h="755650">
                <a:tc>
                  <a:txBody>
                    <a:bodyPr/>
                    <a:lstStyle/>
                    <a:p>
                      <a:r>
                        <a:rPr sz="1800" b="0">
                          <a:solidFill>
                            <a:srgbClr val="192D3C"/>
                          </a:solidFill>
                          <a:latin typeface="Helvetica Neue"/>
                          <a:ea typeface="Helvetica Neue"/>
                          <a:cs typeface="Helvetica Neue"/>
                        </a:rPr>
                        <a:t>Rademacher</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2 × sum over i ≠ j of Hᵢⱼ²</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34C7E39-11BC-468C-B7A0-95760ED529F9}"/>
              </a:ext>
            </a:extLst>
          </p:cNvPr>
          <p:cNvSpPr>
            <a:spLocks xmlns:a="http://schemas.openxmlformats.org/drawingml/2006/main" noGrp="1"/>
          </p:cNvSpPr>
          <p:nvPr/>
        </p:nvSpPr>
        <p:spPr>
          <a:xfrm xmlns:a="http://schemas.openxmlformats.org/drawingml/2006/main">
            <a:off x="647700" y="476250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92D3C"/>
                </a:solidFill>
                <a:latin typeface="Helvetica Neue"/>
                <a:ea typeface="Helvetica Neue"/>
                <a:cs typeface="Helvetica Neue"/>
              </a:defRPr>
            </a:pPr>
            <a:r>
              <a:rPr sz="2475" b="1">
                <a:solidFill>
                  <a:srgbClr val="192D3C"/>
                </a:solidFill>
                <a:latin typeface="Helvetica Neue"/>
                <a:ea typeface="Helvetica Neue"/>
                <a:cs typeface="Helvetica Neue"/>
              </a:rPr>
              <a:t>Independent averaging divides this variance by ℓ.</a:t>
            </a:r>
          </a:p>
        </p:txBody>
      </p:sp>
      <p:sp>
        <p:nvSpPr>
          <p:cNvPr id="5" name="">
            <a:extLst xmlns:a="http://schemas.openxmlformats.org/drawingml/2006/main">
              <a:ext uri="{FF2B5EF4-FFF2-40B4-BE49-F238E27FC236}">
                <a16:creationId xmlns:a16="http://schemas.microsoft.com/office/drawing/2014/main" id="{DCF3052F-B036-4585-8E5F-B4E04132CF0A}"/>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B8592B-53FB-488F-8B3E-6241B801DBEE}"/>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H is symmetric. With zero conditional bias, the conditional variance equals conditional MSE.</a:t>
            </a:r>
          </a:p>
        </p:txBody>
      </p:sp>
    </p:spTree>
    <p:extLst>
      <p:ext uri="{BB962C8B-B14F-4D97-AF65-F5344CB8AC3E}">
        <p14:creationId xmlns:p14="http://schemas.microsoft.com/office/powerpoint/2010/main" val="446032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697B42-E08F-47C4-8F37-5A7B021908C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3: the local allocation test</a:t>
            </a:r>
          </a:p>
        </p:txBody>
      </p:sp>
      <p:sp>
        <p:nvSpPr>
          <p:cNvPr id="2" name="">
            <a:extLst xmlns:a="http://schemas.openxmlformats.org/drawingml/2006/main">
              <a:ext uri="{FF2B5EF4-FFF2-40B4-BE49-F238E27FC236}">
                <a16:creationId xmlns:a16="http://schemas.microsoft.com/office/drawing/2014/main" id="{3171913F-3C96-467C-B870-78DF02BD32D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C7A44E1A-F402-4319-8B79-70A8C8ED31D1}"/>
              </a:ext>
            </a:extLst>
          </p:cNvPr>
          <p:cNvSpPr>
            <a:spLocks xmlns:a="http://schemas.openxmlformats.org/drawingml/2006/main" noGrp="1"/>
          </p:cNvSpPr>
          <p:nvPr/>
        </p:nvSpPr>
        <p:spPr>
          <a:xfrm xmlns:a="http://schemas.openxmlformats.org/drawingml/2006/main">
            <a:off x="647700" y="159067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Successful rank gain, D = m − q − r &gt; 2</a:t>
            </a:r>
          </a:p>
        </p:txBody>
      </p:sp>
      <p:sp>
        <p:nvSpPr>
          <p:cNvPr id="4" name="">
            <a:extLst xmlns:a="http://schemas.openxmlformats.org/drawingml/2006/main">
              <a:ext uri="{FF2B5EF4-FFF2-40B4-BE49-F238E27FC236}">
                <a16:creationId xmlns:a16="http://schemas.microsoft.com/office/drawing/2014/main" id="{8E2A5A2B-911B-4615-9E9E-8D8B51E99EA4}"/>
              </a:ext>
            </a:extLst>
          </p:cNvPr>
          <p:cNvSpPr>
            <a:spLocks xmlns:a="http://schemas.openxmlformats.org/drawingml/2006/main" noGrp="1"/>
          </p:cNvSpPr>
          <p:nvPr/>
        </p:nvSpPr>
        <p:spPr>
          <a:xfrm xmlns:a="http://schemas.openxmlformats.org/drawingml/2006/main">
            <a:off x="647700" y="23145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Risk change = −2[D(E − E′) − 2E] / [D(D − 2)]</a:t>
            </a:r>
          </a:p>
        </p:txBody>
      </p:sp>
      <p:sp>
        <p:nvSpPr>
          <p:cNvPr id="5" name="">
            <a:extLst xmlns:a="http://schemas.openxmlformats.org/drawingml/2006/main">
              <a:ext uri="{FF2B5EF4-FFF2-40B4-BE49-F238E27FC236}">
                <a16:creationId xmlns:a16="http://schemas.microsoft.com/office/drawing/2014/main" id="{E6CA22FC-109D-4181-A2D4-9EAEEADED0D5}"/>
              </a:ext>
            </a:extLst>
          </p:cNvPr>
          <p:cNvSpPr>
            <a:spLocks xmlns:a="http://schemas.openxmlformats.org/drawingml/2006/main" noGrp="1"/>
          </p:cNvSpPr>
          <p:nvPr/>
        </p:nvSpPr>
        <p:spPr>
          <a:xfrm xmlns:a="http://schemas.openxmlformats.org/drawingml/2006/main">
            <a:off x="647700" y="32575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Ideal capture substitutes E = T(r),  E − E′ = λᵣ₊₁².</a:t>
            </a:r>
          </a:p>
        </p:txBody>
      </p:sp>
      <p:sp>
        <p:nvSpPr>
          <p:cNvPr id="6" name="">
            <a:extLst xmlns:a="http://schemas.openxmlformats.org/drawingml/2006/main">
              <a:ext uri="{FF2B5EF4-FFF2-40B4-BE49-F238E27FC236}">
                <a16:creationId xmlns:a16="http://schemas.microsoft.com/office/drawing/2014/main" id="{3A0E3634-B47E-4DD1-A79E-7BB4D868BB68}"/>
              </a:ext>
            </a:extLst>
          </p:cNvPr>
          <p:cNvSpPr>
            <a:spLocks xmlns:a="http://schemas.openxmlformats.org/drawingml/2006/main" noGrp="1"/>
          </p:cNvSpPr>
          <p:nvPr/>
        </p:nvSpPr>
        <p:spPr>
          <a:xfrm xmlns:a="http://schemas.openxmlformats.org/drawingml/2006/main">
            <a:off x="647700" y="4095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7847F"/>
                </a:solidFill>
                <a:latin typeface="Helvetica Neue"/>
                <a:ea typeface="Helvetica Neue"/>
                <a:cs typeface="Helvetica Neue"/>
              </a:defRPr>
            </a:pPr>
            <a:r>
              <a:rPr sz="2550" b="1">
                <a:solidFill>
                  <a:srgbClr val="37847F"/>
                </a:solidFill>
                <a:latin typeface="Helvetica Neue"/>
                <a:ea typeface="Helvetica Neue"/>
                <a:cs typeface="Helvetica Neue"/>
              </a:rPr>
              <a:t>Benefit exactly when  D λᵣ₊₁² &gt; 2T(r)</a:t>
            </a:r>
          </a:p>
        </p:txBody>
      </p:sp>
      <p:sp>
        <p:nvSpPr>
          <p:cNvPr id="7" name="">
            <a:extLst xmlns:a="http://schemas.openxmlformats.org/drawingml/2006/main">
              <a:ext uri="{FF2B5EF4-FFF2-40B4-BE49-F238E27FC236}">
                <a16:creationId xmlns:a16="http://schemas.microsoft.com/office/drawing/2014/main" id="{3520ADF7-CA7B-4BE9-A5F5-C89D2B743F3B}"/>
              </a:ext>
            </a:extLst>
          </p:cNvPr>
          <p:cNvSpPr>
            <a:spLocks xmlns:a="http://schemas.openxmlformats.org/drawingml/2006/main" noGrp="1"/>
          </p:cNvSpPr>
          <p:nvPr/>
        </p:nvSpPr>
        <p:spPr>
          <a:xfrm xmlns:a="http://schemas.openxmlformats.org/drawingml/2006/main">
            <a:off x="647700" y="5238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BC702D"/>
                </a:solidFill>
                <a:latin typeface="Helvetica Neue"/>
                <a:ea typeface="Helvetica Neue"/>
                <a:cs typeface="Helvetica Neue"/>
              </a:defRPr>
            </a:pPr>
            <a:r>
              <a:rPr sz="2100" b="0">
                <a:solidFill>
                  <a:srgbClr val="BC702D"/>
                </a:solidFill>
                <a:latin typeface="Helvetica Neue"/>
                <a:ea typeface="Helvetica Neue"/>
                <a:cs typeface="Helvetica Neue"/>
              </a:rPr>
              <a:t>Failed rank gain, unchanged projector: +2E / [D(D − 1)]</a:t>
            </a:r>
          </a:p>
        </p:txBody>
      </p:sp>
      <p:sp>
        <p:nvSpPr>
          <p:cNvPr id="8" name="">
            <a:extLst xmlns:a="http://schemas.openxmlformats.org/drawingml/2006/main">
              <a:ext uri="{FF2B5EF4-FFF2-40B4-BE49-F238E27FC236}">
                <a16:creationId xmlns:a16="http://schemas.microsoft.com/office/drawing/2014/main" id="{936EA43A-9798-4F79-B95D-2BDE40FA0621}"/>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02CB1F-A6E6-4D05-801D-3FAE66954C09}"/>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ideal corollary concerns Gaussian/Frobenius risk. Zero tail may create a plateau, not a unique optimum.</a:t>
            </a:r>
          </a:p>
        </p:txBody>
      </p:sp>
    </p:spTree>
    <p:extLst>
      <p:ext uri="{BB962C8B-B14F-4D97-AF65-F5344CB8AC3E}">
        <p14:creationId xmlns:p14="http://schemas.microsoft.com/office/powerpoint/2010/main" val="1613911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34857E-0742-46DE-A84F-6984EFAE5489}"/>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4: separate tiny tail from capture leakage</a:t>
            </a:r>
          </a:p>
        </p:txBody>
      </p:sp>
      <p:sp>
        <p:nvSpPr>
          <p:cNvPr id="2" name="">
            <a:extLst xmlns:a="http://schemas.openxmlformats.org/drawingml/2006/main">
              <a:ext uri="{FF2B5EF4-FFF2-40B4-BE49-F238E27FC236}">
                <a16:creationId xmlns:a16="http://schemas.microsoft.com/office/drawing/2014/main" id="{2EA2B08F-EEEF-49D6-A165-30333EAA1DDD}"/>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Step matrix: A = ηI + (1 − η)UUᵀ. Let Z = RU.</a:t>
            </a:r>
          </a:p>
        </p:txBody>
      </p:sp>
      <p:sp>
        <p:nvSpPr>
          <p:cNvPr id="3" name="">
            <a:extLst xmlns:a="http://schemas.openxmlformats.org/drawingml/2006/main">
              <a:ext uri="{FF2B5EF4-FFF2-40B4-BE49-F238E27FC236}">
                <a16:creationId xmlns:a16="http://schemas.microsoft.com/office/drawing/2014/main" id="{7E876394-4337-44BE-AF49-24576EF47D46}"/>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91055878-D43D-43AF-B8F0-EA145F94B3FA}"/>
              </a:ext>
            </a:extLst>
          </p:cNvPr>
          <p:cNvSpPr>
            <a:spLocks xmlns:a="http://schemas.openxmlformats.org/drawingml/2006/main" noGrp="1"/>
          </p:cNvSpPr>
          <p:nvPr/>
        </p:nvSpPr>
        <p:spPr>
          <a:xfrm xmlns:a="http://schemas.openxmlformats.org/drawingml/2006/main">
            <a:off x="657225" y="21336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31688E"/>
                </a:solidFill>
                <a:latin typeface="Helvetica Neue"/>
                <a:ea typeface="Helvetica Neue"/>
                <a:cs typeface="Helvetica Neue"/>
              </a:defRPr>
            </a:pPr>
            <a:r>
              <a:rPr sz="2850" b="1">
                <a:solidFill>
                  <a:srgbClr val="31688E"/>
                </a:solidFill>
                <a:latin typeface="Helvetica Neue"/>
                <a:ea typeface="Helvetica Neue"/>
                <a:cs typeface="Helvetica Neue"/>
              </a:rPr>
              <a:t>E_G = η²(d − r)</a:t>
            </a:r>
          </a:p>
        </p:txBody>
      </p:sp>
      <p:sp>
        <p:nvSpPr>
          <p:cNvPr id="5" name="">
            <a:extLst xmlns:a="http://schemas.openxmlformats.org/drawingml/2006/main">
              <a:ext uri="{FF2B5EF4-FFF2-40B4-BE49-F238E27FC236}">
                <a16:creationId xmlns:a16="http://schemas.microsoft.com/office/drawing/2014/main" id="{D7520163-91C0-4A17-A57D-BEE3363E86E9}"/>
              </a:ext>
            </a:extLst>
          </p:cNvPr>
          <p:cNvSpPr>
            <a:spLocks xmlns:a="http://schemas.openxmlformats.org/drawingml/2006/main" noGrp="1"/>
          </p:cNvSpPr>
          <p:nvPr/>
        </p:nvSpPr>
        <p:spPr>
          <a:xfrm xmlns:a="http://schemas.openxmlformats.org/drawingml/2006/main">
            <a:off x="657225" y="30289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37847F"/>
                </a:solidFill>
                <a:latin typeface="Helvetica Neue"/>
                <a:ea typeface="Helvetica Neue"/>
                <a:cs typeface="Helvetica Neue"/>
              </a:defRPr>
            </a:pPr>
            <a:r>
              <a:rPr sz="2625" b="0">
                <a:solidFill>
                  <a:srgbClr val="37847F"/>
                </a:solidFill>
                <a:latin typeface="Helvetica Neue"/>
                <a:ea typeface="Helvetica Neue"/>
                <a:cs typeface="Helvetica Neue"/>
              </a:rPr>
              <a:t>         + 2η(1 − η) ‖Z‖²_F</a:t>
            </a:r>
          </a:p>
        </p:txBody>
      </p:sp>
      <p:sp>
        <p:nvSpPr>
          <p:cNvPr id="6" name="">
            <a:extLst xmlns:a="http://schemas.openxmlformats.org/drawingml/2006/main">
              <a:ext uri="{FF2B5EF4-FFF2-40B4-BE49-F238E27FC236}">
                <a16:creationId xmlns:a16="http://schemas.microsoft.com/office/drawing/2014/main" id="{08225E99-EDF3-4A05-AE99-076B55BDD8A7}"/>
              </a:ext>
            </a:extLst>
          </p:cNvPr>
          <p:cNvSpPr>
            <a:spLocks xmlns:a="http://schemas.openxmlformats.org/drawingml/2006/main" noGrp="1"/>
          </p:cNvSpPr>
          <p:nvPr/>
        </p:nvSpPr>
        <p:spPr>
          <a:xfrm xmlns:a="http://schemas.openxmlformats.org/drawingml/2006/main">
            <a:off x="657225" y="392430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37847F"/>
                </a:solidFill>
                <a:latin typeface="Helvetica Neue"/>
                <a:ea typeface="Helvetica Neue"/>
                <a:cs typeface="Helvetica Neue"/>
              </a:defRPr>
            </a:pPr>
            <a:r>
              <a:rPr sz="2625" b="0">
                <a:solidFill>
                  <a:srgbClr val="37847F"/>
                </a:solidFill>
                <a:latin typeface="Helvetica Neue"/>
                <a:ea typeface="Helvetica Neue"/>
                <a:cs typeface="Helvetica Neue"/>
              </a:rPr>
              <a:t>         + (1 − η)² ‖ZᵀZ‖²_F</a:t>
            </a:r>
          </a:p>
        </p:txBody>
      </p:sp>
      <p:sp>
        <p:nvSpPr>
          <p:cNvPr id="7" name="">
            <a:extLst xmlns:a="http://schemas.openxmlformats.org/drawingml/2006/main">
              <a:ext uri="{FF2B5EF4-FFF2-40B4-BE49-F238E27FC236}">
                <a16:creationId xmlns:a16="http://schemas.microsoft.com/office/drawing/2014/main" id="{B1C41DDB-67D9-4C6A-919E-479099F87F4C}"/>
              </a:ext>
            </a:extLst>
          </p:cNvPr>
          <p:cNvSpPr>
            <a:spLocks xmlns:a="http://schemas.openxmlformats.org/drawingml/2006/main" noGrp="1"/>
          </p:cNvSpPr>
          <p:nvPr/>
        </p:nvSpPr>
        <p:spPr>
          <a:xfrm xmlns:a="http://schemas.openxmlformats.org/drawingml/2006/main">
            <a:off x="657225" y="52387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Even a tiny spectral tail can coexist with capture leakage.</a:t>
            </a:r>
          </a:p>
        </p:txBody>
      </p:sp>
      <p:sp>
        <p:nvSpPr>
          <p:cNvPr id="8" name="">
            <a:extLst xmlns:a="http://schemas.openxmlformats.org/drawingml/2006/main">
              <a:ext uri="{FF2B5EF4-FFF2-40B4-BE49-F238E27FC236}">
                <a16:creationId xmlns:a16="http://schemas.microsoft.com/office/drawing/2014/main" id="{83227838-3510-405F-84FC-14E9DBC03C35}"/>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DB1D01-560B-4AFE-97A2-DD06B9DDBA92}"/>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Every term is nonnegative for 0 ≤ η ≤ 1. This avoids subtracting large nearly equal energies.</a:t>
            </a:r>
          </a:p>
        </p:txBody>
      </p:sp>
    </p:spTree>
    <p:extLst>
      <p:ext uri="{BB962C8B-B14F-4D97-AF65-F5344CB8AC3E}">
        <p14:creationId xmlns:p14="http://schemas.microsoft.com/office/powerpoint/2010/main" val="127358502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C157134-7B45-428F-9404-353606E21EB8}"/>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5: why the square sketch can be fragile</a:t>
            </a:r>
          </a:p>
        </p:txBody>
      </p:sp>
      <p:sp>
        <p:nvSpPr>
          <p:cNvPr id="2" name="">
            <a:extLst xmlns:a="http://schemas.openxmlformats.org/drawingml/2006/main">
              <a:ext uri="{FF2B5EF4-FFF2-40B4-BE49-F238E27FC236}">
                <a16:creationId xmlns:a16="http://schemas.microsoft.com/office/drawing/2014/main" id="{194ADEAC-9DA1-46F7-A7C7-5A9994A81110}"/>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34F61B49-C73A-41B3-A72A-980EC844D97F}"/>
              </a:ext>
            </a:extLst>
          </p:cNvPr>
          <p:cNvSpPr>
            <a:spLocks xmlns:a="http://schemas.openxmlformats.org/drawingml/2006/main" noGrp="1"/>
          </p:cNvSpPr>
          <p:nvPr/>
        </p:nvSpPr>
        <p:spPr>
          <a:xfrm xmlns:a="http://schemas.openxmlformats.org/drawingml/2006/main">
            <a:off x="628650" y="1962150"/>
            <a:ext cx="3343275" cy="1190625"/>
          </a:xfrm>
          <a:prstGeom xmlns:a="http://schemas.openxmlformats.org/drawingml/2006/main" prst="rect">
            <a:avLst/>
          </a:prstGeom>
          <a:solidFill xmlns:a="http://schemas.openxmlformats.org/drawingml/2006/main">
            <a:srgbClr val="EDF4F6"/>
          </a:solidFill>
          <a:ln xmlns:a="http://schemas.openxmlformats.org/drawingml/2006/main" w="11430">
            <a:solidFill>
              <a:srgbClr val="CCD8DE"/>
            </a:solidFill>
          </a:ln>
        </p:spPr>
      </p:sp>
      <p:sp>
        <p:nvSpPr>
          <p:cNvPr id="4" name="">
            <a:extLst xmlns:a="http://schemas.openxmlformats.org/drawingml/2006/main">
              <a:ext uri="{FF2B5EF4-FFF2-40B4-BE49-F238E27FC236}">
                <a16:creationId xmlns:a16="http://schemas.microsoft.com/office/drawing/2014/main" id="{7AA389C7-EABF-43B3-833D-46314B065F74}"/>
              </a:ext>
            </a:extLst>
          </p:cNvPr>
          <p:cNvSpPr>
            <a:spLocks xmlns:a="http://schemas.openxmlformats.org/drawingml/2006/main" noGrp="1"/>
          </p:cNvSpPr>
          <p:nvPr/>
        </p:nvSpPr>
        <p:spPr>
          <a:xfrm xmlns:a="http://schemas.openxmlformats.org/drawingml/2006/main">
            <a:off x="800100"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Signal block S₁</a:t>
            </a:r>
          </a:p>
        </p:txBody>
      </p:sp>
      <p:sp>
        <p:nvSpPr>
          <p:cNvPr id="5" name="">
            <a:extLst xmlns:a="http://schemas.openxmlformats.org/drawingml/2006/main">
              <a:ext uri="{FF2B5EF4-FFF2-40B4-BE49-F238E27FC236}">
                <a16:creationId xmlns:a16="http://schemas.microsoft.com/office/drawing/2014/main" id="{B1E8E43D-9699-4F61-887D-8D2BE49FE594}"/>
              </a:ext>
            </a:extLst>
          </p:cNvPr>
          <p:cNvSpPr>
            <a:spLocks xmlns:a="http://schemas.openxmlformats.org/drawingml/2006/main" noGrp="1"/>
          </p:cNvSpPr>
          <p:nvPr/>
        </p:nvSpPr>
        <p:spPr>
          <a:xfrm xmlns:a="http://schemas.openxmlformats.org/drawingml/2006/main">
            <a:off x="800100"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 k: square</a:t>
            </a:r>
          </a:p>
        </p:txBody>
      </p:sp>
      <p:sp>
        <p:nvSpPr>
          <p:cNvPr id="6" name="">
            <a:extLst xmlns:a="http://schemas.openxmlformats.org/drawingml/2006/main">
              <a:ext uri="{FF2B5EF4-FFF2-40B4-BE49-F238E27FC236}">
                <a16:creationId xmlns:a16="http://schemas.microsoft.com/office/drawing/2014/main" id="{FB6D31D2-0FE9-483B-B3EA-CB987825FE7E}"/>
              </a:ext>
            </a:extLst>
          </p:cNvPr>
          <p:cNvSpPr>
            <a:spLocks xmlns:a="http://schemas.openxmlformats.org/drawingml/2006/main" noGrp="1"/>
          </p:cNvSpPr>
          <p:nvPr/>
        </p:nvSpPr>
        <p:spPr>
          <a:xfrm xmlns:a="http://schemas.openxmlformats.org/drawingml/2006/main">
            <a:off x="4429125" y="1962150"/>
            <a:ext cx="3343275" cy="1190625"/>
          </a:xfrm>
          <a:prstGeom xmlns:a="http://schemas.openxmlformats.org/drawingml/2006/main" prst="rect">
            <a:avLst/>
          </a:prstGeom>
          <a:solidFill xmlns:a="http://schemas.openxmlformats.org/drawingml/2006/main">
            <a:srgbClr val="FAF1E7"/>
          </a:solidFill>
          <a:ln xmlns:a="http://schemas.openxmlformats.org/drawingml/2006/main" w="11430">
            <a:solidFill>
              <a:srgbClr val="CCD8DE"/>
            </a:solidFill>
          </a:ln>
        </p:spPr>
      </p:sp>
      <p:sp>
        <p:nvSpPr>
          <p:cNvPr id="7" name="">
            <a:extLst xmlns:a="http://schemas.openxmlformats.org/drawingml/2006/main">
              <a:ext uri="{FF2B5EF4-FFF2-40B4-BE49-F238E27FC236}">
                <a16:creationId xmlns:a16="http://schemas.microsoft.com/office/drawing/2014/main" id="{A74D593B-5B13-4968-B15C-413C072C849A}"/>
              </a:ext>
            </a:extLst>
          </p:cNvPr>
          <p:cNvSpPr>
            <a:spLocks xmlns:a="http://schemas.openxmlformats.org/drawingml/2006/main" noGrp="1"/>
          </p:cNvSpPr>
          <p:nvPr/>
        </p:nvSpPr>
        <p:spPr>
          <a:xfrm xmlns:a="http://schemas.openxmlformats.org/drawingml/2006/main">
            <a:off x="4600575"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Amplification</a:t>
            </a:r>
          </a:p>
        </p:txBody>
      </p:sp>
      <p:sp>
        <p:nvSpPr>
          <p:cNvPr id="8" name="">
            <a:extLst xmlns:a="http://schemas.openxmlformats.org/drawingml/2006/main">
              <a:ext uri="{FF2B5EF4-FFF2-40B4-BE49-F238E27FC236}">
                <a16:creationId xmlns:a16="http://schemas.microsoft.com/office/drawing/2014/main" id="{CA337F82-E411-4A17-850A-82C10FD3F887}"/>
              </a:ext>
            </a:extLst>
          </p:cNvPr>
          <p:cNvSpPr>
            <a:spLocks xmlns:a="http://schemas.openxmlformats.org/drawingml/2006/main" noGrp="1"/>
          </p:cNvSpPr>
          <p:nvPr/>
        </p:nvSpPr>
        <p:spPr>
          <a:xfrm xmlns:a="http://schemas.openxmlformats.org/drawingml/2006/main">
            <a:off x="4600575"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F = ηS₂S₁⁻¹</a:t>
            </a:r>
          </a:p>
        </p:txBody>
      </p:sp>
      <p:sp>
        <p:nvSpPr>
          <p:cNvPr id="9" name="">
            <a:extLst xmlns:a="http://schemas.openxmlformats.org/drawingml/2006/main">
              <a:ext uri="{FF2B5EF4-FFF2-40B4-BE49-F238E27FC236}">
                <a16:creationId xmlns:a16="http://schemas.microsoft.com/office/drawing/2014/main" id="{D81DF57C-29B4-46AA-8E13-1D72E3DA6F99}"/>
              </a:ext>
            </a:extLst>
          </p:cNvPr>
          <p:cNvSpPr>
            <a:spLocks xmlns:a="http://schemas.openxmlformats.org/drawingml/2006/main" noGrp="1"/>
          </p:cNvSpPr>
          <p:nvPr/>
        </p:nvSpPr>
        <p:spPr>
          <a:xfrm xmlns:a="http://schemas.openxmlformats.org/drawingml/2006/main">
            <a:off x="8229600" y="1962150"/>
            <a:ext cx="3343275" cy="1190625"/>
          </a:xfrm>
          <a:prstGeom xmlns:a="http://schemas.openxmlformats.org/drawingml/2006/main" prst="rect">
            <a:avLst/>
          </a:prstGeom>
          <a:solidFill xmlns:a="http://schemas.openxmlformats.org/drawingml/2006/main">
            <a:srgbClr val="EBF4F1"/>
          </a:solidFill>
          <a:ln xmlns:a="http://schemas.openxmlformats.org/drawingml/2006/main" w="11430">
            <a:solidFill>
              <a:srgbClr val="CCD8DE"/>
            </a:solidFill>
          </a:ln>
        </p:spPr>
      </p:sp>
      <p:sp>
        <p:nvSpPr>
          <p:cNvPr id="10" name="">
            <a:extLst xmlns:a="http://schemas.openxmlformats.org/drawingml/2006/main">
              <a:ext uri="{FF2B5EF4-FFF2-40B4-BE49-F238E27FC236}">
                <a16:creationId xmlns:a16="http://schemas.microsoft.com/office/drawing/2014/main" id="{B24EEDEF-4FB4-4302-89B3-24ADC0ECD7CC}"/>
              </a:ext>
            </a:extLst>
          </p:cNvPr>
          <p:cNvSpPr>
            <a:spLocks xmlns:a="http://schemas.openxmlformats.org/drawingml/2006/main" noGrp="1"/>
          </p:cNvSpPr>
          <p:nvPr/>
        </p:nvSpPr>
        <p:spPr>
          <a:xfrm xmlns:a="http://schemas.openxmlformats.org/drawingml/2006/main">
            <a:off x="8401050" y="2076450"/>
            <a:ext cx="300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Capture error</a:t>
            </a:r>
          </a:p>
        </p:txBody>
      </p:sp>
      <p:sp>
        <p:nvSpPr>
          <p:cNvPr id="11" name="">
            <a:extLst xmlns:a="http://schemas.openxmlformats.org/drawingml/2006/main">
              <a:ext uri="{FF2B5EF4-FFF2-40B4-BE49-F238E27FC236}">
                <a16:creationId xmlns:a16="http://schemas.microsoft.com/office/drawing/2014/main" id="{71620811-C898-41A2-A1AE-3755B4B981E6}"/>
              </a:ext>
            </a:extLst>
          </p:cNvPr>
          <p:cNvSpPr>
            <a:spLocks xmlns:a="http://schemas.openxmlformats.org/drawingml/2006/main" noGrp="1"/>
          </p:cNvSpPr>
          <p:nvPr/>
        </p:nvSpPr>
        <p:spPr>
          <a:xfrm xmlns:a="http://schemas.openxmlformats.org/drawingml/2006/main">
            <a:off x="8401050" y="2543175"/>
            <a:ext cx="3000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‖F‖₂ / √(1 + ‖F‖₂²)</a:t>
            </a:r>
          </a:p>
        </p:txBody>
      </p:sp>
      <p:cxnSp>
        <p:nvCxnSpPr>
          <p:cNvPr id="29" name=""/>
          <p:cNvCxnSpPr>
            <a:stCxn xmlns:a="http://schemas.openxmlformats.org/drawingml/2006/main" id="3" idx="3"/>
            <a:endCxn xmlns:a="http://schemas.openxmlformats.org/drawingml/2006/main" id="6" idx="1"/>
          </p:cNvCxnSpPr>
          <p:nvPr/>
        </p:nvCxnSpPr>
        <p:spPr>
          <a:xfrm xmlns:a="http://schemas.openxmlformats.org/drawingml/2006/main">
            <a:off x="3971925" y="2557463"/>
            <a:ext cx="457200" cy="0"/>
          </a:xfrm>
          <a:prstGeom xmlns:a="http://schemas.openxmlformats.org/drawingml/2006/main" prst="straightConnector1">
            <a:avLst/>
          </a:prstGeom>
          <a:ln xmlns:a="http://schemas.openxmlformats.org/drawingml/2006/main" w="23813">
            <a:solidFill>
              <a:srgbClr val="31688E"/>
            </a:solidFill>
            <a:tailEnd type="triangle" w="sm" len="sm"/>
          </a:ln>
        </p:spPr>
      </p:cxnSp>
      <p:cxnSp>
        <p:nvCxnSpPr>
          <p:cNvPr id="30" name=""/>
          <p:cNvCxnSpPr>
            <a:stCxn xmlns:a="http://schemas.openxmlformats.org/drawingml/2006/main" id="6" idx="3"/>
            <a:endCxn xmlns:a="http://schemas.openxmlformats.org/drawingml/2006/main" id="9" idx="1"/>
          </p:cNvCxnSpPr>
          <p:nvPr/>
        </p:nvCxnSpPr>
        <p:spPr>
          <a:xfrm xmlns:a="http://schemas.openxmlformats.org/drawingml/2006/main">
            <a:off x="7772400" y="2557463"/>
            <a:ext cx="457200" cy="0"/>
          </a:xfrm>
          <a:prstGeom xmlns:a="http://schemas.openxmlformats.org/drawingml/2006/main" prst="straightConnector1">
            <a:avLst/>
          </a:prstGeom>
          <a:ln xmlns:a="http://schemas.openxmlformats.org/drawingml/2006/main" w="23813">
            <a:solidFill>
              <a:srgbClr val="31688E"/>
            </a:solidFill>
            <a:tailEnd type="triangle" w="sm" len="sm"/>
          </a:ln>
        </p:spPr>
      </p:cxnSp>
      <p:sp>
        <p:nvSpPr>
          <p:cNvPr id="14" name="">
            <a:extLst xmlns:a="http://schemas.openxmlformats.org/drawingml/2006/main">
              <a:ext uri="{FF2B5EF4-FFF2-40B4-BE49-F238E27FC236}">
                <a16:creationId xmlns:a16="http://schemas.microsoft.com/office/drawing/2014/main" id="{B5514584-1855-4DE6-B665-F417FA995BF1}"/>
              </a:ext>
            </a:extLst>
          </p:cNvPr>
          <p:cNvSpPr>
            <a:spLocks xmlns:a="http://schemas.openxmlformats.org/drawingml/2006/main" noGrp="1"/>
          </p:cNvSpPr>
          <p:nvPr/>
        </p:nvSpPr>
        <p:spPr>
          <a:xfrm xmlns:a="http://schemas.openxmlformats.org/drawingml/2006/main">
            <a:off x="638175" y="38100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2D3C"/>
                </a:solidFill>
                <a:latin typeface="Helvetica Neue"/>
                <a:ea typeface="Helvetica Neue"/>
                <a:cs typeface="Helvetica Neue"/>
              </a:defRPr>
            </a:pPr>
            <a:r>
              <a:rPr sz="2400" b="1">
                <a:solidFill>
                  <a:srgbClr val="192D3C"/>
                </a:solidFill>
                <a:latin typeface="Helvetica Neue"/>
                <a:ea typeface="Helvetica Neue"/>
                <a:cs typeface="Helvetica Neue"/>
              </a:rPr>
              <a:t>Full rank permits the inverse. It does not bound its size.</a:t>
            </a:r>
          </a:p>
        </p:txBody>
      </p:sp>
      <p:sp>
        <p:nvSpPr>
          <p:cNvPr id="15" name="">
            <a:extLst xmlns:a="http://schemas.openxmlformats.org/drawingml/2006/main">
              <a:ext uri="{FF2B5EF4-FFF2-40B4-BE49-F238E27FC236}">
                <a16:creationId xmlns:a16="http://schemas.microsoft.com/office/drawing/2014/main" id="{D16111C2-D5CD-4603-AC15-7C3EBD225291}"/>
              </a:ext>
            </a:extLst>
          </p:cNvPr>
          <p:cNvSpPr>
            <a:spLocks xmlns:a="http://schemas.openxmlformats.org/drawingml/2006/main" noGrp="1"/>
          </p:cNvSpPr>
          <p:nvPr/>
        </p:nvSpPr>
        <p:spPr>
          <a:xfrm xmlns:a="http://schemas.openxmlformats.org/drawingml/2006/main">
            <a:off x="638175" y="4829175"/>
            <a:ext cx="10858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An appended column adds vvᵀ to S₁S₁ᵀ.</a:t>
            </a:r>
          </a:p>
        </p:txBody>
      </p:sp>
      <p:sp>
        <p:nvSpPr>
          <p:cNvPr id="16" name="">
            <a:extLst xmlns:a="http://schemas.openxmlformats.org/drawingml/2006/main">
              <a:ext uri="{FF2B5EF4-FFF2-40B4-BE49-F238E27FC236}">
                <a16:creationId xmlns:a16="http://schemas.microsoft.com/office/drawing/2014/main" id="{996461E3-5D42-47DF-AF1D-13396844B1EA}"/>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534E848-3CBD-4BD6-ADB2-A93A33EF9A88}"/>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graph identity needs invertible square S₁. Rectangular oversampling gives a contained graph and a bound.</a:t>
            </a:r>
          </a:p>
        </p:txBody>
      </p:sp>
    </p:spTree>
    <p:extLst>
      <p:ext uri="{BB962C8B-B14F-4D97-AF65-F5344CB8AC3E}">
        <p14:creationId xmlns:p14="http://schemas.microsoft.com/office/powerpoint/2010/main" val="72771579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18D9C09-CDFA-4176-A8BD-1AFAFE84A9C6}"/>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6: an exact direction the pilot cannot see</a:t>
            </a:r>
          </a:p>
        </p:txBody>
      </p:sp>
      <p:sp>
        <p:nvSpPr>
          <p:cNvPr id="2" name="">
            <a:extLst xmlns:a="http://schemas.openxmlformats.org/drawingml/2006/main">
              <a:ext uri="{FF2B5EF4-FFF2-40B4-BE49-F238E27FC236}">
                <a16:creationId xmlns:a16="http://schemas.microsoft.com/office/drawing/2014/main" id="{6699CB28-6CEF-439B-B960-AFF97913CF65}"/>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 separate coordinate-aligned example already has positive oversampling.</a:t>
            </a:r>
          </a:p>
        </p:txBody>
      </p:sp>
      <p:sp>
        <p:nvSpPr>
          <p:cNvPr id="3" name="">
            <a:extLst xmlns:a="http://schemas.openxmlformats.org/drawingml/2006/main">
              <a:ext uri="{FF2B5EF4-FFF2-40B4-BE49-F238E27FC236}">
                <a16:creationId xmlns:a16="http://schemas.microsoft.com/office/drawing/2014/main" id="{742FF744-7ADE-422C-B9BA-77194540130D}"/>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A4A4BD12-35AC-4C55-8507-87E8406D9838}"/>
              </a:ext>
            </a:extLst>
          </p:cNvPr>
          <p:cNvSpPr>
            <a:spLocks xmlns:a="http://schemas.openxmlformats.org/drawingml/2006/main" noGrp="1"/>
          </p:cNvSpPr>
          <p:nvPr/>
        </p:nvSpPr>
        <p:spPr>
          <a:xfrm xmlns:a="http://schemas.openxmlformats.org/drawingml/2006/main">
            <a:off x="638175" y="2095500"/>
            <a:ext cx="2295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Signal row 3</a:t>
            </a:r>
          </a:p>
        </p:txBody>
      </p:sp>
      <p:sp>
        <p:nvSpPr>
          <p:cNvPr id="5" name="">
            <a:extLst xmlns:a="http://schemas.openxmlformats.org/drawingml/2006/main">
              <a:ext uri="{FF2B5EF4-FFF2-40B4-BE49-F238E27FC236}">
                <a16:creationId xmlns:a16="http://schemas.microsoft.com/office/drawing/2014/main" id="{C19938B0-7876-430B-B1AE-B56CE718E1D5}"/>
              </a:ext>
            </a:extLst>
          </p:cNvPr>
          <p:cNvSpPr>
            <a:spLocks xmlns:a="http://schemas.openxmlformats.org/drawingml/2006/main" noGrp="1"/>
          </p:cNvSpPr>
          <p:nvPr/>
        </p:nvSpPr>
        <p:spPr>
          <a:xfrm xmlns:a="http://schemas.openxmlformats.org/drawingml/2006/main">
            <a:off x="638175" y="3009900"/>
            <a:ext cx="2295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Signal row 4</a:t>
            </a:r>
          </a:p>
        </p:txBody>
      </p:sp>
      <p:sp>
        <p:nvSpPr>
          <p:cNvPr id="6" name="">
            <a:extLst xmlns:a="http://schemas.openxmlformats.org/drawingml/2006/main">
              <a:ext uri="{FF2B5EF4-FFF2-40B4-BE49-F238E27FC236}">
                <a16:creationId xmlns:a16="http://schemas.microsoft.com/office/drawing/2014/main" id="{67212441-4B78-40C4-AD03-E6969B329D06}"/>
              </a:ext>
            </a:extLst>
          </p:cNvPr>
          <p:cNvSpPr>
            <a:spLocks xmlns:a="http://schemas.openxmlformats.org/drawingml/2006/main" noGrp="1"/>
          </p:cNvSpPr>
          <p:nvPr/>
        </p:nvSpPr>
        <p:spPr>
          <a:xfrm xmlns:a="http://schemas.openxmlformats.org/drawingml/2006/main">
            <a:off x="3124200"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48ACF6-72DF-445B-AF7B-76BAB3803E51}"/>
              </a:ext>
            </a:extLst>
          </p:cNvPr>
          <p:cNvSpPr>
            <a:spLocks xmlns:a="http://schemas.openxmlformats.org/drawingml/2006/main" noGrp="1"/>
          </p:cNvSpPr>
          <p:nvPr/>
        </p:nvSpPr>
        <p:spPr>
          <a:xfrm xmlns:a="http://schemas.openxmlformats.org/drawingml/2006/main">
            <a:off x="312420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AB456F24-C073-43F4-8D6B-CEAA5F5EF9EC}"/>
              </a:ext>
            </a:extLst>
          </p:cNvPr>
          <p:cNvSpPr>
            <a:spLocks xmlns:a="http://schemas.openxmlformats.org/drawingml/2006/main" noGrp="1"/>
          </p:cNvSpPr>
          <p:nvPr/>
        </p:nvSpPr>
        <p:spPr>
          <a:xfrm xmlns:a="http://schemas.openxmlformats.org/drawingml/2006/main">
            <a:off x="3124200"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0FBACAF-9DBB-438D-9AEA-8AA5940941BF}"/>
              </a:ext>
            </a:extLst>
          </p:cNvPr>
          <p:cNvSpPr>
            <a:spLocks xmlns:a="http://schemas.openxmlformats.org/drawingml/2006/main" noGrp="1"/>
          </p:cNvSpPr>
          <p:nvPr/>
        </p:nvSpPr>
        <p:spPr>
          <a:xfrm xmlns:a="http://schemas.openxmlformats.org/drawingml/2006/main">
            <a:off x="312420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BD8B4814-453E-4F11-918C-758F7B8A972C}"/>
              </a:ext>
            </a:extLst>
          </p:cNvPr>
          <p:cNvSpPr>
            <a:spLocks xmlns:a="http://schemas.openxmlformats.org/drawingml/2006/main" noGrp="1"/>
          </p:cNvSpPr>
          <p:nvPr/>
        </p:nvSpPr>
        <p:spPr>
          <a:xfrm xmlns:a="http://schemas.openxmlformats.org/drawingml/2006/main">
            <a:off x="4105275"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F439F6-35D5-4EDE-9E6B-5D7E9A3F8BF8}"/>
              </a:ext>
            </a:extLst>
          </p:cNvPr>
          <p:cNvSpPr>
            <a:spLocks xmlns:a="http://schemas.openxmlformats.org/drawingml/2006/main" noGrp="1"/>
          </p:cNvSpPr>
          <p:nvPr/>
        </p:nvSpPr>
        <p:spPr>
          <a:xfrm xmlns:a="http://schemas.openxmlformats.org/drawingml/2006/main">
            <a:off x="410527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113EFE03-1079-4FEB-B5CA-982D8B1372E5}"/>
              </a:ext>
            </a:extLst>
          </p:cNvPr>
          <p:cNvSpPr>
            <a:spLocks xmlns:a="http://schemas.openxmlformats.org/drawingml/2006/main" noGrp="1"/>
          </p:cNvSpPr>
          <p:nvPr/>
        </p:nvSpPr>
        <p:spPr>
          <a:xfrm xmlns:a="http://schemas.openxmlformats.org/drawingml/2006/main">
            <a:off x="4105275"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2275354-AB00-48FF-8BBA-E73B7C4729C8}"/>
              </a:ext>
            </a:extLst>
          </p:cNvPr>
          <p:cNvSpPr>
            <a:spLocks xmlns:a="http://schemas.openxmlformats.org/drawingml/2006/main" noGrp="1"/>
          </p:cNvSpPr>
          <p:nvPr/>
        </p:nvSpPr>
        <p:spPr>
          <a:xfrm xmlns:a="http://schemas.openxmlformats.org/drawingml/2006/main">
            <a:off x="410527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A4CA610C-73B1-444F-B0BE-CBDD7F1B95B9}"/>
              </a:ext>
            </a:extLst>
          </p:cNvPr>
          <p:cNvSpPr>
            <a:spLocks xmlns:a="http://schemas.openxmlformats.org/drawingml/2006/main" noGrp="1"/>
          </p:cNvSpPr>
          <p:nvPr/>
        </p:nvSpPr>
        <p:spPr>
          <a:xfrm xmlns:a="http://schemas.openxmlformats.org/drawingml/2006/main">
            <a:off x="5086350"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1A395A-4880-4FF2-9B38-A02FBC9F1EFE}"/>
              </a:ext>
            </a:extLst>
          </p:cNvPr>
          <p:cNvSpPr>
            <a:spLocks xmlns:a="http://schemas.openxmlformats.org/drawingml/2006/main" noGrp="1"/>
          </p:cNvSpPr>
          <p:nvPr/>
        </p:nvSpPr>
        <p:spPr>
          <a:xfrm xmlns:a="http://schemas.openxmlformats.org/drawingml/2006/main">
            <a:off x="508635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2B6B5418-B162-4155-9ADC-0F098948837F}"/>
              </a:ext>
            </a:extLst>
          </p:cNvPr>
          <p:cNvSpPr>
            <a:spLocks xmlns:a="http://schemas.openxmlformats.org/drawingml/2006/main" noGrp="1"/>
          </p:cNvSpPr>
          <p:nvPr/>
        </p:nvSpPr>
        <p:spPr>
          <a:xfrm xmlns:a="http://schemas.openxmlformats.org/drawingml/2006/main">
            <a:off x="5086350"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335D14B-6194-4A83-9876-42761F1FDA92}"/>
              </a:ext>
            </a:extLst>
          </p:cNvPr>
          <p:cNvSpPr>
            <a:spLocks xmlns:a="http://schemas.openxmlformats.org/drawingml/2006/main" noGrp="1"/>
          </p:cNvSpPr>
          <p:nvPr/>
        </p:nvSpPr>
        <p:spPr>
          <a:xfrm xmlns:a="http://schemas.openxmlformats.org/drawingml/2006/main">
            <a:off x="508635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61FA3C5C-30C7-4FAD-BBB1-BE1D30F68523}"/>
              </a:ext>
            </a:extLst>
          </p:cNvPr>
          <p:cNvSpPr>
            <a:spLocks xmlns:a="http://schemas.openxmlformats.org/drawingml/2006/main" noGrp="1"/>
          </p:cNvSpPr>
          <p:nvPr/>
        </p:nvSpPr>
        <p:spPr>
          <a:xfrm xmlns:a="http://schemas.openxmlformats.org/drawingml/2006/main">
            <a:off x="6067425"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79B75FB-3936-490E-941A-C6EA9F8C158A}"/>
              </a:ext>
            </a:extLst>
          </p:cNvPr>
          <p:cNvSpPr>
            <a:spLocks xmlns:a="http://schemas.openxmlformats.org/drawingml/2006/main" noGrp="1"/>
          </p:cNvSpPr>
          <p:nvPr/>
        </p:nvSpPr>
        <p:spPr>
          <a:xfrm xmlns:a="http://schemas.openxmlformats.org/drawingml/2006/main">
            <a:off x="606742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66CB4C96-C0B5-4E33-AB0C-C0CAC367237F}"/>
              </a:ext>
            </a:extLst>
          </p:cNvPr>
          <p:cNvSpPr>
            <a:spLocks xmlns:a="http://schemas.openxmlformats.org/drawingml/2006/main" noGrp="1"/>
          </p:cNvSpPr>
          <p:nvPr/>
        </p:nvSpPr>
        <p:spPr>
          <a:xfrm xmlns:a="http://schemas.openxmlformats.org/drawingml/2006/main">
            <a:off x="6067425"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A70601D-2F80-4A02-B374-6F7674CA516B}"/>
              </a:ext>
            </a:extLst>
          </p:cNvPr>
          <p:cNvSpPr>
            <a:spLocks xmlns:a="http://schemas.openxmlformats.org/drawingml/2006/main" noGrp="1"/>
          </p:cNvSpPr>
          <p:nvPr/>
        </p:nvSpPr>
        <p:spPr>
          <a:xfrm xmlns:a="http://schemas.openxmlformats.org/drawingml/2006/main">
            <a:off x="606742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88A3204E-447D-49B9-AFD8-8313F99C1B6F}"/>
              </a:ext>
            </a:extLst>
          </p:cNvPr>
          <p:cNvSpPr>
            <a:spLocks xmlns:a="http://schemas.openxmlformats.org/drawingml/2006/main" noGrp="1"/>
          </p:cNvSpPr>
          <p:nvPr/>
        </p:nvSpPr>
        <p:spPr>
          <a:xfrm xmlns:a="http://schemas.openxmlformats.org/drawingml/2006/main">
            <a:off x="7048500"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65F4F6-A9C4-47E5-A58A-9C9E331FE2A6}"/>
              </a:ext>
            </a:extLst>
          </p:cNvPr>
          <p:cNvSpPr>
            <a:spLocks xmlns:a="http://schemas.openxmlformats.org/drawingml/2006/main" noGrp="1"/>
          </p:cNvSpPr>
          <p:nvPr/>
        </p:nvSpPr>
        <p:spPr>
          <a:xfrm xmlns:a="http://schemas.openxmlformats.org/drawingml/2006/main">
            <a:off x="704850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3EA4ECAC-0122-493E-8E0A-4E1B34A9D704}"/>
              </a:ext>
            </a:extLst>
          </p:cNvPr>
          <p:cNvSpPr>
            <a:spLocks xmlns:a="http://schemas.openxmlformats.org/drawingml/2006/main" noGrp="1"/>
          </p:cNvSpPr>
          <p:nvPr/>
        </p:nvSpPr>
        <p:spPr>
          <a:xfrm xmlns:a="http://schemas.openxmlformats.org/drawingml/2006/main">
            <a:off x="7048500"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8D00B54-6CCF-49C3-8A5E-AC1C3A36420A}"/>
              </a:ext>
            </a:extLst>
          </p:cNvPr>
          <p:cNvSpPr>
            <a:spLocks xmlns:a="http://schemas.openxmlformats.org/drawingml/2006/main" noGrp="1"/>
          </p:cNvSpPr>
          <p:nvPr/>
        </p:nvSpPr>
        <p:spPr>
          <a:xfrm xmlns:a="http://schemas.openxmlformats.org/drawingml/2006/main">
            <a:off x="704850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6" name="">
            <a:extLst xmlns:a="http://schemas.openxmlformats.org/drawingml/2006/main">
              <a:ext uri="{FF2B5EF4-FFF2-40B4-BE49-F238E27FC236}">
                <a16:creationId xmlns:a16="http://schemas.microsoft.com/office/drawing/2014/main" id="{BE749322-C4E9-4337-96EF-6E6A38C7ADB9}"/>
              </a:ext>
            </a:extLst>
          </p:cNvPr>
          <p:cNvSpPr>
            <a:spLocks xmlns:a="http://schemas.openxmlformats.org/drawingml/2006/main" noGrp="1"/>
          </p:cNvSpPr>
          <p:nvPr/>
        </p:nvSpPr>
        <p:spPr>
          <a:xfrm xmlns:a="http://schemas.openxmlformats.org/drawingml/2006/main">
            <a:off x="8029575" y="20288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786CF8A-DEF9-4933-8858-E2027AB9A2A6}"/>
              </a:ext>
            </a:extLst>
          </p:cNvPr>
          <p:cNvSpPr>
            <a:spLocks xmlns:a="http://schemas.openxmlformats.org/drawingml/2006/main" noGrp="1"/>
          </p:cNvSpPr>
          <p:nvPr/>
        </p:nvSpPr>
        <p:spPr>
          <a:xfrm xmlns:a="http://schemas.openxmlformats.org/drawingml/2006/main">
            <a:off x="802957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28" name="">
            <a:extLst xmlns:a="http://schemas.openxmlformats.org/drawingml/2006/main">
              <a:ext uri="{FF2B5EF4-FFF2-40B4-BE49-F238E27FC236}">
                <a16:creationId xmlns:a16="http://schemas.microsoft.com/office/drawing/2014/main" id="{2980AE9C-40D6-4DFC-96CD-8AF98845B363}"/>
              </a:ext>
            </a:extLst>
          </p:cNvPr>
          <p:cNvSpPr>
            <a:spLocks xmlns:a="http://schemas.openxmlformats.org/drawingml/2006/main" noGrp="1"/>
          </p:cNvSpPr>
          <p:nvPr/>
        </p:nvSpPr>
        <p:spPr>
          <a:xfrm xmlns:a="http://schemas.openxmlformats.org/drawingml/2006/main">
            <a:off x="8029575" y="29432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97D035B-5602-4A5E-B419-CECE94421EDE}"/>
              </a:ext>
            </a:extLst>
          </p:cNvPr>
          <p:cNvSpPr>
            <a:spLocks xmlns:a="http://schemas.openxmlformats.org/drawingml/2006/main" noGrp="1"/>
          </p:cNvSpPr>
          <p:nvPr/>
        </p:nvSpPr>
        <p:spPr>
          <a:xfrm xmlns:a="http://schemas.openxmlformats.org/drawingml/2006/main">
            <a:off x="802957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0" name="">
            <a:extLst xmlns:a="http://schemas.openxmlformats.org/drawingml/2006/main">
              <a:ext uri="{FF2B5EF4-FFF2-40B4-BE49-F238E27FC236}">
                <a16:creationId xmlns:a16="http://schemas.microsoft.com/office/drawing/2014/main" id="{A4079597-C672-493A-9DEB-CBBEB58A6EB5}"/>
              </a:ext>
            </a:extLst>
          </p:cNvPr>
          <p:cNvSpPr>
            <a:spLocks xmlns:a="http://schemas.openxmlformats.org/drawingml/2006/main" noGrp="1"/>
          </p:cNvSpPr>
          <p:nvPr/>
        </p:nvSpPr>
        <p:spPr>
          <a:xfrm xmlns:a="http://schemas.openxmlformats.org/drawingml/2006/main">
            <a:off x="9010650"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5F1F256-DA84-4E48-8FA3-175EEA671758}"/>
              </a:ext>
            </a:extLst>
          </p:cNvPr>
          <p:cNvSpPr>
            <a:spLocks xmlns:a="http://schemas.openxmlformats.org/drawingml/2006/main" noGrp="1"/>
          </p:cNvSpPr>
          <p:nvPr/>
        </p:nvSpPr>
        <p:spPr>
          <a:xfrm xmlns:a="http://schemas.openxmlformats.org/drawingml/2006/main">
            <a:off x="9010650"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2" name="">
            <a:extLst xmlns:a="http://schemas.openxmlformats.org/drawingml/2006/main">
              <a:ext uri="{FF2B5EF4-FFF2-40B4-BE49-F238E27FC236}">
                <a16:creationId xmlns:a16="http://schemas.microsoft.com/office/drawing/2014/main" id="{B5C810FE-4142-44F0-87AB-46853AC10CD5}"/>
              </a:ext>
            </a:extLst>
          </p:cNvPr>
          <p:cNvSpPr>
            <a:spLocks xmlns:a="http://schemas.openxmlformats.org/drawingml/2006/main" noGrp="1"/>
          </p:cNvSpPr>
          <p:nvPr/>
        </p:nvSpPr>
        <p:spPr>
          <a:xfrm xmlns:a="http://schemas.openxmlformats.org/drawingml/2006/main">
            <a:off x="9010650"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48CEFC2-943D-4A6F-A349-5685A25EA901}"/>
              </a:ext>
            </a:extLst>
          </p:cNvPr>
          <p:cNvSpPr>
            <a:spLocks xmlns:a="http://schemas.openxmlformats.org/drawingml/2006/main" noGrp="1"/>
          </p:cNvSpPr>
          <p:nvPr/>
        </p:nvSpPr>
        <p:spPr>
          <a:xfrm xmlns:a="http://schemas.openxmlformats.org/drawingml/2006/main">
            <a:off x="9010650"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4" name="">
            <a:extLst xmlns:a="http://schemas.openxmlformats.org/drawingml/2006/main">
              <a:ext uri="{FF2B5EF4-FFF2-40B4-BE49-F238E27FC236}">
                <a16:creationId xmlns:a16="http://schemas.microsoft.com/office/drawing/2014/main" id="{FF8DBF12-F9E1-4442-9332-CBB036AF7CCB}"/>
              </a:ext>
            </a:extLst>
          </p:cNvPr>
          <p:cNvSpPr>
            <a:spLocks xmlns:a="http://schemas.openxmlformats.org/drawingml/2006/main" noGrp="1"/>
          </p:cNvSpPr>
          <p:nvPr/>
        </p:nvSpPr>
        <p:spPr>
          <a:xfrm xmlns:a="http://schemas.openxmlformats.org/drawingml/2006/main">
            <a:off x="9991725" y="2028825"/>
            <a:ext cx="847725" cy="63817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EF27E81-9D70-4D31-84D3-AD760BA478F6}"/>
              </a:ext>
            </a:extLst>
          </p:cNvPr>
          <p:cNvSpPr>
            <a:spLocks xmlns:a="http://schemas.openxmlformats.org/drawingml/2006/main" noGrp="1"/>
          </p:cNvSpPr>
          <p:nvPr/>
        </p:nvSpPr>
        <p:spPr>
          <a:xfrm xmlns:a="http://schemas.openxmlformats.org/drawingml/2006/main">
            <a:off x="9991725" y="20288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6" name="">
            <a:extLst xmlns:a="http://schemas.openxmlformats.org/drawingml/2006/main">
              <a:ext uri="{FF2B5EF4-FFF2-40B4-BE49-F238E27FC236}">
                <a16:creationId xmlns:a16="http://schemas.microsoft.com/office/drawing/2014/main" id="{1CFA1BA5-8342-40F4-8EDF-360CE0F62F6F}"/>
              </a:ext>
            </a:extLst>
          </p:cNvPr>
          <p:cNvSpPr>
            <a:spLocks xmlns:a="http://schemas.openxmlformats.org/drawingml/2006/main" noGrp="1"/>
          </p:cNvSpPr>
          <p:nvPr/>
        </p:nvSpPr>
        <p:spPr>
          <a:xfrm xmlns:a="http://schemas.openxmlformats.org/drawingml/2006/main">
            <a:off x="9991725" y="2943225"/>
            <a:ext cx="847725" cy="638175"/>
          </a:xfrm>
          <a:prstGeom xmlns:a="http://schemas.openxmlformats.org/drawingml/2006/main" prst="rect">
            <a:avLst/>
          </a:prstGeom>
          <a:solidFill xmlns:a="http://schemas.openxmlformats.org/drawingml/2006/main">
            <a:srgbClr val="EBF4F1"/>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7C7F89B-AE66-42DE-8EC5-31F8AF75F833}"/>
              </a:ext>
            </a:extLst>
          </p:cNvPr>
          <p:cNvSpPr>
            <a:spLocks xmlns:a="http://schemas.openxmlformats.org/drawingml/2006/main" noGrp="1"/>
          </p:cNvSpPr>
          <p:nvPr/>
        </p:nvSpPr>
        <p:spPr>
          <a:xfrm xmlns:a="http://schemas.openxmlformats.org/drawingml/2006/main">
            <a:off x="9991725" y="2943225"/>
            <a:ext cx="847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ECFD16C2-C582-4D64-B50D-D9CB42324290}"/>
              </a:ext>
            </a:extLst>
          </p:cNvPr>
          <p:cNvSpPr>
            <a:spLocks xmlns:a="http://schemas.openxmlformats.org/drawingml/2006/main" noGrp="1"/>
          </p:cNvSpPr>
          <p:nvPr/>
        </p:nvSpPr>
        <p:spPr>
          <a:xfrm xmlns:a="http://schemas.openxmlformats.org/drawingml/2006/main">
            <a:off x="638175" y="41719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31688E"/>
                </a:solidFill>
                <a:latin typeface="Helvetica Neue"/>
                <a:ea typeface="Helvetica Neue"/>
                <a:cs typeface="Helvetica Neue"/>
              </a:defRPr>
            </a:pPr>
            <a:r>
              <a:rPr sz="2550" b="1">
                <a:solidFill>
                  <a:srgbClr val="31688E"/>
                </a:solidFill>
                <a:latin typeface="Helvetica Neue"/>
                <a:ea typeface="Helvetica Neue"/>
                <a:cs typeface="Helvetica Neue"/>
              </a:rPr>
              <a:t>w = (e₃ + e₄) / √2     gives Sᵀw = 0</a:t>
            </a:r>
          </a:p>
        </p:txBody>
      </p:sp>
      <p:sp>
        <p:nvSpPr>
          <p:cNvPr id="39" name="">
            <a:extLst xmlns:a="http://schemas.openxmlformats.org/drawingml/2006/main">
              <a:ext uri="{FF2B5EF4-FFF2-40B4-BE49-F238E27FC236}">
                <a16:creationId xmlns:a16="http://schemas.microsoft.com/office/drawing/2014/main" id="{57B580F3-05EB-4847-8ACA-FCFC1DBF9145}"/>
              </a:ext>
            </a:extLst>
          </p:cNvPr>
          <p:cNvSpPr>
            <a:spLocks xmlns:a="http://schemas.openxmlformats.org/drawingml/2006/main" noGrp="1"/>
          </p:cNvSpPr>
          <p:nvPr/>
        </p:nvSpPr>
        <p:spPr>
          <a:xfrm xmlns:a="http://schemas.openxmlformats.org/drawingml/2006/main">
            <a:off x="638175" y="51149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8 accepted directions, but only 4 of 5 signal directions.</a:t>
            </a:r>
          </a:p>
        </p:txBody>
      </p:sp>
      <p:sp>
        <p:nvSpPr>
          <p:cNvPr id="40" name="">
            <a:extLst xmlns:a="http://schemas.openxmlformats.org/drawingml/2006/main">
              <a:ext uri="{FF2B5EF4-FFF2-40B4-BE49-F238E27FC236}">
                <a16:creationId xmlns:a16="http://schemas.microsoft.com/office/drawing/2014/main" id="{72D8D720-E33B-4148-BC8C-BA635E86E317}"/>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B12839C-411B-4BD6-8D57-9D693015CBE5}"/>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same AS and AQ can arise from a matrix with one fewer strong direction. A sharp visible gap is incomplete evidence.</a:t>
            </a:r>
          </a:p>
        </p:txBody>
      </p:sp>
    </p:spTree>
    <p:extLst>
      <p:ext uri="{BB962C8B-B14F-4D97-AF65-F5344CB8AC3E}">
        <p14:creationId xmlns:p14="http://schemas.microsoft.com/office/powerpoint/2010/main" val="130227208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5B2141-1DFC-461E-B766-C9C216D9F523}"/>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7: sample variance and its two components</a:t>
            </a:r>
          </a:p>
        </p:txBody>
      </p:sp>
      <p:sp>
        <p:nvSpPr>
          <p:cNvPr id="2" name="">
            <a:extLst xmlns:a="http://schemas.openxmlformats.org/drawingml/2006/main">
              <a:ext uri="{FF2B5EF4-FFF2-40B4-BE49-F238E27FC236}">
                <a16:creationId xmlns:a16="http://schemas.microsoft.com/office/drawing/2014/main" id="{9229ED25-A58D-4364-B324-9E7F881EF95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02E6AE6C-18A6-48D8-B129-57912E584116}"/>
              </a:ext>
            </a:extLst>
          </p:cNvPr>
          <p:cNvSpPr>
            <a:spLocks xmlns:a="http://schemas.openxmlformats.org/drawingml/2006/main" noGrp="1"/>
          </p:cNvSpPr>
          <p:nvPr/>
        </p:nvSpPr>
        <p:spPr>
          <a:xfrm xmlns:a="http://schemas.openxmlformats.org/drawingml/2006/main">
            <a:off x="638175" y="16097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E[σ̂²] = σ²</a:t>
            </a:r>
          </a:p>
        </p:txBody>
      </p:sp>
      <p:sp>
        <p:nvSpPr>
          <p:cNvPr id="4" name="">
            <a:extLst xmlns:a="http://schemas.openxmlformats.org/drawingml/2006/main">
              <a:ext uri="{FF2B5EF4-FFF2-40B4-BE49-F238E27FC236}">
                <a16:creationId xmlns:a16="http://schemas.microsoft.com/office/drawing/2014/main" id="{1DB9098C-2780-4455-A619-88BE306B3E36}"/>
              </a:ext>
            </a:extLst>
          </p:cNvPr>
          <p:cNvSpPr>
            <a:spLocks xmlns:a="http://schemas.openxmlformats.org/drawingml/2006/main" noGrp="1"/>
          </p:cNvSpPr>
          <p:nvPr/>
        </p:nvSpPr>
        <p:spPr>
          <a:xfrm xmlns:a="http://schemas.openxmlformats.org/drawingml/2006/main">
            <a:off x="638175" y="23241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Var(σ̂²) = [μ₄ − ((s − 3)/(s − 1))σ⁴] / s</a:t>
            </a:r>
          </a:p>
        </p:txBody>
      </p:sp>
      <p:sp>
        <p:nvSpPr>
          <p:cNvPr id="5" name="">
            <a:extLst xmlns:a="http://schemas.openxmlformats.org/drawingml/2006/main">
              <a:ext uri="{FF2B5EF4-FFF2-40B4-BE49-F238E27FC236}">
                <a16:creationId xmlns:a16="http://schemas.microsoft.com/office/drawing/2014/main" id="{4386CAA8-585E-4C6C-9933-7FDC48A3FB34}"/>
              </a:ext>
            </a:extLst>
          </p:cNvPr>
          <p:cNvSpPr>
            <a:spLocks xmlns:a="http://schemas.openxmlformats.org/drawingml/2006/main" noGrp="1"/>
          </p:cNvSpPr>
          <p:nvPr/>
        </p:nvSpPr>
        <p:spPr>
          <a:xfrm xmlns:a="http://schemas.openxmlformats.org/drawingml/2006/main">
            <a:off x="638175" y="322897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D5482F-7998-49C9-AD32-DFAFB4C8F891}"/>
              </a:ext>
            </a:extLst>
          </p:cNvPr>
          <p:cNvSpPr>
            <a:spLocks xmlns:a="http://schemas.openxmlformats.org/drawingml/2006/main" noGrp="1"/>
          </p:cNvSpPr>
          <p:nvPr/>
        </p:nvSpPr>
        <p:spPr>
          <a:xfrm xmlns:a="http://schemas.openxmlformats.org/drawingml/2006/main">
            <a:off x="638175" y="3562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Linear:       h₁(x) = [(x − μ)² − σ²] / 2</a:t>
            </a:r>
          </a:p>
        </p:txBody>
      </p:sp>
      <p:sp>
        <p:nvSpPr>
          <p:cNvPr id="7" name="">
            <a:extLst xmlns:a="http://schemas.openxmlformats.org/drawingml/2006/main">
              <a:ext uri="{FF2B5EF4-FFF2-40B4-BE49-F238E27FC236}">
                <a16:creationId xmlns:a16="http://schemas.microsoft.com/office/drawing/2014/main" id="{86566D13-98C2-4203-8FDE-C0A1EB95238D}"/>
              </a:ext>
            </a:extLst>
          </p:cNvPr>
          <p:cNvSpPr>
            <a:spLocks xmlns:a="http://schemas.openxmlformats.org/drawingml/2006/main" noGrp="1"/>
          </p:cNvSpPr>
          <p:nvPr/>
        </p:nvSpPr>
        <p:spPr>
          <a:xfrm xmlns:a="http://schemas.openxmlformats.org/drawingml/2006/main">
            <a:off x="638175" y="44100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Degenerate: h₂(x,y) = −(x − μ)(y − μ)</a:t>
            </a:r>
          </a:p>
        </p:txBody>
      </p:sp>
      <p:sp>
        <p:nvSpPr>
          <p:cNvPr id="8" name="">
            <a:extLst xmlns:a="http://schemas.openxmlformats.org/drawingml/2006/main">
              <a:ext uri="{FF2B5EF4-FFF2-40B4-BE49-F238E27FC236}">
                <a16:creationId xmlns:a16="http://schemas.microsoft.com/office/drawing/2014/main" id="{33E1A916-0CBD-48EF-BB49-583B41325928}"/>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4789EE-F439-4847-B0D2-438BBD379725}"/>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Only h₂ has zero conditional expectation in each argument. In general the linear component cannot be discarded.</a:t>
            </a:r>
          </a:p>
        </p:txBody>
      </p:sp>
    </p:spTree>
    <p:extLst>
      <p:ext uri="{BB962C8B-B14F-4D97-AF65-F5344CB8AC3E}">
        <p14:creationId xmlns:p14="http://schemas.microsoft.com/office/powerpoint/2010/main" val="1413094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D6BB5A-9890-4959-B8AB-D0E4C110BE43}"/>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8: what pairing changes</a:t>
            </a:r>
          </a:p>
        </p:txBody>
      </p:sp>
      <p:sp>
        <p:nvSpPr>
          <p:cNvPr id="2" name="">
            <a:extLst xmlns:a="http://schemas.openxmlformats.org/drawingml/2006/main">
              <a:ext uri="{FF2B5EF4-FFF2-40B4-BE49-F238E27FC236}">
                <a16:creationId xmlns:a16="http://schemas.microsoft.com/office/drawing/2014/main" id="{D8022937-09B8-4F4F-9BE0-904621C8AF2D}"/>
              </a:ext>
            </a:extLst>
          </p:cNvPr>
          <p:cNvSpPr>
            <a:spLocks xmlns:a="http://schemas.openxmlformats.org/drawingml/2006/main" noGrp="1"/>
          </p:cNvSpPr>
          <p:nvPr/>
        </p:nvSpPr>
        <p:spPr>
          <a:xfrm xmlns:a="http://schemas.openxmlformats.org/drawingml/2006/main">
            <a:off x="600075" y="1238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Exact independence benchmark: the sum of the two marginal variances.</a:t>
            </a:r>
          </a:p>
        </p:txBody>
      </p:sp>
      <p:sp>
        <p:nvSpPr>
          <p:cNvPr id="3" name="">
            <a:extLst xmlns:a="http://schemas.openxmlformats.org/drawingml/2006/main">
              <a:ext uri="{FF2B5EF4-FFF2-40B4-BE49-F238E27FC236}">
                <a16:creationId xmlns:a16="http://schemas.microsoft.com/office/drawing/2014/main" id="{AB9DAE9C-FC6B-4A4A-AEBC-851E1A2ABDA3}"/>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3BB962E9-C3E6-46BA-9F16-8BEE41825953}"/>
              </a:ext>
            </a:extLst>
          </p:cNvPr>
          <p:cNvSpPr>
            <a:spLocks xmlns:a="http://schemas.openxmlformats.org/drawingml/2006/main" noGrp="1"/>
          </p:cNvSpPr>
          <p:nvPr/>
        </p:nvSpPr>
        <p:spPr>
          <a:xfrm xmlns:a="http://schemas.openxmlformats.org/drawingml/2006/main">
            <a:off x="628650" y="18383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31688E"/>
                </a:solidFill>
                <a:latin typeface="Helvetica Neue"/>
                <a:ea typeface="Helvetica Neue"/>
                <a:cs typeface="Helvetica Neue"/>
              </a:defRPr>
            </a:pPr>
            <a:r>
              <a:rPr sz="2400" b="1">
                <a:solidFill>
                  <a:srgbClr val="31688E"/>
                </a:solidFill>
                <a:latin typeface="Helvetica Neue"/>
                <a:ea typeface="Helvetica Neue"/>
                <a:cs typeface="Helvetica Neue"/>
              </a:rPr>
              <a:t>Var(Yₐ − Y₀) = Var(Yₐ) + Var(Y₀) − 2Cov(Yₐ,Y₀)</a:t>
            </a:r>
          </a:p>
        </p:txBody>
      </p:sp>
      <p:graphicFrame>
        <p:nvGraphicFramePr>
          <p:cNvPr id="13" name="Chart"/>
          <p:cNvGraphicFramePr/>
          <p:nvPr/>
        </p:nvGraphicFramePr>
        <p:xfrm>
          <a:off xmlns:a="http://schemas.openxmlformats.org/drawingml/2006/main" x="609600" y="3000375"/>
          <a:ext xmlns:a="http://schemas.openxmlformats.org/drawingml/2006/main" cx="10906125" cy="2419350"/>
        </p:xfrm>
        <a:graphic xmlns:a="http://schemas.openxmlformats.org/drawingml/2006/main">
          <a:graphicData uri="http://schemas.openxmlformats.org/drawingml/2006/chart">
            <c:chart xmlns:r="http://schemas.openxmlformats.org/officeDocument/2006/relationships" xmlns:c="http://schemas.openxmlformats.org/drawingml/2006/chart" r:id="Rffc501aab82f40ec"/>
          </a:graphicData>
        </a:graphic>
      </p:graphicFrame>
      <p:sp>
        <p:nvSpPr>
          <p:cNvPr id="6" name="">
            <a:extLst xmlns:a="http://schemas.openxmlformats.org/drawingml/2006/main">
              <a:ext uri="{FF2B5EF4-FFF2-40B4-BE49-F238E27FC236}">
                <a16:creationId xmlns:a16="http://schemas.microsoft.com/office/drawing/2014/main" id="{373E1580-37E5-4170-9222-16643DE2E623}"/>
              </a:ext>
            </a:extLst>
          </p:cNvPr>
          <p:cNvSpPr>
            <a:spLocks xmlns:a="http://schemas.openxmlformats.org/drawingml/2006/main" noGrp="1"/>
          </p:cNvSpPr>
          <p:nvPr/>
        </p:nvSpPr>
        <p:spPr>
          <a:xfrm xmlns:a="http://schemas.openxmlformats.org/drawingml/2006/main">
            <a:off x="2114550" y="5572125"/>
            <a:ext cx="937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a:solidFill>
                  <a:srgbClr val="586974"/>
                </a:solidFill>
                <a:latin typeface="Helvetica Neue"/>
                <a:ea typeface="Helvetica Neue"/>
                <a:cs typeface="Helvetica Neue"/>
              </a:defRPr>
            </a:pPr>
            <a:r>
              <a:rPr sz="1725" b="0">
                <a:solidFill>
                  <a:srgbClr val="586974"/>
                </a:solidFill>
                <a:latin typeface="Helvetica Neue"/>
                <a:ea typeface="Helvetica Neue"/>
                <a:cs typeface="Helvetica Neue"/>
              </a:rPr>
              <a:t>Remaining variance as % of the estimated independence benchmark</a:t>
            </a:r>
          </a:p>
        </p:txBody>
      </p:sp>
      <p:sp>
        <p:nvSpPr>
          <p:cNvPr id="7" name="">
            <a:extLst xmlns:a="http://schemas.openxmlformats.org/drawingml/2006/main">
              <a:ext uri="{FF2B5EF4-FFF2-40B4-BE49-F238E27FC236}">
                <a16:creationId xmlns:a16="http://schemas.microsoft.com/office/drawing/2014/main" id="{EE508BDC-B6CC-4A23-81B2-82192DB16C2A}"/>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0BC17F-9E02-4B4F-AA62-1EECE2ECCCC4}"/>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Pairing helps exactly when covariance is positive. A cyclically shifted sequence is not an independent sample.</a:t>
            </a:r>
          </a:p>
        </p:txBody>
      </p:sp>
    </p:spTree>
    <p:extLst>
      <p:ext uri="{BB962C8B-B14F-4D97-AF65-F5344CB8AC3E}">
        <p14:creationId xmlns:p14="http://schemas.microsoft.com/office/powerpoint/2010/main" val="19535401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FB660D-8414-4E67-A42B-490EDF87D84D}"/>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9: acceptance and fallback are different claims</a:t>
            </a:r>
          </a:p>
        </p:txBody>
      </p:sp>
      <p:sp>
        <p:nvSpPr>
          <p:cNvPr id="2" name="">
            <a:extLst xmlns:a="http://schemas.openxmlformats.org/drawingml/2006/main">
              <a:ext uri="{FF2B5EF4-FFF2-40B4-BE49-F238E27FC236}">
                <a16:creationId xmlns:a16="http://schemas.microsoft.com/office/drawing/2014/main" id="{62DC51E7-88FB-4DDB-A5C9-786EBF5F4E6C}"/>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27</a:t>
            </a:r>
          </a:p>
        </p:txBody>
      </p:sp>
      <p:sp>
        <p:nvSpPr>
          <p:cNvPr id="3" name="">
            <a:extLst xmlns:a="http://schemas.openxmlformats.org/drawingml/2006/main">
              <a:ext uri="{FF2B5EF4-FFF2-40B4-BE49-F238E27FC236}">
                <a16:creationId xmlns:a16="http://schemas.microsoft.com/office/drawing/2014/main" id="{095522C0-65DC-44F0-A678-D18A89BCABF8}"/>
              </a:ext>
            </a:extLst>
          </p:cNvPr>
          <p:cNvSpPr>
            <a:spLocks xmlns:a="http://schemas.openxmlformats.org/drawingml/2006/main" noGrp="1"/>
          </p:cNvSpPr>
          <p:nvPr/>
        </p:nvSpPr>
        <p:spPr>
          <a:xfrm xmlns:a="http://schemas.openxmlformats.org/drawingml/2006/main">
            <a:off x="638175" y="1638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On a valid simultaneous confidence event:</a:t>
            </a:r>
          </a:p>
        </p:txBody>
      </p:sp>
      <p:sp>
        <p:nvSpPr>
          <p:cNvPr id="4" name="">
            <a:extLst xmlns:a="http://schemas.openxmlformats.org/drawingml/2006/main">
              <a:ext uri="{FF2B5EF4-FFF2-40B4-BE49-F238E27FC236}">
                <a16:creationId xmlns:a16="http://schemas.microsoft.com/office/drawing/2014/main" id="{85CCC57D-F9B6-4115-9CD0-95499F5CB3AA}"/>
              </a:ext>
            </a:extLst>
          </p:cNvPr>
          <p:cNvSpPr>
            <a:spLocks xmlns:a="http://schemas.openxmlformats.org/drawingml/2006/main" noGrp="1"/>
          </p:cNvSpPr>
          <p:nvPr/>
        </p:nvSpPr>
        <p:spPr>
          <a:xfrm xmlns:a="http://schemas.openxmlformats.org/drawingml/2006/main">
            <a:off x="638175" y="23241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37847F"/>
                </a:solidFill>
                <a:latin typeface="Helvetica Neue"/>
                <a:ea typeface="Helvetica Neue"/>
                <a:cs typeface="Helvetica Neue"/>
              </a:defRPr>
            </a:pPr>
            <a:r>
              <a:rPr sz="3150" b="1">
                <a:solidFill>
                  <a:srgbClr val="37847F"/>
                </a:solidFill>
                <a:latin typeface="Helvetica Neue"/>
                <a:ea typeface="Helvetica Neue"/>
                <a:cs typeface="Helvetica Neue"/>
              </a:rPr>
              <a:t>Riskₐ ≤ Uₐ ≤ L₀ ≤ Risk₀</a:t>
            </a:r>
          </a:p>
        </p:txBody>
      </p:sp>
      <p:sp>
        <p:nvSpPr>
          <p:cNvPr id="5" name="">
            <a:extLst xmlns:a="http://schemas.openxmlformats.org/drawingml/2006/main">
              <a:ext uri="{FF2B5EF4-FFF2-40B4-BE49-F238E27FC236}">
                <a16:creationId xmlns:a16="http://schemas.microsoft.com/office/drawing/2014/main" id="{B6372577-59F2-4551-B474-73DAC9C7DFA8}"/>
              </a:ext>
            </a:extLst>
          </p:cNvPr>
          <p:cNvSpPr>
            <a:spLocks xmlns:a="http://schemas.openxmlformats.org/drawingml/2006/main" noGrp="1"/>
          </p:cNvSpPr>
          <p:nvPr/>
        </p:nvSpPr>
        <p:spPr>
          <a:xfrm xmlns:a="http://schemas.openxmlformats.org/drawingml/2006/main">
            <a:off x="638175" y="338137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260506-B9E5-4B06-829D-6B91294E6D08}"/>
              </a:ext>
            </a:extLst>
          </p:cNvPr>
          <p:cNvSpPr>
            <a:spLocks xmlns:a="http://schemas.openxmlformats.org/drawingml/2006/main" noGrp="1"/>
          </p:cNvSpPr>
          <p:nvPr/>
        </p:nvSpPr>
        <p:spPr>
          <a:xfrm xmlns:a="http://schemas.openxmlformats.org/drawingml/2006/main">
            <a:off x="638175" y="37528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31688E"/>
                </a:solidFill>
                <a:latin typeface="Helvetica Neue"/>
                <a:ea typeface="Helvetica Neue"/>
                <a:cs typeface="Helvetica Neue"/>
              </a:defRPr>
            </a:pPr>
            <a:r>
              <a:rPr sz="2475" b="0">
                <a:solidFill>
                  <a:srgbClr val="31688E"/>
                </a:solidFill>
                <a:latin typeface="Helvetica Neue"/>
                <a:ea typeface="Helvetica Neue"/>
                <a:cs typeface="Helvetica Neue"/>
              </a:rPr>
              <a:t>Original baseline:      σ₀² / (m − c₀)</a:t>
            </a:r>
          </a:p>
        </p:txBody>
      </p:sp>
      <p:sp>
        <p:nvSpPr>
          <p:cNvPr id="7" name="">
            <a:extLst xmlns:a="http://schemas.openxmlformats.org/drawingml/2006/main">
              <a:ext uri="{FF2B5EF4-FFF2-40B4-BE49-F238E27FC236}">
                <a16:creationId xmlns:a16="http://schemas.microsoft.com/office/drawing/2014/main" id="{DCFF0F7C-57EF-4E88-8CAC-8899B4B54B97}"/>
              </a:ext>
            </a:extLst>
          </p:cNvPr>
          <p:cNvSpPr>
            <a:spLocks xmlns:a="http://schemas.openxmlformats.org/drawingml/2006/main" noGrp="1"/>
          </p:cNvSpPr>
          <p:nvPr/>
        </p:nvSpPr>
        <p:spPr>
          <a:xfrm xmlns:a="http://schemas.openxmlformats.org/drawingml/2006/main">
            <a:off x="638175" y="46196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0">
                <a:solidFill>
                  <a:srgbClr val="BC702D"/>
                </a:solidFill>
                <a:latin typeface="Helvetica Neue"/>
                <a:ea typeface="Helvetica Neue"/>
                <a:cs typeface="Helvetica Neue"/>
              </a:defRPr>
            </a:pPr>
            <a:r>
              <a:rPr sz="2475" b="0">
                <a:solidFill>
                  <a:srgbClr val="BC702D"/>
                </a:solidFill>
                <a:latin typeface="Helvetica Neue"/>
                <a:ea typeface="Helvetica Neue"/>
                <a:cs typeface="Helvetica Neue"/>
              </a:rPr>
              <a:t>Paid fallback:            σ₀² / (m − c_pre − s)</a:t>
            </a:r>
          </a:p>
        </p:txBody>
      </p:sp>
      <p:sp>
        <p:nvSpPr>
          <p:cNvPr id="8" name="">
            <a:extLst xmlns:a="http://schemas.openxmlformats.org/drawingml/2006/main">
              <a:ext uri="{FF2B5EF4-FFF2-40B4-BE49-F238E27FC236}">
                <a16:creationId xmlns:a16="http://schemas.microsoft.com/office/drawing/2014/main" id="{1676B8F7-66AB-4535-AC8C-1ED552CBEB81}"/>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6882DB-DEAD-4FB7-8856-81AB32C48C4D}"/>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If the paid denominator is smaller and σ₀² &gt; 0, fallback has higher risk. Acceptance alone does not certify the whole policy.</a:t>
            </a:r>
          </a:p>
        </p:txBody>
      </p:sp>
    </p:spTree>
    <p:extLst>
      <p:ext uri="{BB962C8B-B14F-4D97-AF65-F5344CB8AC3E}">
        <p14:creationId xmlns:p14="http://schemas.microsoft.com/office/powerpoint/2010/main" val="1332244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5638DE-560A-4C78-ABD3-24124C0025A2}"/>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10: two explicit confidence routes are too loose</a:t>
            </a:r>
          </a:p>
        </p:txBody>
      </p:sp>
      <p:sp>
        <p:nvSpPr>
          <p:cNvPr id="2" name="">
            <a:extLst xmlns:a="http://schemas.openxmlformats.org/drawingml/2006/main">
              <a:ext uri="{FF2B5EF4-FFF2-40B4-BE49-F238E27FC236}">
                <a16:creationId xmlns:a16="http://schemas.microsoft.com/office/drawing/2014/main" id="{6AC9A363-B340-4A2E-AB0B-AD18D862267B}"/>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28</a:t>
            </a:r>
          </a:p>
        </p:txBody>
      </p:sp>
      <p:sp>
        <p:nvSpPr>
          <p:cNvPr id="3" name="">
            <a:extLst xmlns:a="http://schemas.openxmlformats.org/drawingml/2006/main">
              <a:ext uri="{FF2B5EF4-FFF2-40B4-BE49-F238E27FC236}">
                <a16:creationId xmlns:a16="http://schemas.microsoft.com/office/drawing/2014/main" id="{06C6B578-D92F-446F-AD3D-DBF49886E17A}"/>
              </a:ext>
            </a:extLst>
          </p:cNvPr>
          <p:cNvSpPr>
            <a:spLocks xmlns:a="http://schemas.openxmlformats.org/drawingml/2006/main" noGrp="1"/>
          </p:cNvSpPr>
          <p:nvPr/>
        </p:nvSpPr>
        <p:spPr>
          <a:xfrm xmlns:a="http://schemas.openxmlformats.org/drawingml/2006/main">
            <a:off x="638175" y="15811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Joint Chebyshev radius</a:t>
            </a:r>
          </a:p>
        </p:txBody>
      </p:sp>
      <p:sp>
        <p:nvSpPr>
          <p:cNvPr id="4" name="">
            <a:extLst xmlns:a="http://schemas.openxmlformats.org/drawingml/2006/main">
              <a:ext uri="{FF2B5EF4-FFF2-40B4-BE49-F238E27FC236}">
                <a16:creationId xmlns:a16="http://schemas.microsoft.com/office/drawing/2014/main" id="{863C3A60-1D99-49FB-9A3D-A984F73E1A09}"/>
              </a:ext>
            </a:extLst>
          </p:cNvPr>
          <p:cNvSpPr>
            <a:spLocks xmlns:a="http://schemas.openxmlformats.org/drawingml/2006/main" noGrp="1"/>
          </p:cNvSpPr>
          <p:nvPr/>
        </p:nvSpPr>
        <p:spPr>
          <a:xfrm xmlns:a="http://schemas.openxmlformats.org/drawingml/2006/main">
            <a:off x="638175" y="22002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31688E"/>
                </a:solidFill>
                <a:latin typeface="Helvetica Neue"/>
                <a:ea typeface="Helvetica Neue"/>
                <a:cs typeface="Helvetica Neue"/>
              </a:defRPr>
            </a:pPr>
            <a:r>
              <a:rPr sz="2400" b="0">
                <a:solidFill>
                  <a:srgbClr val="31688E"/>
                </a:solidFill>
                <a:latin typeface="Helvetica Neue"/>
                <a:ea typeface="Helvetica Neue"/>
                <a:cs typeface="Helvetica Neue"/>
              </a:rPr>
              <a:t>ε = √{ 2[K − 1 + 2/(s − 1)] / (sδ_joint) }</a:t>
            </a:r>
          </a:p>
        </p:txBody>
      </p:sp>
      <p:sp>
        <p:nvSpPr>
          <p:cNvPr id="5" name="">
            <a:extLst xmlns:a="http://schemas.openxmlformats.org/drawingml/2006/main">
              <a:ext uri="{FF2B5EF4-FFF2-40B4-BE49-F238E27FC236}">
                <a16:creationId xmlns:a16="http://schemas.microsoft.com/office/drawing/2014/main" id="{F77F801E-BF46-4697-801C-3F541850EE36}"/>
              </a:ext>
            </a:extLst>
          </p:cNvPr>
          <p:cNvSpPr>
            <a:spLocks xmlns:a="http://schemas.openxmlformats.org/drawingml/2006/main" noGrp="1"/>
          </p:cNvSpPr>
          <p:nvPr/>
        </p:nvSpPr>
        <p:spPr>
          <a:xfrm xmlns:a="http://schemas.openxmlformats.org/drawingml/2006/main">
            <a:off x="638175" y="3105150"/>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At s = 32 and δ_joint = 0.05:  K = 81 gives 10.00.</a:t>
            </a:r>
          </a:p>
        </p:txBody>
      </p:sp>
      <p:sp>
        <p:nvSpPr>
          <p:cNvPr id="6" name="">
            <a:extLst xmlns:a="http://schemas.openxmlformats.org/drawingml/2006/main">
              <a:ext uri="{FF2B5EF4-FFF2-40B4-BE49-F238E27FC236}">
                <a16:creationId xmlns:a16="http://schemas.microsoft.com/office/drawing/2014/main" id="{639B6E75-999E-494C-BE7B-01C6A01B02EC}"/>
              </a:ext>
            </a:extLst>
          </p:cNvPr>
          <p:cNvSpPr>
            <a:spLocks xmlns:a="http://schemas.openxmlformats.org/drawingml/2006/main" noGrp="1"/>
          </p:cNvSpPr>
          <p:nvPr/>
        </p:nvSpPr>
        <p:spPr>
          <a:xfrm xmlns:a="http://schemas.openxmlformats.org/drawingml/2006/main">
            <a:off x="638175" y="42481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Frozen truncation route:  ν ≥ 80,  0 &lt; x &lt; 1</a:t>
            </a:r>
          </a:p>
        </p:txBody>
      </p:sp>
      <p:sp>
        <p:nvSpPr>
          <p:cNvPr id="7" name="">
            <a:extLst xmlns:a="http://schemas.openxmlformats.org/drawingml/2006/main">
              <a:ext uri="{FF2B5EF4-FFF2-40B4-BE49-F238E27FC236}">
                <a16:creationId xmlns:a16="http://schemas.microsoft.com/office/drawing/2014/main" id="{B3CFB758-7263-4E0B-B350-2FF6F52BE438}"/>
              </a:ext>
            </a:extLst>
          </p:cNvPr>
          <p:cNvSpPr>
            <a:spLocks xmlns:a="http://schemas.openxmlformats.org/drawingml/2006/main" noGrp="1"/>
          </p:cNvSpPr>
          <p:nvPr/>
        </p:nvSpPr>
        <p:spPr>
          <a:xfrm xmlns:a="http://schemas.openxmlformats.org/drawingml/2006/main">
            <a:off x="638175" y="49911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BC702D"/>
                </a:solidFill>
                <a:latin typeface="Helvetica Neue"/>
                <a:ea typeface="Helvetica Neue"/>
                <a:cs typeface="Helvetica Neue"/>
              </a:defRPr>
            </a:pPr>
            <a:r>
              <a:rPr sz="2250" b="0">
                <a:solidFill>
                  <a:srgbClr val="BC702D"/>
                </a:solidFill>
                <a:latin typeface="Helvetica Neue"/>
                <a:ea typeface="Helvetica Neue"/>
                <a:cs typeface="Helvetica Neue"/>
              </a:rPr>
              <a:t>Its probability upper bound exceeds e⁻ˢ⁄¹⁶⁰ ≥ 0.81873.</a:t>
            </a:r>
          </a:p>
        </p:txBody>
      </p:sp>
      <p:sp>
        <p:nvSpPr>
          <p:cNvPr id="8" name="">
            <a:extLst xmlns:a="http://schemas.openxmlformats.org/drawingml/2006/main">
              <a:ext uri="{FF2B5EF4-FFF2-40B4-BE49-F238E27FC236}">
                <a16:creationId xmlns:a16="http://schemas.microsoft.com/office/drawing/2014/main" id="{385C1446-C4F3-4954-964A-D270E5928745}"/>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48E2F2-C8BF-4530-A6BC-987AA1A2B75D}"/>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 floor on an upper bound is not a floor on actual failure probability. These conclusions are route-specific.</a:t>
            </a:r>
          </a:p>
        </p:txBody>
      </p:sp>
    </p:spTree>
    <p:extLst>
      <p:ext uri="{BB962C8B-B14F-4D97-AF65-F5344CB8AC3E}">
        <p14:creationId xmlns:p14="http://schemas.microsoft.com/office/powerpoint/2010/main" val="27951621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F33F8D-F6C9-4AA8-A3B2-B33AE243BACE}"/>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11: conditional progress on confidence</a:t>
            </a:r>
          </a:p>
        </p:txBody>
      </p:sp>
      <p:sp>
        <p:nvSpPr>
          <p:cNvPr id="2" name="">
            <a:extLst xmlns:a="http://schemas.openxmlformats.org/drawingml/2006/main">
              <a:ext uri="{FF2B5EF4-FFF2-40B4-BE49-F238E27FC236}">
                <a16:creationId xmlns:a16="http://schemas.microsoft.com/office/drawing/2014/main" id="{1F297D5D-E012-4927-A521-2783412FF5EF}"/>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29</a:t>
            </a:r>
          </a:p>
        </p:txBody>
      </p:sp>
      <p:sp>
        <p:nvSpPr>
          <p:cNvPr id="3" name="">
            <a:extLst xmlns:a="http://schemas.openxmlformats.org/drawingml/2006/main">
              <a:ext uri="{FF2B5EF4-FFF2-40B4-BE49-F238E27FC236}">
                <a16:creationId xmlns:a16="http://schemas.microsoft.com/office/drawing/2014/main" id="{A7500CD0-57CB-44A1-BA0E-BD378C8DEEFC}"/>
              </a:ext>
            </a:extLst>
          </p:cNvPr>
          <p:cNvSpPr>
            <a:spLocks xmlns:a="http://schemas.openxmlformats.org/drawingml/2006/main" noGrp="1"/>
          </p:cNvSpPr>
          <p:nvPr/>
        </p:nvSpPr>
        <p:spPr>
          <a:xfrm xmlns:a="http://schemas.openxmlformats.org/drawingml/2006/main">
            <a:off x="638175" y="15335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2D3C"/>
                </a:solidFill>
                <a:latin typeface="Helvetica Neue"/>
                <a:ea typeface="Helvetica Neue"/>
                <a:cs typeface="Helvetica Neue"/>
              </a:defRPr>
            </a:pPr>
            <a:r>
              <a:rPr sz="2400" b="1">
                <a:solidFill>
                  <a:srgbClr val="192D3C"/>
                </a:solidFill>
                <a:latin typeface="Helvetica Neue"/>
                <a:ea typeface="Helvetica Neue"/>
                <a:cs typeface="Helvetica Neue"/>
              </a:rPr>
              <a:t>Valid prior: ‖H₀‖_F ≤ M₀, with nested bases</a:t>
            </a:r>
          </a:p>
        </p:txBody>
      </p:sp>
      <p:sp>
        <p:nvSpPr>
          <p:cNvPr id="4" name="">
            <a:extLst xmlns:a="http://schemas.openxmlformats.org/drawingml/2006/main">
              <a:ext uri="{FF2B5EF4-FFF2-40B4-BE49-F238E27FC236}">
                <a16:creationId xmlns:a16="http://schemas.microsoft.com/office/drawing/2014/main" id="{8BBC9ADD-6FE2-4CE3-BE5A-5E5A0CCAE08C}"/>
              </a:ext>
            </a:extLst>
          </p:cNvPr>
          <p:cNvSpPr>
            <a:spLocks xmlns:a="http://schemas.openxmlformats.org/drawingml/2006/main" noGrp="1"/>
          </p:cNvSpPr>
          <p:nvPr/>
        </p:nvSpPr>
        <p:spPr>
          <a:xfrm xmlns:a="http://schemas.openxmlformats.org/drawingml/2006/main">
            <a:off x="638175" y="2324100"/>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37847F"/>
                </a:solidFill>
                <a:latin typeface="Helvetica Neue"/>
                <a:ea typeface="Helvetica Neue"/>
                <a:cs typeface="Helvetica Neue"/>
              </a:defRPr>
            </a:pPr>
            <a:r>
              <a:rPr sz="2625" b="1">
                <a:solidFill>
                  <a:srgbClr val="37847F"/>
                </a:solidFill>
                <a:latin typeface="Helvetica Neue"/>
                <a:ea typeface="Helvetica Neue"/>
                <a:cs typeface="Helvetica Neue"/>
              </a:rPr>
              <a:t>Δ ≤ D̄ + √{ (v̄/n)(1 − δ)/δ }</a:t>
            </a:r>
          </a:p>
        </p:txBody>
      </p:sp>
      <p:sp>
        <p:nvSpPr>
          <p:cNvPr id="5" name="">
            <a:extLst xmlns:a="http://schemas.openxmlformats.org/drawingml/2006/main">
              <a:ext uri="{FF2B5EF4-FFF2-40B4-BE49-F238E27FC236}">
                <a16:creationId xmlns:a16="http://schemas.microsoft.com/office/drawing/2014/main" id="{6ED28220-4BC1-467B-95E0-C848F561F751}"/>
              </a:ext>
            </a:extLst>
          </p:cNvPr>
          <p:cNvSpPr>
            <a:spLocks xmlns:a="http://schemas.openxmlformats.org/drawingml/2006/main" noGrp="1"/>
          </p:cNvSpPr>
          <p:nvPr/>
        </p:nvSpPr>
        <p:spPr>
          <a:xfrm xmlns:a="http://schemas.openxmlformats.org/drawingml/2006/main">
            <a:off x="638175" y="303847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7847F"/>
                </a:solidFill>
                <a:latin typeface="Helvetica Neue"/>
                <a:ea typeface="Helvetica Neue"/>
                <a:cs typeface="Helvetica Neue"/>
              </a:defRPr>
            </a:pPr>
            <a:r>
              <a:rPr sz="2250" b="0">
                <a:solidFill>
                  <a:srgbClr val="37847F"/>
                </a:solidFill>
                <a:latin typeface="Helvetica Neue"/>
                <a:ea typeface="Helvetica Neue"/>
                <a:cs typeface="Helvetica Neue"/>
              </a:rPr>
              <a:t>v̄ = 164 M₀⁴ (1/ℓₐ + 1/ℓ₀)²</a:t>
            </a:r>
          </a:p>
        </p:txBody>
      </p:sp>
      <p:sp>
        <p:nvSpPr>
          <p:cNvPr id="6" name="">
            <a:extLst xmlns:a="http://schemas.openxmlformats.org/drawingml/2006/main">
              <a:ext uri="{FF2B5EF4-FFF2-40B4-BE49-F238E27FC236}">
                <a16:creationId xmlns:a16="http://schemas.microsoft.com/office/drawing/2014/main" id="{A7F9A97A-ABF8-4E02-86F1-C289D9712239}"/>
              </a:ext>
            </a:extLst>
          </p:cNvPr>
          <p:cNvSpPr>
            <a:spLocks xmlns:a="http://schemas.openxmlformats.org/drawingml/2006/main" noGrp="1"/>
          </p:cNvSpPr>
          <p:nvPr/>
        </p:nvSpPr>
        <p:spPr>
          <a:xfrm xmlns:a="http://schemas.openxmlformats.org/drawingml/2006/main">
            <a:off x="638175" y="3895725"/>
            <a:ext cx="108585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736623-0FF6-44C6-B25C-F5784562AE19}"/>
              </a:ext>
            </a:extLst>
          </p:cNvPr>
          <p:cNvSpPr>
            <a:spLocks xmlns:a="http://schemas.openxmlformats.org/drawingml/2006/main" noGrp="1"/>
          </p:cNvSpPr>
          <p:nvPr/>
        </p:nvSpPr>
        <p:spPr>
          <a:xfrm xmlns:a="http://schemas.openxmlformats.org/drawingml/2006/main">
            <a:off x="638175" y="421957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31688E"/>
                </a:solidFill>
                <a:latin typeface="Helvetica Neue"/>
                <a:ea typeface="Helvetica Neue"/>
                <a:cs typeface="Helvetica Neue"/>
              </a:defRPr>
            </a:pPr>
            <a:r>
              <a:rPr sz="2250" b="0">
                <a:solidFill>
                  <a:srgbClr val="31688E"/>
                </a:solidFill>
                <a:latin typeface="Helvetica Neue"/>
                <a:ea typeface="Helvetica Neue"/>
                <a:cs typeface="Helvetica Neue"/>
              </a:rPr>
              <a:t>Corrected degree-two moment:  μ₄ ≤ 15σ⁴</a:t>
            </a:r>
          </a:p>
        </p:txBody>
      </p:sp>
      <p:sp>
        <p:nvSpPr>
          <p:cNvPr id="8" name="">
            <a:extLst xmlns:a="http://schemas.openxmlformats.org/drawingml/2006/main">
              <a:ext uri="{FF2B5EF4-FFF2-40B4-BE49-F238E27FC236}">
                <a16:creationId xmlns:a16="http://schemas.microsoft.com/office/drawing/2014/main" id="{A6287399-CA3D-4061-8C1C-395D7CB5CF30}"/>
              </a:ext>
            </a:extLst>
          </p:cNvPr>
          <p:cNvSpPr>
            <a:spLocks xmlns:a="http://schemas.openxmlformats.org/drawingml/2006/main" noGrp="1"/>
          </p:cNvSpPr>
          <p:nvPr/>
        </p:nvSpPr>
        <p:spPr>
          <a:xfrm xmlns:a="http://schemas.openxmlformats.org/drawingml/2006/main">
            <a:off x="638175" y="50863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BC702D"/>
                </a:solidFill>
                <a:latin typeface="Helvetica Neue"/>
                <a:ea typeface="Helvetica Neue"/>
                <a:cs typeface="Helvetica Neue"/>
              </a:defRPr>
            </a:pPr>
            <a:r>
              <a:rPr sz="2175" b="0">
                <a:solidFill>
                  <a:srgbClr val="BC702D"/>
                </a:solidFill>
                <a:latin typeface="Helvetica Neue"/>
                <a:ea typeface="Helvetica Neue"/>
                <a:cs typeface="Helvetica Neue"/>
              </a:rPr>
              <a:t>Scale-route example: n = 42 pairs means 84 probes.</a:t>
            </a:r>
          </a:p>
        </p:txBody>
      </p:sp>
      <p:sp>
        <p:nvSpPr>
          <p:cNvPr id="9" name="">
            <a:extLst xmlns:a="http://schemas.openxmlformats.org/drawingml/2006/main">
              <a:ext uri="{FF2B5EF4-FFF2-40B4-BE49-F238E27FC236}">
                <a16:creationId xmlns:a16="http://schemas.microsoft.com/office/drawing/2014/main" id="{9216EDDC-9ED2-4B94-B9B2-D9ADB768EEF4}"/>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568B49-A439-4845-9295-C866BAA9073B}"/>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scale example assumes kurtosis bound K = 3. It is not automatic for a signed degree-four paired statistic.</a:t>
            </a:r>
          </a:p>
        </p:txBody>
      </p:sp>
    </p:spTree>
    <p:extLst>
      <p:ext uri="{BB962C8B-B14F-4D97-AF65-F5344CB8AC3E}">
        <p14:creationId xmlns:p14="http://schemas.microsoft.com/office/powerpoint/2010/main" val="6166377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B4E8A4-1458-4738-BA3F-1478574A207C}"/>
              </a:ext>
            </a:extLst>
          </p:cNvPr>
          <p:cNvSpPr>
            <a:spLocks xmlns:a="http://schemas.openxmlformats.org/drawingml/2006/main" noGrp="1"/>
          </p:cNvSpPr>
          <p:nvPr/>
        </p:nvSpPr>
        <p:spPr>
          <a:xfrm xmlns:a="http://schemas.openxmlformats.org/drawingml/2006/main">
            <a:off x="571500" y="333375"/>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12: every paid-policy path remains visible</a:t>
            </a:r>
          </a:p>
        </p:txBody>
      </p:sp>
      <p:sp>
        <p:nvSpPr>
          <p:cNvPr id="2" name="">
            <a:extLst xmlns:a="http://schemas.openxmlformats.org/drawingml/2006/main">
              <a:ext uri="{FF2B5EF4-FFF2-40B4-BE49-F238E27FC236}">
                <a16:creationId xmlns:a16="http://schemas.microsoft.com/office/drawing/2014/main" id="{8E052157-FEE3-4F58-8DA6-946929F4561B}"/>
              </a:ext>
            </a:extLst>
          </p:cNvPr>
          <p:cNvSpPr>
            <a:spLocks xmlns:a="http://schemas.openxmlformats.org/drawingml/2006/main" noGrp="1"/>
          </p:cNvSpPr>
          <p:nvPr/>
        </p:nvSpPr>
        <p:spPr>
          <a:xfrm xmlns:a="http://schemas.openxmlformats.org/drawingml/2006/main">
            <a:off x="11096625"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30</a:t>
            </a:r>
          </a:p>
        </p:txBody>
      </p:sp>
      <p:graphicFrame>
        <p:nvGraphicFramePr>
          <p:cNvPr id="11" name="Chart"/>
          <p:cNvGraphicFramePr/>
          <p:nvPr/>
        </p:nvGraphicFramePr>
        <p:xfrm>
          <a:off xmlns:a="http://schemas.openxmlformats.org/drawingml/2006/main" x="628650" y="1771650"/>
          <a:ext xmlns:a="http://schemas.openxmlformats.org/drawingml/2006/main" cx="7019925" cy="3848100"/>
        </p:xfrm>
        <a:graphic xmlns:a="http://schemas.openxmlformats.org/drawingml/2006/main">
          <a:graphicData uri="http://schemas.openxmlformats.org/drawingml/2006/chart">
            <c:chart xmlns:r="http://schemas.openxmlformats.org/officeDocument/2006/relationships" xmlns:c="http://schemas.openxmlformats.org/drawingml/2006/chart" r:id="R003a62ccb30b4167"/>
          </a:graphicData>
        </a:graphic>
      </p:graphicFrame>
      <p:sp>
        <p:nvSpPr>
          <p:cNvPr id="4" name="">
            <a:extLst xmlns:a="http://schemas.openxmlformats.org/drawingml/2006/main">
              <a:ext uri="{FF2B5EF4-FFF2-40B4-BE49-F238E27FC236}">
                <a16:creationId xmlns:a16="http://schemas.microsoft.com/office/drawing/2014/main" id="{1CD0D3F2-A60C-4EA3-8913-C2718118A0C3}"/>
              </a:ext>
            </a:extLst>
          </p:cNvPr>
          <p:cNvSpPr>
            <a:spLocks xmlns:a="http://schemas.openxmlformats.org/drawingml/2006/main" noGrp="1"/>
          </p:cNvSpPr>
          <p:nvPr/>
        </p:nvSpPr>
        <p:spPr>
          <a:xfrm xmlns:a="http://schemas.openxmlformats.org/drawingml/2006/main">
            <a:off x="7962900" y="2095500"/>
            <a:ext cx="3600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C702D"/>
                </a:solidFill>
                <a:latin typeface="Helvetica Neue"/>
                <a:ea typeface="Helvetica Neue"/>
                <a:cs typeface="Helvetica Neue"/>
              </a:defRPr>
            </a:pPr>
            <a:r>
              <a:rPr sz="2325" b="1">
                <a:solidFill>
                  <a:srgbClr val="BC702D"/>
                </a:solidFill>
                <a:latin typeface="Helvetica Neue"/>
                <a:ea typeface="Helvetica Neue"/>
                <a:cs typeface="Helvetica Neue"/>
              </a:rPr>
              <a:t>575 / 600 harmed</a:t>
            </a:r>
          </a:p>
        </p:txBody>
      </p:sp>
      <p:sp>
        <p:nvSpPr>
          <p:cNvPr id="5" name="">
            <a:extLst xmlns:a="http://schemas.openxmlformats.org/drawingml/2006/main">
              <a:ext uri="{FF2B5EF4-FFF2-40B4-BE49-F238E27FC236}">
                <a16:creationId xmlns:a16="http://schemas.microsoft.com/office/drawing/2014/main" id="{95074540-0E4A-41BC-815F-0177AC0EC861}"/>
              </a:ext>
            </a:extLst>
          </p:cNvPr>
          <p:cNvSpPr>
            <a:spLocks xmlns:a="http://schemas.openxmlformats.org/drawingml/2006/main" noGrp="1"/>
          </p:cNvSpPr>
          <p:nvPr/>
        </p:nvSpPr>
        <p:spPr>
          <a:xfrm xmlns:a="http://schemas.openxmlformats.org/drawingml/2006/main">
            <a:off x="7962900" y="3067050"/>
            <a:ext cx="36004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Pooled median:</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1.1607 × baseline</a:t>
            </a:r>
          </a:p>
        </p:txBody>
      </p:sp>
      <p:sp>
        <p:nvSpPr>
          <p:cNvPr id="6" name="">
            <a:extLst xmlns:a="http://schemas.openxmlformats.org/drawingml/2006/main">
              <a:ext uri="{FF2B5EF4-FFF2-40B4-BE49-F238E27FC236}">
                <a16:creationId xmlns:a16="http://schemas.microsoft.com/office/drawing/2014/main" id="{CC8DB25D-116F-4778-9FC9-453E729B60E5}"/>
              </a:ext>
            </a:extLst>
          </p:cNvPr>
          <p:cNvSpPr>
            <a:spLocks xmlns:a="http://schemas.openxmlformats.org/drawingml/2006/main" noGrp="1"/>
          </p:cNvSpPr>
          <p:nvPr/>
        </p:nvSpPr>
        <p:spPr>
          <a:xfrm xmlns:a="http://schemas.openxmlformats.org/drawingml/2006/main">
            <a:off x="7962900" y="4333875"/>
            <a:ext cx="3600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Mean-risk ratio:</a:t>
            </a:r>
          </a:p>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0.0363</a:t>
            </a:r>
          </a:p>
        </p:txBody>
      </p:sp>
      <p:sp>
        <p:nvSpPr>
          <p:cNvPr id="7" name="">
            <a:extLst xmlns:a="http://schemas.openxmlformats.org/drawingml/2006/main">
              <a:ext uri="{FF2B5EF4-FFF2-40B4-BE49-F238E27FC236}">
                <a16:creationId xmlns:a16="http://schemas.microsoft.com/office/drawing/2014/main" id="{7AE424EC-433E-4334-BE92-D103602D0C3E}"/>
              </a:ext>
            </a:extLst>
          </p:cNvPr>
          <p:cNvSpPr>
            <a:spLocks xmlns:a="http://schemas.openxmlformats.org/drawingml/2006/main" noGrp="1"/>
          </p:cNvSpPr>
          <p:nvPr/>
        </p:nvSpPr>
        <p:spPr>
          <a:xfrm xmlns:a="http://schemas.openxmlformats.org/drawingml/2006/main">
            <a:off x="590550" y="616267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78AA96-92DC-4218-A5B0-9DDCED9B7A3D}"/>
              </a:ext>
            </a:extLst>
          </p:cNvPr>
          <p:cNvSpPr>
            <a:spLocks xmlns:a="http://schemas.openxmlformats.org/drawingml/2006/main" noGrp="1"/>
          </p:cNvSpPr>
          <p:nvPr/>
        </p:nvSpPr>
        <p:spPr>
          <a:xfrm xmlns:a="http://schemas.openxmlformats.org/drawingml/2006/main">
            <a:off x="600075" y="6286500"/>
            <a:ext cx="1033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Zero on the log axis means equal risk. Mean and median answer different questions; notes retain all population definitions.</a:t>
            </a:r>
          </a:p>
        </p:txBody>
      </p:sp>
    </p:spTree>
    <p:extLst>
      <p:ext uri="{BB962C8B-B14F-4D97-AF65-F5344CB8AC3E}">
        <p14:creationId xmlns:p14="http://schemas.microsoft.com/office/powerpoint/2010/main" val="310075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2026-09-23T02:13:21.2070000Z</dcterms:created>
  <dcterms:modified xsi:type="dcterms:W3CDTF">2026-09-23T02:13:21.2070000Z</dcterms:modified>
</coreProperties>
</file>